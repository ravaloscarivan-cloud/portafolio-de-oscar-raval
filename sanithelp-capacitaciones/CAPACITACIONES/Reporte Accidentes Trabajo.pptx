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https://www.minsalud.gov.co/sites/rid/Lists/BibliotecaDigital/RIDE/DE/DIJ/Resoluci%C3%B3n_0156_de_2005.pdf
- https://fondoriesgoslaborales.gov.co/documents/normatividad/resoluciones/Res-1401-2007.pdf
- https://www.funcionpublica.gov.co/eva//gestornormativo//norma_pdf.php?i=72173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https://www.minsalud.gov.co/sites/rid/Lists/BibliotecaDigital/RIDE/DE/DIJ/Resoluci%C3%B3n_0156_de_2005.pdf
- https://fondoriesgoslaborales.gov.co/documents/normatividad/resoluciones/Res-1401-2007.pdf
- https://www.funcionpublica.gov.co/eva//gestornormativo//norma_pdf.php?i=72173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https://www.minsalud.gov.co/sites/rid/Lists/BibliotecaDigital/RIDE/DE/DIJ/Resoluci%C3%B3n_0156_de_2005.pdf
- https://fondoriesgoslaborales.gov.co/documents/normatividad/resoluciones/Res-1401-2007.pdf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https://fondoriesgoslaborales.gov.co/documents/normatividad/resoluciones/Res-1401-2007.pdf
- https://www.funcionpublica.gov.co/eva//gestornormativo//norma_pdf.php?i=72173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pic>
        <p:nvPicPr>
          <p:cNvPr id="5" name="Image 0" descr="/mnt/data/reporte_accident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452" y="292608"/>
            <a:ext cx="1133856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5379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240">
            <a:solidFill>
              <a:srgbClr val="D8EEF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481328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 DE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ACCIDENTES DE TRABAJO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960120" y="2880360"/>
            <a:ext cx="57150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20" dirty="0">
                <a:solidFill>
                  <a:srgbClr val="23364D"/>
                </a:solidFill>
              </a:rPr>
              <a:t>Reportar a tiempo permite activar la atención, documentar el evento e iniciar acciones para prevenir su repetición.</a:t>
            </a:r>
            <a:endParaRPr lang="en-US" sz="1820" dirty="0"/>
          </a:p>
        </p:txBody>
      </p:sp>
      <p:sp>
        <p:nvSpPr>
          <p:cNvPr id="5" name="Shape 3"/>
          <p:cNvSpPr/>
          <p:nvPr/>
        </p:nvSpPr>
        <p:spPr>
          <a:xfrm>
            <a:off x="960120" y="431596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4462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de la capacitación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554480"/>
            <a:ext cx="2377440" cy="2377440"/>
          </a:xfrm>
          <a:prstGeom prst="ellipse">
            <a:avLst/>
          </a:prstGeom>
          <a:solidFill>
            <a:srgbClr val="EAF7FA"/>
          </a:solidFill>
          <a:ln w="20320">
            <a:solidFill>
              <a:srgbClr val="59C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96528" y="230428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B6D"/>
                </a:solidFill>
              </a:rPr>
              <a:t>AT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0" y="42245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A9B8"/>
                </a:solidFill>
              </a:rPr>
              <a:t>Actuar • Reportar • Prevenir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24928" y="4800600"/>
            <a:ext cx="4023360" cy="822960"/>
          </a:xfrm>
          <a:prstGeom prst="rect">
            <a:avLst/>
          </a:prstGeom>
          <a:solidFill>
            <a:srgbClr val="FFFFFF"/>
          </a:solidFill>
          <a:ln w="13970">
            <a:solidFill>
              <a:srgbClr val="D6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20" dirty="0">
                <a:solidFill>
                  <a:srgbClr val="23364D"/>
                </a:solidFill>
              </a:rPr>
              <a:t>Todo accidente debe informarse de inmediato al responsable definido por la organización.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 debe reportar?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El reporte comienza desde el momento en que ocurre el evento.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8105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922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Accidente de trabajo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76272"/>
            <a:ext cx="256032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Evento repentino relacionado con el trabajo que produce lesión, perturbación funcional o psiquiátrica, invalidez o muerte.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8105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7922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Incidente de trabajo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3208" y="2176272"/>
            <a:ext cx="256032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Suceso relacionado con el trabajo en el que pudo ocurrir una lesión o daño, aunque finalmente no se materializó.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01000" y="16459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5592" y="18105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0808" y="17922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Información clave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0808" y="2176272"/>
            <a:ext cx="256032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Qué ocurrió, cuándo, dónde, actividad realizada, lesión observada, testigos y atención inicial.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1005840" y="3840480"/>
            <a:ext cx="10149840" cy="1417320"/>
          </a:xfrm>
          <a:prstGeom prst="roundRect">
            <a:avLst>
              <a:gd name="adj" fmla="val 5161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133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D"/>
                </a:solidFill>
              </a:rPr>
              <a:t>Regla práctica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54680" y="4050792"/>
            <a:ext cx="7360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3364D"/>
                </a:solidFill>
              </a:rPr>
              <a:t>No minimizar el evento. Incluso una lesión aparentemente leve debe informarse por la ruta interna para que SST determine el trámite correspondiente.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1280160" y="5623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73B6D"/>
                </a:solidFill>
              </a:rPr>
              <a:t>El trabajador informa el evento; la organización gestiona el reporte formal y la atención según corresponda.</a:t>
            </a:r>
            <a:endParaRPr lang="en-US" sz="1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básica de reporte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 prioridad es proteger a la persona y dejar trazabilidad del evento.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72184" y="1627632"/>
            <a:ext cx="713232" cy="713232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2184" y="1819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ATENDER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999232"/>
            <a:ext cx="2423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3364D"/>
                </a:solidFill>
              </a:rPr>
              <a:t>Brindar primeros auxilios o activar atención médica según la gravedad.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334256" y="1627632"/>
            <a:ext cx="713232" cy="713232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819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85032" y="2578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INFORMAR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83864" y="2999232"/>
            <a:ext cx="2423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3364D"/>
                </a:solidFill>
              </a:rPr>
              <a:t>Notificar de inmediato al jefe, supervisor o responsable de SST.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196328" y="1627632"/>
            <a:ext cx="713232" cy="713232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1819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47104" y="2578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REPORTAR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999232"/>
            <a:ext cx="2423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3364D"/>
                </a:solidFill>
              </a:rPr>
              <a:t>La empresa diligencia el reporte correspondiente ante la ARL y EPS dentro del plazo aplicable.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0058400" y="1627632"/>
            <a:ext cx="713232" cy="713232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18196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09176" y="2578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D"/>
                </a:solidFill>
              </a:rPr>
              <a:t>INVESTIGAR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08008" y="2999232"/>
            <a:ext cx="2423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3364D"/>
                </a:solidFill>
              </a:rPr>
              <a:t>Analizar causas y definir acciones correctivas y preventivas para evitar recurrencias.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60120" y="4846320"/>
            <a:ext cx="10241280" cy="96012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13970">
            <a:solidFill>
              <a:srgbClr val="F3D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10235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73B6D"/>
                </a:solidFill>
              </a:rPr>
              <a:t>Importante: la Resolución 156 de 2005 establece que el empleador o contratante diligencia el informe de accidente dentro de los dos (2) días hábiles siguientes a la ocurrencia.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Buenas prácticas y compromiso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Un buen reporte debe ser oportuno, claro, completo y basado en hechos.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8105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79222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Describir hechos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7048" y="2176272"/>
            <a:ext cx="242316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Evitar culpas o suposiciones. Registrar lo observado y la secuencia real del evento.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407408" y="16459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105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7216" y="179222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Conservar evidencias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57216" y="2176272"/>
            <a:ext cx="242316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Identificar testigos, fotografías, equipos, condiciones del área y otros soportes pertinentes.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37576" y="164592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02168" y="18105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7384" y="179222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Cumplir acciones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87384" y="2176272"/>
            <a:ext cx="242316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Participar en la investigación y ejecutar las medidas correctivas y preventivas definidas.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10332720" cy="1234440"/>
          </a:xfrm>
          <a:prstGeom prst="roundRect">
            <a:avLst>
              <a:gd name="adj" fmla="val 5926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0782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6D"/>
                </a:solidFill>
              </a:rPr>
              <a:t>Compromiso del colaborador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3913632"/>
            <a:ext cx="672084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3364D"/>
                </a:solidFill>
              </a:rPr>
              <a:t>Reportar de inmediato todo accidente o incidente, brindar información veraz durante la investigación y cumplir las acciones de mejora establecidas para prevenir su repetición.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1645920" y="5513832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A9B8"/>
                </a:solidFill>
              </a:rPr>
              <a:t>Reportar no busca señalar culpables: busca proteger a las personas y aprender del evento.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accidentes de trabajo - SanitHelp</dc:title>
  <dc:subject>Reporte de accidentes de trabajo</dc:subject>
  <dc:creator>OpenAI</dc:creator>
  <cp:lastModifiedBy>OpenAI</cp:lastModifiedBy>
  <cp:revision>1</cp:revision>
  <dcterms:created xsi:type="dcterms:W3CDTF">2026-10-27T15:40:40Z</dcterms:created>
  <dcterms:modified xsi:type="dcterms:W3CDTF">2026-10-27T15:40:40Z</dcterms:modified>
</cp:coreProperties>
</file>