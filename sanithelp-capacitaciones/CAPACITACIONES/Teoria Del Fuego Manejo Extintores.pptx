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https://www.usfa.fema.gov/prevention/home-fires/prepare-for-fire/fire-extinguishers/
- https://www.nfpa.org/news-blogs-and-articles/blogs/2023/08/01/fire-extinguisher-types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https://www.nfpa.org/news-blogs-and-articles/blogs/2023/08/01/fire-extinguisher-types
- https://www.nfpa.org/news-blogs-and-articles/blogs/2022/08/26/fire-extinguisher-ratings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https://www.usfa.fema.gov/prevention/home-fires/prepare-for-fire/fire-extinguishers/
- https://www.osha.gov/laws-regs/regulations/standardnumber/1910/1910.157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https://www.usfa.fema.gov/prevention/home-fires/prepare-for-fire/fire-extinguishers/
- https://www.osha.gov/etools/evacuation-plans-procedures/emergency-standards/portable-extinguishers/placement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B7C5"/>
          </a:solidFill>
          <a:ln w="12700">
            <a:solidFill>
              <a:srgbClr val="1BB7C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3B63"/>
          </a:solidFill>
          <a:ln w="12700">
            <a:solidFill>
              <a:srgbClr val="123B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7453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SANITHELP | SG-SST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149840" y="657453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9F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Capacitación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stilos_saludables_sanithelp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628" y="310896"/>
            <a:ext cx="859343" cy="65836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1298448"/>
            <a:ext cx="690372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7EE"/>
            </a:solidFill>
            <a:prstDash val="solid"/>
          </a:ln>
          <a:effectLst>
            <a:outerShdw sx="100000" sy="100000" kx="0" ky="0" algn="bl" rotWithShape="0" blurRad="25400" dist="10160" dir="2700000">
              <a:srgbClr val="000000">
                <a:alpha val="12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1005840" y="1828800"/>
            <a:ext cx="6126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3B63"/>
                </a:solidFill>
              </a:rPr>
              <a:t>TEORÍA DEL FUEGO Y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123B63"/>
                </a:solidFill>
              </a:rPr>
              <a:t>MANEJO DE EXTINTORES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1005840" y="3319272"/>
            <a:ext cx="5989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D2D3D"/>
                </a:solidFill>
              </a:rPr>
              <a:t>Reconocer cómo se inicia un fuego, seleccionar el extintor correcto y actuar de forma segura ante un conato.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1005840" y="4681728"/>
            <a:ext cx="4480560" cy="530352"/>
          </a:xfrm>
          <a:prstGeom prst="roundRect">
            <a:avLst/>
          </a:prstGeom>
          <a:solidFill>
            <a:srgbClr val="E8F7F9"/>
          </a:solidFill>
          <a:ln w="12700">
            <a:solidFill>
              <a:srgbClr val="E8F7F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80060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B7C5"/>
                </a:solidFill>
              </a:rPr>
              <a:t>Capacitación corta | enfoque práctico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302752" y="1719072"/>
            <a:ext cx="3063240" cy="3063240"/>
          </a:xfrm>
          <a:prstGeom prst="ellipse">
            <a:avLst/>
          </a:prstGeom>
          <a:solidFill>
            <a:srgbClr val="FFF4EE"/>
          </a:solidFill>
          <a:ln w="12700">
            <a:solidFill>
              <a:srgbClr val="F4D3C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933688" y="2212848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🔥</a:t>
            </a:r>
            <a:endParaRPr lang="en-US" sz="6400" dirty="0"/>
          </a:p>
        </p:txBody>
      </p:sp>
      <p:sp>
        <p:nvSpPr>
          <p:cNvPr id="10" name="Shape 7"/>
          <p:cNvSpPr/>
          <p:nvPr/>
        </p:nvSpPr>
        <p:spPr>
          <a:xfrm>
            <a:off x="8430768" y="3977640"/>
            <a:ext cx="2798064" cy="658368"/>
          </a:xfrm>
          <a:prstGeom prst="roundRect">
            <a:avLst/>
          </a:prstGeom>
          <a:solidFill>
            <a:srgbClr val="D95C5C"/>
          </a:solidFill>
          <a:ln w="12700">
            <a:solidFill>
              <a:srgbClr val="D95C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77072" y="4187952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PREVENIR • ALERTAR • EVACUAR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stilos_saludables_sanithelp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628" y="310896"/>
            <a:ext cx="859343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331720" y="411480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Teoría del fuego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2359152" y="941832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788"/>
                </a:solidFill>
              </a:rPr>
              <a:t>Para que exista combustión deben coincidir varios elementos.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713232" y="1554480"/>
            <a:ext cx="45720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7EE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78992" y="18470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B63"/>
                </a:solidFill>
              </a:rPr>
              <a:t>Tetraedro del fuego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1051560" y="2395728"/>
            <a:ext cx="530352" cy="530352"/>
          </a:xfrm>
          <a:prstGeom prst="ellipse">
            <a:avLst/>
          </a:prstGeom>
          <a:solidFill>
            <a:srgbClr val="D95C5C"/>
          </a:solidFill>
          <a:ln w="12700">
            <a:solidFill>
              <a:srgbClr val="D95C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97864" y="2532888"/>
            <a:ext cx="246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764792" y="2414016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23B63"/>
                </a:solidFill>
              </a:rPr>
              <a:t>CALOR</a:t>
            </a:r>
            <a:endParaRPr lang="en-US" sz="1330" dirty="0"/>
          </a:p>
        </p:txBody>
      </p:sp>
      <p:sp>
        <p:nvSpPr>
          <p:cNvPr id="10" name="Text 7"/>
          <p:cNvSpPr/>
          <p:nvPr/>
        </p:nvSpPr>
        <p:spPr>
          <a:xfrm>
            <a:off x="1764792" y="267004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D2D3D"/>
                </a:solidFill>
              </a:rPr>
              <a:t>Fuente de ignición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1051560" y="3108960"/>
            <a:ext cx="530352" cy="530352"/>
          </a:xfrm>
          <a:prstGeom prst="ellipse">
            <a:avLst/>
          </a:prstGeom>
          <a:solidFill>
            <a:srgbClr val="F08A4B"/>
          </a:solidFill>
          <a:ln w="12700">
            <a:solidFill>
              <a:srgbClr val="F08A4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97864" y="3246120"/>
            <a:ext cx="246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764792" y="3127248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23B63"/>
                </a:solidFill>
              </a:rPr>
              <a:t>COMBUSTIBLE</a:t>
            </a:r>
            <a:endParaRPr lang="en-US" sz="1330" dirty="0"/>
          </a:p>
        </p:txBody>
      </p:sp>
      <p:sp>
        <p:nvSpPr>
          <p:cNvPr id="14" name="Text 11"/>
          <p:cNvSpPr/>
          <p:nvPr/>
        </p:nvSpPr>
        <p:spPr>
          <a:xfrm>
            <a:off x="1764792" y="338328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D2D3D"/>
                </a:solidFill>
              </a:rPr>
              <a:t>Material que puede arder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1051560" y="3822192"/>
            <a:ext cx="530352" cy="530352"/>
          </a:xfrm>
          <a:prstGeom prst="ellipse">
            <a:avLst/>
          </a:prstGeom>
          <a:solidFill>
            <a:srgbClr val="1BB7C5"/>
          </a:solidFill>
          <a:ln w="12700">
            <a:solidFill>
              <a:srgbClr val="1BB7C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97864" y="3959352"/>
            <a:ext cx="246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764792" y="3840480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23B63"/>
                </a:solidFill>
              </a:rPr>
              <a:t>OXÍGENO</a:t>
            </a:r>
            <a:endParaRPr lang="en-US" sz="1330" dirty="0"/>
          </a:p>
        </p:txBody>
      </p:sp>
      <p:sp>
        <p:nvSpPr>
          <p:cNvPr id="18" name="Text 15"/>
          <p:cNvSpPr/>
          <p:nvPr/>
        </p:nvSpPr>
        <p:spPr>
          <a:xfrm>
            <a:off x="1764792" y="409651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D2D3D"/>
                </a:solidFill>
              </a:rPr>
              <a:t>Sostiene la combustión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1051560" y="4535424"/>
            <a:ext cx="530352" cy="530352"/>
          </a:xfrm>
          <a:prstGeom prst="ellipse">
            <a:avLst/>
          </a:prstGeom>
          <a:solidFill>
            <a:srgbClr val="E7B84B"/>
          </a:solidFill>
          <a:ln w="12700">
            <a:solidFill>
              <a:srgbClr val="E7B84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97864" y="4672584"/>
            <a:ext cx="246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764792" y="4553712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23B63"/>
                </a:solidFill>
              </a:rPr>
              <a:t>REACCIÓN EN CADENA</a:t>
            </a:r>
            <a:endParaRPr lang="en-US" sz="1330" dirty="0"/>
          </a:p>
        </p:txBody>
      </p:sp>
      <p:sp>
        <p:nvSpPr>
          <p:cNvPr id="22" name="Text 19"/>
          <p:cNvSpPr/>
          <p:nvPr/>
        </p:nvSpPr>
        <p:spPr>
          <a:xfrm>
            <a:off x="1764792" y="480974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D2D3D"/>
                </a:solidFill>
              </a:rPr>
              <a:t>Mantiene el proceso</a:t>
            </a:r>
            <a:endParaRPr lang="en-US" sz="1120" dirty="0"/>
          </a:p>
        </p:txBody>
      </p:sp>
      <p:sp>
        <p:nvSpPr>
          <p:cNvPr id="23" name="Text 20"/>
          <p:cNvSpPr/>
          <p:nvPr/>
        </p:nvSpPr>
        <p:spPr>
          <a:xfrm>
            <a:off x="1078992" y="53949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BB7C5"/>
                </a:solidFill>
              </a:rPr>
              <a:t>Eliminar o controlar uno de estos elementos puede detener la combustión.</a:t>
            </a:r>
            <a:endParaRPr lang="en-US" sz="1220" dirty="0"/>
          </a:p>
        </p:txBody>
      </p:sp>
      <p:sp>
        <p:nvSpPr>
          <p:cNvPr id="24" name="Text 21"/>
          <p:cNvSpPr/>
          <p:nvPr/>
        </p:nvSpPr>
        <p:spPr>
          <a:xfrm>
            <a:off x="5650992" y="16642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B63"/>
                </a:solidFill>
              </a:rPr>
              <a:t>Clases de fuego</a:t>
            </a:r>
            <a:endParaRPr lang="en-US" sz="1900" dirty="0"/>
          </a:p>
        </p:txBody>
      </p:sp>
      <p:sp>
        <p:nvSpPr>
          <p:cNvPr id="25" name="Shape 22"/>
          <p:cNvSpPr/>
          <p:nvPr/>
        </p:nvSpPr>
        <p:spPr>
          <a:xfrm>
            <a:off x="5596128" y="2148840"/>
            <a:ext cx="210312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" dist="3810" dir="2700000">
              <a:srgbClr val="000000">
                <a:alpha val="6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742432" y="2313432"/>
            <a:ext cx="594360" cy="594360"/>
          </a:xfrm>
          <a:prstGeom prst="ellipse">
            <a:avLst/>
          </a:prstGeom>
          <a:solidFill>
            <a:srgbClr val="5FAE68"/>
          </a:solidFill>
          <a:ln w="12700">
            <a:solidFill>
              <a:srgbClr val="5FAE6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879592" y="24323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6437376" y="2295144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B63"/>
                </a:solidFill>
              </a:rPr>
              <a:t>Sólidos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6437376" y="2606040"/>
            <a:ext cx="1024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2D3D"/>
                </a:solidFill>
              </a:rPr>
              <a:t>Papel, madera, tela, plásticos.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845552" y="2148840"/>
            <a:ext cx="210312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" dist="3810" dir="2700000">
              <a:srgbClr val="000000">
                <a:alpha val="6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7991856" y="2313432"/>
            <a:ext cx="594360" cy="594360"/>
          </a:xfrm>
          <a:prstGeom prst="ellipse">
            <a:avLst/>
          </a:prstGeom>
          <a:solidFill>
            <a:srgbClr val="D95C5C"/>
          </a:solidFill>
          <a:ln w="12700">
            <a:solidFill>
              <a:srgbClr val="D95C5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129016" y="24323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B</a:t>
            </a:r>
            <a:endParaRPr lang="en-US" sz="1700" dirty="0"/>
          </a:p>
        </p:txBody>
      </p:sp>
      <p:sp>
        <p:nvSpPr>
          <p:cNvPr id="33" name="Text 30"/>
          <p:cNvSpPr/>
          <p:nvPr/>
        </p:nvSpPr>
        <p:spPr>
          <a:xfrm>
            <a:off x="8686800" y="2295144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B63"/>
                </a:solidFill>
              </a:rPr>
              <a:t>Líquidos/gases</a:t>
            </a:r>
            <a:endParaRPr lang="en-US" sz="1350" dirty="0"/>
          </a:p>
        </p:txBody>
      </p:sp>
      <p:sp>
        <p:nvSpPr>
          <p:cNvPr id="34" name="Text 31"/>
          <p:cNvSpPr/>
          <p:nvPr/>
        </p:nvSpPr>
        <p:spPr>
          <a:xfrm>
            <a:off x="8686800" y="2606040"/>
            <a:ext cx="1024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2D3D"/>
                </a:solidFill>
              </a:rPr>
              <a:t>Combustibles, solventes, pinturas.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10040112" y="2148840"/>
            <a:ext cx="210312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" dist="3810" dir="2700000">
              <a:srgbClr val="000000">
                <a:alpha val="6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10186416" y="2313432"/>
            <a:ext cx="594360" cy="594360"/>
          </a:xfrm>
          <a:prstGeom prst="ellipse">
            <a:avLst/>
          </a:prstGeom>
          <a:solidFill>
            <a:srgbClr val="123B63"/>
          </a:solidFill>
          <a:ln w="12700">
            <a:solidFill>
              <a:srgbClr val="123B6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0323576" y="24323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</a:t>
            </a:r>
            <a:endParaRPr lang="en-US" sz="1700" dirty="0"/>
          </a:p>
        </p:txBody>
      </p:sp>
      <p:sp>
        <p:nvSpPr>
          <p:cNvPr id="38" name="Text 35"/>
          <p:cNvSpPr/>
          <p:nvPr/>
        </p:nvSpPr>
        <p:spPr>
          <a:xfrm>
            <a:off x="10881360" y="2295144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B63"/>
                </a:solidFill>
              </a:rPr>
              <a:t>Eléctrico</a:t>
            </a:r>
            <a:endParaRPr lang="en-US" sz="1350" dirty="0"/>
          </a:p>
        </p:txBody>
      </p:sp>
      <p:sp>
        <p:nvSpPr>
          <p:cNvPr id="39" name="Text 36"/>
          <p:cNvSpPr/>
          <p:nvPr/>
        </p:nvSpPr>
        <p:spPr>
          <a:xfrm>
            <a:off x="10881360" y="2606040"/>
            <a:ext cx="1024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2D3D"/>
                </a:solidFill>
              </a:rPr>
              <a:t>Equipos energizados.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6711696" y="3675888"/>
            <a:ext cx="210312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" dist="3810" dir="2700000">
              <a:srgbClr val="000000">
                <a:alpha val="6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6858000" y="3840480"/>
            <a:ext cx="594360" cy="594360"/>
          </a:xfrm>
          <a:prstGeom prst="ellipse">
            <a:avLst/>
          </a:prstGeom>
          <a:solidFill>
            <a:srgbClr val="E7B84B"/>
          </a:solidFill>
          <a:ln w="12700">
            <a:solidFill>
              <a:srgbClr val="E7B84B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995160" y="395935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</a:t>
            </a:r>
            <a:endParaRPr lang="en-US" sz="1700" dirty="0"/>
          </a:p>
        </p:txBody>
      </p:sp>
      <p:sp>
        <p:nvSpPr>
          <p:cNvPr id="43" name="Text 40"/>
          <p:cNvSpPr/>
          <p:nvPr/>
        </p:nvSpPr>
        <p:spPr>
          <a:xfrm>
            <a:off x="7552944" y="3822192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B63"/>
                </a:solidFill>
              </a:rPr>
              <a:t>Metales</a:t>
            </a:r>
            <a:endParaRPr lang="en-US" sz="1350" dirty="0"/>
          </a:p>
        </p:txBody>
      </p:sp>
      <p:sp>
        <p:nvSpPr>
          <p:cNvPr id="44" name="Text 41"/>
          <p:cNvSpPr/>
          <p:nvPr/>
        </p:nvSpPr>
        <p:spPr>
          <a:xfrm>
            <a:off x="7552944" y="4133088"/>
            <a:ext cx="1024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2D3D"/>
                </a:solidFill>
              </a:rPr>
              <a:t>Magnesio, litio, sodio, etc.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8961120" y="3675888"/>
            <a:ext cx="210312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" dist="3810" dir="2700000">
              <a:srgbClr val="000000">
                <a:alpha val="6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9107424" y="3840480"/>
            <a:ext cx="594360" cy="594360"/>
          </a:xfrm>
          <a:prstGeom prst="ellipse">
            <a:avLst/>
          </a:prstGeom>
          <a:solidFill>
            <a:srgbClr val="F08A4B"/>
          </a:solidFill>
          <a:ln w="12700">
            <a:solidFill>
              <a:srgbClr val="F08A4B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9244584" y="395935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K</a:t>
            </a:r>
            <a:endParaRPr lang="en-US" sz="1700" dirty="0"/>
          </a:p>
        </p:txBody>
      </p:sp>
      <p:sp>
        <p:nvSpPr>
          <p:cNvPr id="48" name="Text 45"/>
          <p:cNvSpPr/>
          <p:nvPr/>
        </p:nvSpPr>
        <p:spPr>
          <a:xfrm>
            <a:off x="9802368" y="3822192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B63"/>
                </a:solidFill>
              </a:rPr>
              <a:t>Cocina</a:t>
            </a:r>
            <a:endParaRPr lang="en-US" sz="1350" dirty="0"/>
          </a:p>
        </p:txBody>
      </p:sp>
      <p:sp>
        <p:nvSpPr>
          <p:cNvPr id="49" name="Text 46"/>
          <p:cNvSpPr/>
          <p:nvPr/>
        </p:nvSpPr>
        <p:spPr>
          <a:xfrm>
            <a:off x="9802368" y="4133088"/>
            <a:ext cx="1024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2D3D"/>
                </a:solidFill>
              </a:rPr>
              <a:t>Aceites y grasas de cocción.</a:t>
            </a:r>
            <a:endParaRPr lang="en-US" sz="1050" dirty="0"/>
          </a:p>
        </p:txBody>
      </p:sp>
      <p:sp>
        <p:nvSpPr>
          <p:cNvPr id="50" name="Shape 47"/>
          <p:cNvSpPr/>
          <p:nvPr/>
        </p:nvSpPr>
        <p:spPr>
          <a:xfrm>
            <a:off x="5623560" y="5074920"/>
            <a:ext cx="5943600" cy="603504"/>
          </a:xfrm>
          <a:prstGeom prst="roundRect">
            <a:avLst/>
          </a:prstGeom>
          <a:solidFill>
            <a:srgbClr val="E8F7F9"/>
          </a:solidFill>
          <a:ln w="12700">
            <a:solidFill>
              <a:srgbClr val="CDE8ED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870448" y="5276088"/>
            <a:ext cx="5440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3B63"/>
                </a:solidFill>
              </a:rPr>
              <a:t>El extintor debe seleccionarse según la clase de fuego esperada y el riesgo del área.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stilos_saludables_sanithelp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628" y="310896"/>
            <a:ext cx="859343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331720" y="411480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Manejo seguro del extintor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2359152" y="941832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788"/>
                </a:solidFill>
              </a:rPr>
              <a:t>Solo debe intentarse apagar un fuego pequeño e incipiente cuando exista una salida segura.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713232" y="1572768"/>
            <a:ext cx="3657600" cy="4462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7EE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87552" y="182880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B63"/>
                </a:solidFill>
              </a:rPr>
              <a:t>Antes de usarlo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987552" y="233172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B7C5"/>
                </a:solidFill>
              </a:rPr>
              <a:t>✓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53312" y="2322576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1D2D3D"/>
                </a:solidFill>
              </a:rPr>
              <a:t>Alertar a las personas y activar el plan de emergencias.</a:t>
            </a:r>
            <a:endParaRPr lang="en-US" sz="1140" dirty="0"/>
          </a:p>
        </p:txBody>
      </p:sp>
      <p:sp>
        <p:nvSpPr>
          <p:cNvPr id="9" name="Text 6"/>
          <p:cNvSpPr/>
          <p:nvPr/>
        </p:nvSpPr>
        <p:spPr>
          <a:xfrm>
            <a:off x="987552" y="2962656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B7C5"/>
                </a:solidFill>
              </a:rPr>
              <a:t>✓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353312" y="295351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1D2D3D"/>
                </a:solidFill>
              </a:rPr>
              <a:t>Confirmar que el fuego sea pequeño y esté contenido.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987552" y="359359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B7C5"/>
                </a:solidFill>
              </a:rPr>
              <a:t>✓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53312" y="358444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1D2D3D"/>
                </a:solidFill>
              </a:rPr>
              <a:t>Identificar la clase de fuego y el extintor apropiado.</a:t>
            </a:r>
            <a:endParaRPr lang="en-US" sz="1140" dirty="0"/>
          </a:p>
        </p:txBody>
      </p:sp>
      <p:sp>
        <p:nvSpPr>
          <p:cNvPr id="13" name="Text 10"/>
          <p:cNvSpPr/>
          <p:nvPr/>
        </p:nvSpPr>
        <p:spPr>
          <a:xfrm>
            <a:off x="987552" y="422452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B7C5"/>
                </a:solidFill>
              </a:rPr>
              <a:t>✓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353312" y="4215384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1D2D3D"/>
                </a:solidFill>
              </a:rPr>
              <a:t>Mantener siempre una ruta de escape libre a la espalda.</a:t>
            </a:r>
            <a:endParaRPr lang="en-US" sz="1140" dirty="0"/>
          </a:p>
        </p:txBody>
      </p:sp>
      <p:sp>
        <p:nvSpPr>
          <p:cNvPr id="15" name="Text 12"/>
          <p:cNvSpPr/>
          <p:nvPr/>
        </p:nvSpPr>
        <p:spPr>
          <a:xfrm>
            <a:off x="987552" y="4855464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B7C5"/>
                </a:solidFill>
              </a:rPr>
              <a:t>✓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353312" y="484632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1D2D3D"/>
                </a:solidFill>
              </a:rPr>
              <a:t>No exponerse a humo denso, calor intenso o propagación rápida.</a:t>
            </a:r>
            <a:endParaRPr lang="en-US" sz="1140" dirty="0"/>
          </a:p>
        </p:txBody>
      </p:sp>
      <p:sp>
        <p:nvSpPr>
          <p:cNvPr id="17" name="Text 14"/>
          <p:cNvSpPr/>
          <p:nvPr/>
        </p:nvSpPr>
        <p:spPr>
          <a:xfrm>
            <a:off x="4718304" y="1783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B63"/>
                </a:solidFill>
              </a:rPr>
              <a:t>Técnica P.A.S.S.</a:t>
            </a:r>
            <a:endParaRPr lang="en-US" sz="1900" dirty="0"/>
          </a:p>
        </p:txBody>
      </p:sp>
      <p:sp>
        <p:nvSpPr>
          <p:cNvPr id="18" name="Shape 15"/>
          <p:cNvSpPr/>
          <p:nvPr/>
        </p:nvSpPr>
        <p:spPr>
          <a:xfrm>
            <a:off x="4663440" y="2331720"/>
            <a:ext cx="1691640" cy="2450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7EC"/>
            </a:solidFill>
            <a:prstDash val="solid"/>
          </a:ln>
          <a:effectLst>
            <a:outerShdw sx="100000" sy="100000" kx="0" ky="0" algn="bl" rotWithShape="0" blurRad="8890" dist="3810" dir="2700000">
              <a:srgbClr val="000000">
                <a:alpha val="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193792" y="2578608"/>
            <a:ext cx="658368" cy="658368"/>
          </a:xfrm>
          <a:prstGeom prst="ellipse">
            <a:avLst/>
          </a:prstGeom>
          <a:solidFill>
            <a:srgbClr val="D95C5C"/>
          </a:solidFill>
          <a:ln w="12700">
            <a:solidFill>
              <a:srgbClr val="D95C5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376672" y="277063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4800600" y="342900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3B63"/>
                </a:solidFill>
              </a:rPr>
              <a:t>Pull / Tirar</a:t>
            </a:r>
            <a:endParaRPr lang="en-US" sz="1320" dirty="0"/>
          </a:p>
        </p:txBody>
      </p:sp>
      <p:sp>
        <p:nvSpPr>
          <p:cNvPr id="22" name="Text 19"/>
          <p:cNvSpPr/>
          <p:nvPr/>
        </p:nvSpPr>
        <p:spPr>
          <a:xfrm>
            <a:off x="4828032" y="3968496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dirty="0">
                <a:solidFill>
                  <a:srgbClr val="1D2D3D"/>
                </a:solidFill>
              </a:rPr>
              <a:t>Retire el pasador o seguro.</a:t>
            </a:r>
            <a:endParaRPr lang="en-US" sz="1060" dirty="0"/>
          </a:p>
        </p:txBody>
      </p:sp>
      <p:sp>
        <p:nvSpPr>
          <p:cNvPr id="23" name="Shape 20"/>
          <p:cNvSpPr/>
          <p:nvPr/>
        </p:nvSpPr>
        <p:spPr>
          <a:xfrm>
            <a:off x="6446520" y="2331720"/>
            <a:ext cx="1691640" cy="2450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7EC"/>
            </a:solidFill>
            <a:prstDash val="solid"/>
          </a:ln>
          <a:effectLst>
            <a:outerShdw sx="100000" sy="100000" kx="0" ky="0" algn="bl" rotWithShape="0" blurRad="8890" dist="3810" dir="2700000">
              <a:srgbClr val="000000">
                <a:alpha val="6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976872" y="2578608"/>
            <a:ext cx="658368" cy="658368"/>
          </a:xfrm>
          <a:prstGeom prst="ellipse">
            <a:avLst/>
          </a:prstGeom>
          <a:solidFill>
            <a:srgbClr val="F08A4B"/>
          </a:solidFill>
          <a:ln w="12700">
            <a:solidFill>
              <a:srgbClr val="F08A4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159752" y="277063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6583680" y="342900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3B63"/>
                </a:solidFill>
              </a:rPr>
              <a:t>Aim / Apuntar</a:t>
            </a:r>
            <a:endParaRPr lang="en-US" sz="1320" dirty="0"/>
          </a:p>
        </p:txBody>
      </p:sp>
      <p:sp>
        <p:nvSpPr>
          <p:cNvPr id="27" name="Text 24"/>
          <p:cNvSpPr/>
          <p:nvPr/>
        </p:nvSpPr>
        <p:spPr>
          <a:xfrm>
            <a:off x="6611112" y="3968496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dirty="0">
                <a:solidFill>
                  <a:srgbClr val="1D2D3D"/>
                </a:solidFill>
              </a:rPr>
              <a:t>Dirija la boquilla a la base del fuego.</a:t>
            </a:r>
            <a:endParaRPr lang="en-US" sz="1060" dirty="0"/>
          </a:p>
        </p:txBody>
      </p:sp>
      <p:sp>
        <p:nvSpPr>
          <p:cNvPr id="28" name="Shape 25"/>
          <p:cNvSpPr/>
          <p:nvPr/>
        </p:nvSpPr>
        <p:spPr>
          <a:xfrm>
            <a:off x="8229600" y="2331720"/>
            <a:ext cx="1691640" cy="2450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7EC"/>
            </a:solidFill>
            <a:prstDash val="solid"/>
          </a:ln>
          <a:effectLst>
            <a:outerShdw sx="100000" sy="100000" kx="0" ky="0" algn="bl" rotWithShape="0" blurRad="8890" dist="3810" dir="2700000">
              <a:srgbClr val="000000">
                <a:alpha val="6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8759952" y="2578608"/>
            <a:ext cx="658368" cy="658368"/>
          </a:xfrm>
          <a:prstGeom prst="ellipse">
            <a:avLst/>
          </a:prstGeom>
          <a:solidFill>
            <a:srgbClr val="1BB7C5"/>
          </a:solidFill>
          <a:ln w="12700">
            <a:solidFill>
              <a:srgbClr val="1BB7C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942832" y="277063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8366760" y="342900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3B63"/>
                </a:solidFill>
              </a:rPr>
              <a:t>Squeeze / Presionar</a:t>
            </a:r>
            <a:endParaRPr lang="en-US" sz="1320" dirty="0"/>
          </a:p>
        </p:txBody>
      </p:sp>
      <p:sp>
        <p:nvSpPr>
          <p:cNvPr id="32" name="Text 29"/>
          <p:cNvSpPr/>
          <p:nvPr/>
        </p:nvSpPr>
        <p:spPr>
          <a:xfrm>
            <a:off x="8394192" y="3968496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dirty="0">
                <a:solidFill>
                  <a:srgbClr val="1D2D3D"/>
                </a:solidFill>
              </a:rPr>
              <a:t>Accione la manija de forma controlada.</a:t>
            </a:r>
            <a:endParaRPr lang="en-US" sz="1060" dirty="0"/>
          </a:p>
        </p:txBody>
      </p:sp>
      <p:sp>
        <p:nvSpPr>
          <p:cNvPr id="33" name="Shape 30"/>
          <p:cNvSpPr/>
          <p:nvPr/>
        </p:nvSpPr>
        <p:spPr>
          <a:xfrm>
            <a:off x="10012680" y="2331720"/>
            <a:ext cx="1691640" cy="2450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7EC"/>
            </a:solidFill>
            <a:prstDash val="solid"/>
          </a:ln>
          <a:effectLst>
            <a:outerShdw sx="100000" sy="100000" kx="0" ky="0" algn="bl" rotWithShape="0" blurRad="8890" dist="3810" dir="2700000">
              <a:srgbClr val="000000">
                <a:alpha val="6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10543032" y="2578608"/>
            <a:ext cx="658368" cy="658368"/>
          </a:xfrm>
          <a:prstGeom prst="ellipse">
            <a:avLst/>
          </a:prstGeom>
          <a:solidFill>
            <a:srgbClr val="123B63"/>
          </a:solidFill>
          <a:ln w="12700">
            <a:solidFill>
              <a:srgbClr val="123B6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725912" y="277063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10149840" y="342900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3B63"/>
                </a:solidFill>
              </a:rPr>
              <a:t>Sweep / Barrer</a:t>
            </a:r>
            <a:endParaRPr lang="en-US" sz="1320" dirty="0"/>
          </a:p>
        </p:txBody>
      </p:sp>
      <p:sp>
        <p:nvSpPr>
          <p:cNvPr id="37" name="Text 34"/>
          <p:cNvSpPr/>
          <p:nvPr/>
        </p:nvSpPr>
        <p:spPr>
          <a:xfrm>
            <a:off x="10177272" y="3968496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dirty="0">
                <a:solidFill>
                  <a:srgbClr val="1D2D3D"/>
                </a:solidFill>
              </a:rPr>
              <a:t>Mueva el chorro de lado a lado.</a:t>
            </a:r>
            <a:endParaRPr lang="en-US" sz="1060" dirty="0"/>
          </a:p>
        </p:txBody>
      </p:sp>
      <p:sp>
        <p:nvSpPr>
          <p:cNvPr id="38" name="Shape 35"/>
          <p:cNvSpPr/>
          <p:nvPr/>
        </p:nvSpPr>
        <p:spPr>
          <a:xfrm>
            <a:off x="4663440" y="5084064"/>
            <a:ext cx="6949440" cy="658368"/>
          </a:xfrm>
          <a:prstGeom prst="roundRect">
            <a:avLst/>
          </a:prstGeom>
          <a:solidFill>
            <a:srgbClr val="FFF3F0"/>
          </a:solidFill>
          <a:ln w="12700">
            <a:solidFill>
              <a:srgbClr val="F5D3C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919472" y="5285232"/>
            <a:ext cx="6437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D95C5C"/>
                </a:solidFill>
              </a:rPr>
              <a:t>Si el fuego crece, bloquea la salida o no se controla de inmediato: suspenda el intento, evacúe y siga el plan de emergencias.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stilos_saludables_sanithelp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628" y="310896"/>
            <a:ext cx="859343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331720" y="411480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Revisión, prevención y actuación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2359152" y="941832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788"/>
                </a:solidFill>
              </a:rPr>
              <a:t>El extintor es una herramienta de primera respuesta, no reemplaza la evacuación ni a los organismos de emergencia.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713232" y="1572768"/>
            <a:ext cx="3456432" cy="3584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AF0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13232" y="1572768"/>
            <a:ext cx="73152" cy="3584448"/>
          </a:xfrm>
          <a:prstGeom prst="rect">
            <a:avLst/>
          </a:prstGeom>
          <a:solidFill>
            <a:srgbClr val="1BB7C5"/>
          </a:solidFill>
          <a:ln w="12700">
            <a:solidFill>
              <a:srgbClr val="1BB7C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41832" y="1737360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B63"/>
                </a:solidFill>
              </a:rPr>
              <a:t>Revise el extintor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41832" y="2139696"/>
            <a:ext cx="3017520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1D2D3D"/>
                </a:solidFill>
              </a:rPr>
              <a:t>• Ubicación visible y acceso libre.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D2D3D"/>
                </a:solidFill>
              </a:rPr>
              <a:t>• Señalización e identificación legible.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D2D3D"/>
                </a:solidFill>
              </a:rPr>
              <a:t>• Manómetro o indicador en condición adecuada, cuando aplique.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D2D3D"/>
                </a:solidFill>
              </a:rPr>
              <a:t>• Pasador y sello intactos.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D2D3D"/>
                </a:solidFill>
              </a:rPr>
              <a:t>• Sin golpes, corrosión, fugas o daños.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D2D3D"/>
                </a:solidFill>
              </a:rPr>
              <a:t>• Mantenimiento vigente según el programa de la organización.</a:t>
            </a:r>
            <a:endParaRPr lang="en-US" sz="1230" dirty="0"/>
          </a:p>
        </p:txBody>
      </p:sp>
      <p:sp>
        <p:nvSpPr>
          <p:cNvPr id="9" name="Shape 6"/>
          <p:cNvSpPr/>
          <p:nvPr/>
        </p:nvSpPr>
        <p:spPr>
          <a:xfrm>
            <a:off x="4370832" y="1572768"/>
            <a:ext cx="3456432" cy="3584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AF0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70832" y="1572768"/>
            <a:ext cx="73152" cy="3584448"/>
          </a:xfrm>
          <a:prstGeom prst="rect">
            <a:avLst/>
          </a:prstGeom>
          <a:solidFill>
            <a:srgbClr val="123B63"/>
          </a:solidFill>
          <a:ln w="12700">
            <a:solidFill>
              <a:srgbClr val="123B6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99432" y="1737360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B63"/>
                </a:solidFill>
              </a:rPr>
              <a:t>Prevenga incendios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599432" y="2139696"/>
            <a:ext cx="3017520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1D2D3D"/>
                </a:solidFill>
              </a:rPr>
              <a:t>• Mantenga orden y aseo.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D2D3D"/>
                </a:solidFill>
              </a:rPr>
              <a:t>• Controle fuentes de ignición.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D2D3D"/>
                </a:solidFill>
              </a:rPr>
              <a:t>• No sobrecargue conexiones eléctricas.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D2D3D"/>
                </a:solidFill>
              </a:rPr>
              <a:t>• Almacene sustancias inflamables de forma segura.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D2D3D"/>
                </a:solidFill>
              </a:rPr>
              <a:t>• Mantenga libres rutas y salidas.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D2D3D"/>
                </a:solidFill>
              </a:rPr>
              <a:t>• Reporte inmediatamente condiciones inseguras.</a:t>
            </a:r>
            <a:endParaRPr lang="en-US" sz="1230" dirty="0"/>
          </a:p>
        </p:txBody>
      </p:sp>
      <p:sp>
        <p:nvSpPr>
          <p:cNvPr id="13" name="Shape 10"/>
          <p:cNvSpPr/>
          <p:nvPr/>
        </p:nvSpPr>
        <p:spPr>
          <a:xfrm>
            <a:off x="8028432" y="1572768"/>
            <a:ext cx="3456432" cy="3584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AF0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028432" y="1572768"/>
            <a:ext cx="73152" cy="3584448"/>
          </a:xfrm>
          <a:prstGeom prst="rect">
            <a:avLst/>
          </a:prstGeom>
          <a:solidFill>
            <a:srgbClr val="D95C5C"/>
          </a:solidFill>
          <a:ln w="12700">
            <a:solidFill>
              <a:srgbClr val="D95C5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57032" y="1737360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B63"/>
                </a:solidFill>
              </a:rPr>
              <a:t>Actúe con seguridad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257032" y="2139696"/>
            <a:ext cx="3017520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1D2D3D"/>
                </a:solidFill>
              </a:rPr>
              <a:t>• Active la alarma o comunique la emergencia.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D2D3D"/>
                </a:solidFill>
              </a:rPr>
              <a:t>• Use el extintor solo si está capacitado y es seguro.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D2D3D"/>
                </a:solidFill>
              </a:rPr>
              <a:t>• Nunca dé la espalda al fuego mientras se retira.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D2D3D"/>
                </a:solidFill>
              </a:rPr>
              <a:t>• Evacúe cuando el fuego no sea controlable.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D2D3D"/>
                </a:solidFill>
              </a:rPr>
              <a:t>• Diríjase al punto de encuentro y siga instrucciones.</a:t>
            </a:r>
            <a:endParaRPr lang="en-US" sz="1230" dirty="0"/>
          </a:p>
        </p:txBody>
      </p:sp>
      <p:sp>
        <p:nvSpPr>
          <p:cNvPr id="17" name="Shape 14"/>
          <p:cNvSpPr/>
          <p:nvPr/>
        </p:nvSpPr>
        <p:spPr>
          <a:xfrm>
            <a:off x="987552" y="5440680"/>
            <a:ext cx="10241280" cy="566928"/>
          </a:xfrm>
          <a:prstGeom prst="roundRect">
            <a:avLst/>
          </a:prstGeom>
          <a:solidFill>
            <a:srgbClr val="E8F7F9"/>
          </a:solidFill>
          <a:ln w="12700">
            <a:solidFill>
              <a:srgbClr val="CCE7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80160" y="5614416"/>
            <a:ext cx="9646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3B63"/>
                </a:solidFill>
              </a:rPr>
              <a:t>Compromiso: reconocer los riesgos de incendio, reportar condiciones inseguras y utilizar el extintor únicamente cuando el escenario sea controlable y exista una ruta segura de evacuación.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SanitHelp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Teoría del fuego y manejo de extintores - SanitHelp</dc:title>
  <dc:subject>Teoría del fuego y manejo de extintores</dc:subject>
  <dc:creator>OpenAI</dc:creator>
  <cp:lastModifiedBy>OpenAI</cp:lastModifiedBy>
  <cp:revision>1</cp:revision>
  <dcterms:created xsi:type="dcterms:W3CDTF">2026-10-27T15:16:19Z</dcterms:created>
  <dcterms:modified xsi:type="dcterms:W3CDTF">2026-10-27T15:16:19Z</dcterms:modified>
</cp:coreProperties>
</file>