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DM Sans" panose="020F0502020204030204" pitchFamily="2" charset="0"/>
      <p:bold r:id="rId14"/>
    </p:embeddedFont>
    <p:embeddedFont>
      <p:font typeface="Space Grotesk"/>
      <p:bold r:id="rId1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82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4097535"/>
            <a:ext cx="8572500" cy="8858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4097535"/>
            <a:ext cx="85725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314700" y="4469010"/>
            <a:ext cx="9525" cy="38100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1874639"/>
            <a:ext cx="1071562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8BDF8"/>
                </a:solidFill>
                <a:latin typeface="DM Sans"/>
              </a:rPr>
              <a:t>DOCUMENTO INSTITUCIONAL PG-AR-001 V1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227064"/>
            <a:ext cx="9101137" cy="1051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140"/>
              </a:lnSpc>
            </a:pPr>
            <a:r>
              <a:rPr sz="3600" b="1" i="0" u="none">
                <a:solidFill>
                  <a:srgbClr val="FFFFFF"/>
                </a:solidFill>
                <a:latin typeface="Space Grotesk"/>
              </a:rPr>
              <a:t>Programa de Ahorro y Uso Eficiente del Agua (PAUEA)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3468885"/>
            <a:ext cx="1071562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94A3B8"/>
                </a:solidFill>
                <a:latin typeface="DM Sans"/>
              </a:rPr>
              <a:t>Socialización del plan de gestión hídrica y uso responsable del recurso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4335660"/>
            <a:ext cx="290512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DM Sans"/>
              </a:rPr>
              <a:t>PONENTE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4545210"/>
            <a:ext cx="290512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8FAFC"/>
                </a:solidFill>
                <a:latin typeface="DM Sans"/>
              </a:rPr>
              <a:t>María Luisa Castro Sánchez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4792860"/>
            <a:ext cx="290512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38BDF8"/>
                </a:solidFill>
                <a:latin typeface="DM Sans"/>
              </a:rPr>
              <a:t>Ingeniera de Calidad y Ambiente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5225" y="4335660"/>
            <a:ext cx="2595562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DM Sans"/>
              </a:rPr>
              <a:t>INSTITUCIÓN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5225" y="4545210"/>
            <a:ext cx="2595562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8FAFC"/>
                </a:solidFill>
                <a:latin typeface="DM Sans"/>
              </a:rPr>
              <a:t>SANITHELP S.A.S.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5225" y="4792860"/>
            <a:ext cx="2595562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94A3B8"/>
                </a:solidFill>
                <a:latin typeface="DM Sans"/>
              </a:rPr>
              <a:t>Proceso: Ambiente y Recursos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248400" y="1773435"/>
            <a:ext cx="5334000" cy="2000250"/>
          </a:xfrm>
          <a:prstGeom prst="roundRect">
            <a:avLst>
              <a:gd name="adj" fmla="val 5714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48400" y="3926085"/>
            <a:ext cx="5334000" cy="2000250"/>
          </a:xfrm>
          <a:prstGeom prst="roundRect">
            <a:avLst>
              <a:gd name="adj" fmla="val 5714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3192660"/>
            <a:ext cx="168235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291953" y="3192660"/>
            <a:ext cx="365164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09600" y="3668910"/>
            <a:ext cx="168235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291953" y="3668910"/>
            <a:ext cx="365164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9600" y="4345185"/>
            <a:ext cx="168235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291953" y="4345185"/>
            <a:ext cx="365164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9600" y="4821435"/>
            <a:ext cx="168235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291953" y="4821435"/>
            <a:ext cx="365164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09600" y="5497710"/>
            <a:ext cx="168235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291953" y="5497710"/>
            <a:ext cx="365164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5100" y="2040135"/>
            <a:ext cx="457200" cy="4572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100" y="4192785"/>
            <a:ext cx="457200" cy="4572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8925" y="2163960"/>
            <a:ext cx="209550" cy="2095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8925" y="4316610"/>
            <a:ext cx="209550" cy="209550"/>
          </a:xfrm>
          <a:prstGeom prst="rect">
            <a:avLst/>
          </a:prstGeom>
        </p:spPr>
      </p:pic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609600" y="2263973"/>
          <a:ext cx="5333999" cy="3248025"/>
        </p:xfrm>
        <a:graphic>
          <a:graphicData uri="http://schemas.openxmlformats.org/drawingml/2006/table">
            <a:tbl>
              <a:tblPr/>
              <a:tblGrid>
                <a:gridCol w="16823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16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1337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FFFFFF"/>
                          </a:solidFill>
                          <a:latin typeface="DM Sans"/>
                        </a:rPr>
                        <a:t>Campo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FFFFFF"/>
                          </a:solidFill>
                          <a:latin typeface="DM Sans"/>
                        </a:rPr>
                        <a:t>Información Registrada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1337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34155"/>
                          </a:solidFill>
                          <a:latin typeface="DM Sans"/>
                        </a:rPr>
                        <a:t>Institución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DM Sans"/>
                        </a:rPr>
                        <a:t>SANITHELP S.A.S.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1337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34155"/>
                          </a:solidFill>
                          <a:latin typeface="DM Sans"/>
                        </a:rPr>
                        <a:t>NIT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DM Sans"/>
                        </a:rPr>
                        <a:t>900978120-8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1337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34155"/>
                          </a:solidFill>
                          <a:latin typeface="DM Sans"/>
                        </a:rPr>
                        <a:t>Representante Legal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DM Sans"/>
                        </a:rPr>
                        <a:t>Anderson de Jesús Cantor Rambao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1337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34155"/>
                          </a:solidFill>
                          <a:latin typeface="DM Sans"/>
                        </a:rPr>
                        <a:t>Dirección Sede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DM Sans"/>
                        </a:rPr>
                        <a:t>Carrera 53 No. 59-77, Local 2, Barranquilla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134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34155"/>
                          </a:solidFill>
                          <a:latin typeface="DM Sans"/>
                        </a:rPr>
                        <a:t>Servicios IPS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DM Sans"/>
                        </a:rPr>
                        <a:t>Medicina general, laboral, del trabajo, consulta externa y toma de muestras.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DM Sans"/>
              </a:rPr>
              <a:t>CONTEXTO INSTITUCIONAL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0" y="70485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Space Grotesk"/>
              </a:rPr>
              <a:t>Identificación de la Sede SanitHelp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5100" y="2649735"/>
            <a:ext cx="56769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Space Grotesk"/>
              </a:rPr>
              <a:t>Infraestructura Hidrosanitaria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5100" y="2992635"/>
            <a:ext cx="48958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DM Sans"/>
              </a:rPr>
              <a:t>Suministro mediante acueducto público. Descarga directa al alcantarillado sin PTAR propia.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5100" y="4802385"/>
            <a:ext cx="56769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Space Grotesk"/>
              </a:rPr>
              <a:t>Verificación Física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5100" y="5145285"/>
            <a:ext cx="48958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DM Sans"/>
              </a:rPr>
              <a:t>Medidores, tanques, baños y grifos requieren inspección física directa para validación.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4711898"/>
            <a:ext cx="10972800" cy="838200"/>
          </a:xfrm>
          <a:prstGeom prst="roundRect">
            <a:avLst>
              <a:gd name="adj" fmla="val 4545"/>
            </a:avLst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149673"/>
            <a:ext cx="5334000" cy="2333625"/>
          </a:xfrm>
          <a:prstGeom prst="roundRect">
            <a:avLst>
              <a:gd name="adj" fmla="val 489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48400" y="2149673"/>
            <a:ext cx="5334000" cy="2333625"/>
          </a:xfrm>
          <a:prstGeom prst="roundRect">
            <a:avLst>
              <a:gd name="adj" fmla="val 4897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4711898"/>
            <a:ext cx="38100" cy="8382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930973"/>
            <a:ext cx="171450" cy="1714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454473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3200" y="2454473"/>
            <a:ext cx="457200" cy="4572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225" y="2578298"/>
            <a:ext cx="209550" cy="2095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7025" y="2578298"/>
            <a:ext cx="209550" cy="2095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DM Sans"/>
              </a:rPr>
              <a:t>PROPÓSITO DEL PROGRAMA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70485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Space Grotesk"/>
              </a:rPr>
              <a:t>Objetivo General y Salvaguarda Sanitaria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064073"/>
            <a:ext cx="62007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Space Grotesk"/>
              </a:rPr>
              <a:t>Objetivo Principal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406973"/>
            <a:ext cx="481965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DM Sans"/>
              </a:rPr>
              <a:t>Establecer medidas sistemáticas para reducir el consumo, controlar desperdicios y reparar fugas de agua en todas las áreas de la sede SANITHELP.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3200" y="3064073"/>
            <a:ext cx="56388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991B1B"/>
                </a:solidFill>
                <a:latin typeface="Space Grotesk"/>
              </a:rPr>
              <a:t>Salvaguarda Sanitaria Prioritaria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3200" y="3406973"/>
            <a:ext cx="481965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7F1D1D"/>
                </a:solidFill>
                <a:latin typeface="DM Sans"/>
              </a:rPr>
              <a:t>El ahorro de agua NUNCA debe comprometer el lavado de manos, desinfección, bioseguridad ni la atención segura a pacientes.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721173"/>
            <a:ext cx="3505200" cy="2257425"/>
          </a:xfrm>
          <a:prstGeom prst="roundRect">
            <a:avLst>
              <a:gd name="adj" fmla="val 506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2721173"/>
            <a:ext cx="3505200" cy="2257425"/>
          </a:xfrm>
          <a:prstGeom prst="roundRect">
            <a:avLst>
              <a:gd name="adj" fmla="val 506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2592585"/>
            <a:ext cx="3505200" cy="2514600"/>
          </a:xfrm>
          <a:prstGeom prst="roundRect">
            <a:avLst>
              <a:gd name="adj" fmla="val 454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2987873"/>
            <a:ext cx="45720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0100" y="2987873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3900" y="2859285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" y="3111698"/>
            <a:ext cx="266700" cy="2095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5350" y="3111698"/>
            <a:ext cx="266700" cy="2095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7725" y="2983110"/>
            <a:ext cx="209550" cy="2095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DM Sans"/>
              </a:rPr>
              <a:t>COBERTURA INSTITUCIONAL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70485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Space Grotesk"/>
              </a:rPr>
              <a:t>Alcance del Programa PAUEA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6300" y="3597473"/>
            <a:ext cx="3900487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Space Grotesk"/>
              </a:rPr>
              <a:t>Áreas Incluidas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6300" y="3940373"/>
            <a:ext cx="306705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DM Sans"/>
              </a:rPr>
              <a:t>Aplica integralmente a dependencias administrativas, consultorios asistenciales y áreas operativas.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0100" y="3597473"/>
            <a:ext cx="3900487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Space Grotesk"/>
              </a:rPr>
              <a:t>Actividades Cubiertas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0100" y="3940373"/>
            <a:ext cx="306705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DM Sans"/>
              </a:rPr>
              <a:t>Gestión administrativa, aseo general, mantenimiento preventivo y seguimiento mensual a facturación.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3900" y="3468885"/>
            <a:ext cx="38481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Space Grotesk"/>
              </a:rPr>
              <a:t>Exclusiones Explícitas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43900" y="3811785"/>
            <a:ext cx="3067050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DM Sans"/>
              </a:rPr>
              <a:t>No incluye tratamiento de aguas residuales, procesos industriales ni manipulación comercial de alimentos.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248400" y="2540198"/>
            <a:ext cx="5334000" cy="2619375"/>
          </a:xfrm>
          <a:prstGeom prst="roundRect">
            <a:avLst>
              <a:gd name="adj" fmla="val 4363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540198"/>
            <a:ext cx="5334000" cy="771525"/>
          </a:xfrm>
          <a:prstGeom prst="roundRect">
            <a:avLst>
              <a:gd name="adj" fmla="val 987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3464123"/>
            <a:ext cx="5334000" cy="771525"/>
          </a:xfrm>
          <a:prstGeom prst="roundRect">
            <a:avLst>
              <a:gd name="adj" fmla="val 987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4388048"/>
            <a:ext cx="5334000" cy="771525"/>
          </a:xfrm>
          <a:prstGeom prst="roundRect">
            <a:avLst>
              <a:gd name="adj" fmla="val 987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4625" y="2844998"/>
            <a:ext cx="238125" cy="190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DM Sans"/>
              </a:rPr>
              <a:t>CUMPLIMIENTO LEGAL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0485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Space Grotesk"/>
              </a:rPr>
              <a:t>Marco Normativo Regulatorio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2692598"/>
            <a:ext cx="5124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284C7"/>
                </a:solidFill>
                <a:latin typeface="DM Sans"/>
              </a:rPr>
              <a:t>Ley 373 de 1997 / Dec. 1090 de 2018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3616523"/>
            <a:ext cx="5124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284C7"/>
                </a:solidFill>
                <a:latin typeface="DM Sans"/>
              </a:rPr>
              <a:t>Decreto 1076 de 2015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4540448"/>
            <a:ext cx="5124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284C7"/>
                </a:solidFill>
                <a:latin typeface="DM Sans"/>
              </a:rPr>
              <a:t>Ley 9 de 1979 / Res. 3100 de 2019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4625" y="2816423"/>
            <a:ext cx="5667375" cy="247650"/>
          </a:xfrm>
          <a:prstGeom prst="rect">
            <a:avLst/>
          </a:prstGeom>
          <a:noFill/>
        </p:spPr>
        <p:txBody>
          <a:bodyPr wrap="none" lIns="23812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369A1"/>
                </a:solidFill>
                <a:latin typeface="Space Grotesk"/>
              </a:rPr>
              <a:t>Nota de Aplicabilidad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4625" y="3159323"/>
            <a:ext cx="4876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0C4A6E"/>
                </a:solidFill>
                <a:latin typeface="DM Sans"/>
              </a:rPr>
              <a:t>Estar conectado a la red pública no implica automáticamente obligación de presentar PUEAA formal ante la autoridad ambiental ni instalar PTAR propia. Su aplicabilidad debe ser validada con el prestador del servicio.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2959298"/>
            <a:ext cx="62865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DM Sans"/>
              </a:rPr>
              <a:t>Marco marco para el uso eficiente y ahorro del agua en Colombia.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3883223"/>
            <a:ext cx="62865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DM Sans"/>
              </a:rPr>
              <a:t>Decreto Único Reglamentario del Sector Ambiente y vertimientos.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4807148"/>
            <a:ext cx="62865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DM Sans"/>
              </a:rPr>
              <a:t>Código Sanitario Nacional y condiciones de habilitación de la IPS.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897385"/>
            <a:ext cx="2600325" cy="19050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400425" y="2897385"/>
            <a:ext cx="2600325" cy="19050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191250" y="2897385"/>
            <a:ext cx="2600325" cy="19050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982075" y="3025973"/>
            <a:ext cx="2600325" cy="1647825"/>
          </a:xfrm>
          <a:prstGeom prst="roundRect">
            <a:avLst>
              <a:gd name="adj" fmla="val 693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DM Sans"/>
              </a:rPr>
              <a:t>DIAGNÓSTICO OPERATIVO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0485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Space Grotesk"/>
              </a:rPr>
              <a:t>Puntos Clave de Consumo por Áreas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3164085"/>
            <a:ext cx="2712839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Space Grotesk"/>
              </a:rPr>
              <a:t>Consultorios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3506985"/>
            <a:ext cx="2162175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DM Sans"/>
              </a:rPr>
              <a:t>Lavamanos clínicos y grifos de aseo. Foco en detección rápida de goteos.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67125" y="3164085"/>
            <a:ext cx="2712839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Space Grotesk"/>
              </a:rPr>
              <a:t>Toma de Muestras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67125" y="3506985"/>
            <a:ext cx="2162175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DM Sans"/>
              </a:rPr>
              <a:t>Puntos de lavado bioseguro. Mantenimiento sin alterar caudal requerido.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57950" y="3164085"/>
            <a:ext cx="2712839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Space Grotesk"/>
              </a:rPr>
              <a:t>Cuarto de Aseo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57950" y="3506985"/>
            <a:ext cx="2162175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DM Sans"/>
              </a:rPr>
              <a:t>Preparación de soluciones. Prohibido el uso de mangueras de flujo abierto.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48775" y="3292673"/>
            <a:ext cx="2712839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Space Grotesk"/>
              </a:rPr>
              <a:t>Baños / Espera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48775" y="3635573"/>
            <a:ext cx="2162175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DM Sans"/>
              </a:rPr>
              <a:t>Sanitarios y lavamanos públicos. Control estricto de fugas y grifería.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721173"/>
            <a:ext cx="3505200" cy="2257425"/>
          </a:xfrm>
          <a:prstGeom prst="roundRect">
            <a:avLst>
              <a:gd name="adj" fmla="val 506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2721173"/>
            <a:ext cx="3505200" cy="2257425"/>
          </a:xfrm>
          <a:prstGeom prst="roundRect">
            <a:avLst>
              <a:gd name="adj" fmla="val 506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2721173"/>
            <a:ext cx="3505200" cy="2257425"/>
          </a:xfrm>
          <a:prstGeom prst="roundRect">
            <a:avLst>
              <a:gd name="adj" fmla="val 506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DM Sans"/>
              </a:rPr>
              <a:t>MONITOREO Y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0485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Space Grotesk"/>
              </a:rPr>
              <a:t>Indicadores de Gestión Hídrica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9575" y="3064073"/>
            <a:ext cx="3905250" cy="600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600" b="1" i="0" u="none">
                <a:solidFill>
                  <a:srgbClr val="0284C7"/>
                </a:solidFill>
                <a:latin typeface="DM Sans"/>
              </a:rPr>
              <a:t>m³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1943" y="3778448"/>
            <a:ext cx="4100512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Space Grotesk"/>
              </a:rPr>
              <a:t>Consumo Total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9575" y="4121348"/>
            <a:ext cx="39052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DM Sans"/>
              </a:rPr>
              <a:t>Lectura directa de facturación o medición en medidor principal.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43375" y="3064073"/>
            <a:ext cx="3905250" cy="600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600" b="1" i="0" u="none">
                <a:solidFill>
                  <a:srgbClr val="16A34A"/>
                </a:solidFill>
                <a:latin typeface="DM Sans"/>
              </a:rPr>
              <a:t>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45743" y="3778448"/>
            <a:ext cx="4100512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Space Grotesk"/>
              </a:rPr>
              <a:t>Atención de Fugas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43375" y="4121348"/>
            <a:ext cx="39052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DM Sans"/>
              </a:rPr>
              <a:t>(Fugas corregidas a tiempo ÷ Fugas reportadas) × 100.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77175" y="3064073"/>
            <a:ext cx="3905250" cy="600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600" b="1" i="0" u="none">
                <a:solidFill>
                  <a:srgbClr val="EA580C"/>
                </a:solidFill>
                <a:latin typeface="DM Sans"/>
              </a:rPr>
              <a:t>Δ%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9543" y="3778448"/>
            <a:ext cx="4100512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Space Grotesk"/>
              </a:rPr>
              <a:t>Variación de Consumo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77175" y="4121348"/>
            <a:ext cx="39052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DM Sans"/>
              </a:rPr>
              <a:t>Comparación de consumo actual respecto a la línea base aprobada.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741265"/>
            <a:ext cx="5334000" cy="2217241"/>
          </a:xfrm>
          <a:prstGeom prst="roundRect">
            <a:avLst>
              <a:gd name="adj" fmla="val 515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48400" y="2741265"/>
            <a:ext cx="5334000" cy="2217241"/>
          </a:xfrm>
          <a:prstGeom prst="roundRect">
            <a:avLst>
              <a:gd name="adj" fmla="val 515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3007965"/>
            <a:ext cx="457200" cy="4572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5100" y="3007965"/>
            <a:ext cx="45720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412" y="3131790"/>
            <a:ext cx="180975" cy="2095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4637" y="3131790"/>
            <a:ext cx="238125" cy="2095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DM Sans"/>
              </a:rPr>
              <a:t>BUENAS PRÁCTICAS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0485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Space Grotesk"/>
              </a:rPr>
              <a:t>Medidas Técnicas y Operativas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" y="3617565"/>
            <a:ext cx="6300787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Space Grotesk"/>
              </a:rPr>
              <a:t>Área Asistencial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5100" y="3617565"/>
            <a:ext cx="56769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Space Grotesk"/>
              </a:rPr>
              <a:t>Aseo y Servicios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9650" y="3958560"/>
            <a:ext cx="5715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DM San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6800" y="3960465"/>
            <a:ext cx="5762625" cy="243780"/>
          </a:xfrm>
          <a:prstGeom prst="rect">
            <a:avLst/>
          </a:prstGeom>
          <a:noFill/>
        </p:spPr>
        <p:txBody>
          <a:bodyPr wrap="none" lIns="5715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75569"/>
                </a:solidFill>
                <a:latin typeface="DM Sans"/>
              </a:rPr>
              <a:t>Cierre de grifo mientras el procedimiento clínico lo permita.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9650" y="4202340"/>
            <a:ext cx="5715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DM Sans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6800" y="4204245"/>
            <a:ext cx="5762625" cy="243780"/>
          </a:xfrm>
          <a:prstGeom prst="rect">
            <a:avLst/>
          </a:prstGeom>
          <a:noFill/>
        </p:spPr>
        <p:txBody>
          <a:bodyPr wrap="none" lIns="5715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75569"/>
                </a:solidFill>
                <a:latin typeface="DM Sans"/>
              </a:rPr>
              <a:t>No alterar caudal si compromete lavado técnico de manos.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9650" y="4446121"/>
            <a:ext cx="5715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DM Sans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6800" y="4448026"/>
            <a:ext cx="5762625" cy="243780"/>
          </a:xfrm>
          <a:prstGeom prst="rect">
            <a:avLst/>
          </a:prstGeom>
          <a:noFill/>
        </p:spPr>
        <p:txBody>
          <a:bodyPr wrap="none" lIns="5715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75569"/>
                </a:solidFill>
                <a:latin typeface="DM Sans"/>
              </a:rPr>
              <a:t>Evaluación previa antes de instalar ahorradores de agua.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48450" y="3958560"/>
            <a:ext cx="5715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DM Sans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05600" y="3960465"/>
            <a:ext cx="5486400" cy="243780"/>
          </a:xfrm>
          <a:prstGeom prst="rect">
            <a:avLst/>
          </a:prstGeom>
          <a:noFill/>
        </p:spPr>
        <p:txBody>
          <a:bodyPr wrap="none" lIns="5715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75569"/>
                </a:solidFill>
                <a:latin typeface="DM Sans"/>
              </a:rPr>
              <a:t>Dosificación exacta de productos según protocolo.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48450" y="4202340"/>
            <a:ext cx="5715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DM Sans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05600" y="4204245"/>
            <a:ext cx="5486400" cy="243780"/>
          </a:xfrm>
          <a:prstGeom prst="rect">
            <a:avLst/>
          </a:prstGeom>
          <a:noFill/>
        </p:spPr>
        <p:txBody>
          <a:bodyPr wrap="none" lIns="5715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75569"/>
                </a:solidFill>
                <a:latin typeface="DM Sans"/>
              </a:rPr>
              <a:t>Uso obligatorio de recipientes graduados en vez de manguera.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48450" y="4446121"/>
            <a:ext cx="5715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DM Sans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05600" y="4448026"/>
            <a:ext cx="5486400" cy="243780"/>
          </a:xfrm>
          <a:prstGeom prst="rect">
            <a:avLst/>
          </a:prstGeom>
          <a:noFill/>
        </p:spPr>
        <p:txBody>
          <a:bodyPr wrap="none" lIns="5715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75569"/>
                </a:solidFill>
                <a:latin typeface="DM Sans"/>
              </a:rPr>
              <a:t>Prohibido descongelar alimentos bajo chorro continuo.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811660"/>
            <a:ext cx="2600325" cy="2076450"/>
          </a:xfrm>
          <a:prstGeom prst="roundRect">
            <a:avLst>
              <a:gd name="adj" fmla="val 550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400425" y="2940248"/>
            <a:ext cx="2600325" cy="1819275"/>
          </a:xfrm>
          <a:prstGeom prst="roundRect">
            <a:avLst>
              <a:gd name="adj" fmla="val 628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191250" y="2811660"/>
            <a:ext cx="2600325" cy="2076450"/>
          </a:xfrm>
          <a:prstGeom prst="roundRect">
            <a:avLst>
              <a:gd name="adj" fmla="val 550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982075" y="2811660"/>
            <a:ext cx="2600325" cy="2076450"/>
          </a:xfrm>
          <a:prstGeom prst="roundRect">
            <a:avLst>
              <a:gd name="adj" fmla="val 550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DM Sans"/>
              </a:rPr>
              <a:t>PROCEDIMIENTO DE EMERGENCIA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0485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Space Grotesk"/>
              </a:rPr>
              <a:t>Protocolo ante Fugas o Consumo Atípico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3078360"/>
            <a:ext cx="2583656" cy="3524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284C7"/>
                </a:solidFill>
                <a:latin typeface="DM San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3506985"/>
            <a:ext cx="2712839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Space Grotesk"/>
              </a:rPr>
              <a:t>Detección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" y="3849885"/>
            <a:ext cx="2162175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DM Sans"/>
              </a:rPr>
              <a:t>Reporte inmediato indicando ubicación y severidad.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67125" y="3206948"/>
            <a:ext cx="2583656" cy="3524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284C7"/>
                </a:solidFill>
                <a:latin typeface="DM San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67125" y="3635573"/>
            <a:ext cx="2712839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Space Grotesk"/>
              </a:rPr>
              <a:t>Aislamiento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67125" y="3978473"/>
            <a:ext cx="216217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DM Sans"/>
              </a:rPr>
              <a:t>Cierre de llave de paso si es seguro manipularla.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57950" y="3078360"/>
            <a:ext cx="2583656" cy="3524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284C7"/>
                </a:solidFill>
                <a:latin typeface="DM San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57950" y="3506985"/>
            <a:ext cx="2712839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Space Grotesk"/>
              </a:rPr>
              <a:t>Reparación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7950" y="3849885"/>
            <a:ext cx="2162175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DM Sans"/>
              </a:rPr>
              <a:t>Intervención rápida por personal técnico calificado.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48775" y="3078360"/>
            <a:ext cx="2583656" cy="3524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284C7"/>
                </a:solidFill>
                <a:latin typeface="DM Sans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48775" y="3506985"/>
            <a:ext cx="2712839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Space Grotesk"/>
              </a:rPr>
              <a:t>Registro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48775" y="3849885"/>
            <a:ext cx="2162175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DM Sans"/>
              </a:rPr>
              <a:t>Documentación de causa, fecha y verificación posterior.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3630810"/>
            <a:ext cx="357485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84451" y="3630810"/>
            <a:ext cx="293280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117258" y="3630810"/>
            <a:ext cx="446514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4107060"/>
            <a:ext cx="357485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84451" y="4107060"/>
            <a:ext cx="293280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117258" y="4107060"/>
            <a:ext cx="446514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9600" y="4583310"/>
            <a:ext cx="357485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184451" y="4583310"/>
            <a:ext cx="293280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117258" y="4583310"/>
            <a:ext cx="446514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09600" y="5059560"/>
            <a:ext cx="357485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184451" y="5059560"/>
            <a:ext cx="293280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117258" y="5059560"/>
            <a:ext cx="446514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09600" y="2702123"/>
          <a:ext cx="10972799" cy="2371725"/>
        </p:xfrm>
        <a:graphic>
          <a:graphicData uri="http://schemas.openxmlformats.org/drawingml/2006/table">
            <a:tbl>
              <a:tblPr/>
              <a:tblGrid>
                <a:gridCol w="35748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328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651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4345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FFFFFF"/>
                          </a:solidFill>
                          <a:latin typeface="DM Sans"/>
                        </a:rPr>
                        <a:t>Actividad Clave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FFFFFF"/>
                          </a:solidFill>
                          <a:latin typeface="DM Sans"/>
                        </a:rPr>
                        <a:t>Frecuencia / Plazo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FFFFFF"/>
                          </a:solidFill>
                          <a:latin typeface="DM Sans"/>
                        </a:rPr>
                        <a:t>Evidencia Generada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4345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34155"/>
                          </a:solidFill>
                          <a:latin typeface="DM Sans"/>
                        </a:rPr>
                        <a:t>Inventario e Inspección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DM Sans"/>
                        </a:rPr>
                        <a:t>Ronda mensual interna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DM Sans"/>
                        </a:rPr>
                        <a:t>Registro de inspección hidrosanitaria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4345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34155"/>
                          </a:solidFill>
                          <a:latin typeface="DM Sans"/>
                        </a:rPr>
                        <a:t>Línea Base de Consumo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DM Sans"/>
                        </a:rPr>
                        <a:t>Inicio del programa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DM Sans"/>
                        </a:rPr>
                        <a:t>Línea base formalmente aprobada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4345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34155"/>
                          </a:solidFill>
                          <a:latin typeface="DM Sans"/>
                        </a:rPr>
                        <a:t>Análisis de Facturación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DM Sans"/>
                        </a:rPr>
                        <a:t>Mensual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DM Sans"/>
                        </a:rPr>
                        <a:t>Consolidado de indicadores m³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4345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34155"/>
                          </a:solidFill>
                          <a:latin typeface="DM Sans"/>
                        </a:rPr>
                        <a:t>Sensibilización de Personal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DM Sans"/>
                        </a:rPr>
                        <a:t>Mínimo anual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DM Sans"/>
                        </a:rPr>
                        <a:t>Registros de capacitación firmados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DM Sans"/>
              </a:rPr>
              <a:t>CRONOGRAMA DE EJECUCIÓN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70485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Space Grotesk"/>
              </a:rPr>
              <a:t>Plan de Acción e Inspección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81700" y="2387798"/>
            <a:ext cx="5600700" cy="2924175"/>
          </a:xfrm>
          <a:prstGeom prst="roundRect">
            <a:avLst>
              <a:gd name="adj" fmla="val 390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135385"/>
            <a:ext cx="5067300" cy="3429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2654498"/>
            <a:ext cx="457200" cy="4572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2225" y="2778323"/>
            <a:ext cx="209550" cy="209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DM Sans"/>
              </a:rPr>
              <a:t>COMPROMISO INSTITUCIONAL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0485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Space Grotesk"/>
              </a:rPr>
              <a:t>Cultura Ambiental y Responsabilidad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48400" y="3264098"/>
            <a:ext cx="59436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Space Grotesk"/>
              </a:rPr>
              <a:t>Sensibilización Continua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48400" y="3606998"/>
            <a:ext cx="51625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DM Sans"/>
              </a:rPr>
              <a:t>El uso eficiente del agua es responsabilidad de todos los colaboradores de SANITHELP.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48400" y="4273748"/>
            <a:ext cx="516255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DM Sans"/>
              </a:rPr>
              <a:t>Reportar goteos oportunamente y cuidar el recurso permite sostenibilidad ambiental garantizando siempre la calidad del servicio de salud.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348162" y="4119562"/>
            <a:ext cx="3495675" cy="6953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348162" y="4119562"/>
            <a:ext cx="349567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0" y="2043112"/>
            <a:ext cx="609600" cy="609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89311" y="2881312"/>
            <a:ext cx="7013376" cy="533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300" b="1" i="0" u="none">
                <a:solidFill>
                  <a:srgbClr val="FFFFFF"/>
                </a:solidFill>
                <a:latin typeface="Space Grotesk"/>
              </a:rPr>
              <a:t>¡Gracias por su atención!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56296" y="3567112"/>
            <a:ext cx="6679406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94A3B8"/>
                </a:solidFill>
                <a:latin typeface="DM Sans"/>
              </a:rPr>
              <a:t>Espacio para preguntas, dudas y sugerencias sobre el PAUEA.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11203" y="4357687"/>
            <a:ext cx="4369593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38BDF8"/>
                </a:solidFill>
                <a:latin typeface="DM Sans"/>
              </a:rPr>
              <a:t>María Luisa Castro Sánchez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11203" y="4624387"/>
            <a:ext cx="4369593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CBD5E1"/>
                </a:solidFill>
                <a:latin typeface="DM Sans"/>
              </a:rPr>
              <a:t>Ingeniera de Calidad y Ambiente — SANITHELP S.A.S.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715</Words>
  <Application>Microsoft Office PowerPoint</Application>
  <PresentationFormat>Panorámica</PresentationFormat>
  <Paragraphs>128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7" baseType="lpstr">
      <vt:lpstr>Arial</vt:lpstr>
      <vt:lpstr>DM Sans</vt:lpstr>
      <vt:lpstr>Calibri</vt:lpstr>
      <vt:lpstr>Space Grotesk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María Luisa Castro Sánchez</cp:lastModifiedBy>
  <cp:revision>2</cp:revision>
  <dcterms:created xsi:type="dcterms:W3CDTF">2013-01-27T09:14:16Z</dcterms:created>
  <dcterms:modified xsi:type="dcterms:W3CDTF">2026-10-26T20:14:20Z</dcterms:modified>
  <cp:category/>
</cp:coreProperties>
</file>