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https://www.who.int/docs/default-source/documents/health-topics/hand-hygiene-why-how-and-when-brochure.pdf
- https://www.minsalud.gov.co/sites/rid/Lists/BibliotecaDigital/RIDE/VS/PP/PAI/manual-prevencion-iaas.pdf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https://www.who.int/docs/default-source/documents/health-topics/hand-hygiene-why-how-and-when-brochure.pdf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https://www.who.int/docs/default-source/documents/health-topics/hand-hygiene-why-how-and-when-brochure.pdf
- https://www.minsalud.gov.co/sites/rid/Lists/BibliotecaDigital/RIDE/VS/PP/PAI/manual-prevencion-iaas.pdf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https://www.who.int/docs/default-source/documents/health-topics/hand-hygiene-why-how-and-when-brochure.pdf
- https://www.minsalud.gov.co/sites/rid/Lists/BibliotecaDigital/RIDE/VS/PP/PAI/manual-prevencion-iaas.pdf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Prevención y seguridad del paciente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50876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5544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A63"/>
                </a:solidFill>
              </a:rPr>
              <a:t>LAVADO DE MANOS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4944" y="23042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5C96"/>
                </a:solidFill>
              </a:rPr>
              <a:t>Higiene de manos para prevenir infecciones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3232" y="3090672"/>
            <a:ext cx="6537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746"/>
                </a:solidFill>
              </a:rPr>
              <a:t>Objetivo: reforzar cuándo y cómo realizar la higiene de manos para reducir la transmisión de microorganismos durante la atención en salud.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818120" y="1143000"/>
            <a:ext cx="36118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EE"/>
            </a:solidFill>
            <a:prstDash val="solid"/>
          </a:ln>
          <a:effectLst>
            <a:outerShdw sx="100000" sy="100000" kx="0" ky="0" algn="bl" rotWithShape="0" blurRad="16510" dist="5715" dir="27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49640" y="1874520"/>
            <a:ext cx="868680" cy="868680"/>
          </a:xfrm>
          <a:prstGeom prst="ellipse">
            <a:avLst/>
          </a:prstGeom>
          <a:solidFill>
            <a:srgbClr val="EAF7FA"/>
          </a:solidFill>
          <a:ln w="25400">
            <a:solidFill>
              <a:srgbClr val="56B7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42248" y="21122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6B7C7"/>
                </a:solidFill>
              </a:rPr>
              <a:t>L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9829800" y="1874520"/>
            <a:ext cx="868680" cy="868680"/>
          </a:xfrm>
          <a:prstGeom prst="ellipse">
            <a:avLst/>
          </a:prstGeom>
          <a:solidFill>
            <a:srgbClr val="EDF3FA"/>
          </a:solidFill>
          <a:ln w="25400">
            <a:solidFill>
              <a:srgbClr val="355C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22408" y="21122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55C96"/>
                </a:solidFill>
              </a:rPr>
              <a:t>R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326880" y="2788920"/>
            <a:ext cx="411480" cy="548640"/>
          </a:xfrm>
          <a:prstGeom prst="teardrop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A63"/>
                </a:solidFill>
              </a:rPr>
              <a:t>Manos limpias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3A63"/>
                </a:solidFill>
              </a:rPr>
              <a:t>= atención más segura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321040" y="4800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243746"/>
                </a:solidFill>
              </a:rPr>
              <a:t>La higiene de manos es una medida esencial para interrumpir la transmisión de microorganismos.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1. CUÁNDO REALIZARLA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Los 5 momentos para la higiene de manos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13232" y="1417320"/>
            <a:ext cx="5074920" cy="1078992"/>
          </a:xfrm>
          <a:prstGeom prst="roundRect">
            <a:avLst/>
          </a:prstGeom>
          <a:solidFill>
            <a:srgbClr val="EAF7FA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618488"/>
            <a:ext cx="502920" cy="502920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7282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81912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</a:rPr>
              <a:t>Antes de tocar al paciente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81912" y="19110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Protege al paciente frente a microorganismos presentes en las manos.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13232" y="2834640"/>
            <a:ext cx="5074920" cy="1078992"/>
          </a:xfrm>
          <a:prstGeom prst="roundRect">
            <a:avLst/>
          </a:prstGeom>
          <a:solidFill>
            <a:srgbClr val="EDF3FA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035808"/>
            <a:ext cx="502920" cy="502920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314553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81912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</a:rPr>
              <a:t>Antes de una tarea limpia o aséptica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581912" y="332841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Disminuye el riesgo de introducir microorganismos en sitios críticos.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3232" y="4251960"/>
            <a:ext cx="5074920" cy="1078992"/>
          </a:xfrm>
          <a:prstGeom prst="roundRect">
            <a:avLst/>
          </a:prstGeom>
          <a:solidFill>
            <a:srgbClr val="EAF7FA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453128"/>
            <a:ext cx="502920" cy="502920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56285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81912" y="4416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</a:rPr>
              <a:t>Después del riesgo de exposición a fluidos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581912" y="474573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Protege al trabajador y el entorno asistencial.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36792" y="1417320"/>
            <a:ext cx="5074920" cy="1078992"/>
          </a:xfrm>
          <a:prstGeom prst="roundRect">
            <a:avLst/>
          </a:prstGeom>
          <a:solidFill>
            <a:srgbClr val="EDF3FA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1618488"/>
            <a:ext cx="502920" cy="502920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17282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205472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</a:rPr>
              <a:t>Después de tocar al paciente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205472" y="19110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Evita llevar microorganismos a otras personas o superficies.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336792" y="2834640"/>
            <a:ext cx="5074920" cy="1078992"/>
          </a:xfrm>
          <a:prstGeom prst="roundRect">
            <a:avLst/>
          </a:prstGeom>
          <a:solidFill>
            <a:srgbClr val="EAF7FA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37960" y="3035808"/>
            <a:ext cx="502920" cy="502920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314553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205472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</a:rPr>
              <a:t>Después de tocar el entorno del paciente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7205472" y="332841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Incluye superficies y objetos próximos al paciente.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336792" y="4251960"/>
            <a:ext cx="5074920" cy="1078992"/>
          </a:xfrm>
          <a:prstGeom prst="roundRect">
            <a:avLst/>
          </a:prstGeom>
          <a:solidFill>
            <a:srgbClr val="F4FAF6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4462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F8A"/>
                </a:solidFill>
              </a:rPr>
              <a:t>Importante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726680" y="43708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243746"/>
                </a:solidFill>
              </a:rPr>
              <a:t>El uso de guantes no reemplaza la higiene de manos. Debe realizarse en los momentos indicados, aun cuando se usen guantes.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2. TÉCNICA CORRECTA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¿Agua y jabón o preparación alcohólica?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13232" y="1417320"/>
            <a:ext cx="5257800" cy="2057400"/>
          </a:xfrm>
          <a:prstGeom prst="roundRect">
            <a:avLst/>
          </a:prstGeom>
          <a:solidFill>
            <a:srgbClr val="EDF3FA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9264" y="1673352"/>
            <a:ext cx="384048" cy="384048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90472" y="16276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Agua y jabón | 40–60 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2221992"/>
            <a:ext cx="467258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Usar cuando las manos estén visiblemente sucias o contaminadas. Mojar, aplicar jabón, frotar todas las superficies, enjuagar y secar completamente.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36208" y="1417320"/>
            <a:ext cx="5257800" cy="2057400"/>
          </a:xfrm>
          <a:prstGeom prst="roundRect">
            <a:avLst/>
          </a:prstGeom>
          <a:solidFill>
            <a:srgbClr val="EAF7FA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673352"/>
            <a:ext cx="384048" cy="384048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16276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Preparación alcohólica | 20–30 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28816" y="2221992"/>
            <a:ext cx="467258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En la mayoría de situaciones clínicas, si las manos no están visiblemente sucias. Aplicar cantidad suficiente y frotar hasta que las manos estén secas.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63"/>
                </a:solidFill>
              </a:rPr>
              <a:t>Zonas que no deben olvidarse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68680" y="4434840"/>
            <a:ext cx="31089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53542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F8A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07592" y="4526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Palmas y dorsos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480560" y="4434840"/>
            <a:ext cx="31089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453542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F8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19472" y="4526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Entre los dedos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092440" y="4434840"/>
            <a:ext cx="31089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0" y="453542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F8A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531352" y="4526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Pulgares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68680" y="5148072"/>
            <a:ext cx="31089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52486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F8A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07592" y="52395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Puntas de los dedos y uñas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480560" y="5148072"/>
            <a:ext cx="31089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52486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F8A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19472" y="52395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Muñecas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3. CONDUCTAS ESPERADAS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Cierre: hábitos que protegen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6720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78308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63"/>
                </a:solidFill>
              </a:rPr>
              <a:t>Antes de iniciar o terminar una atención, verifica: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51560" y="2432304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24871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3957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¿Es este uno de los 5 momentos?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2980944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30358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54480" y="2944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¿Mis manos están visiblemente sucias?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51560" y="3529584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35844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54480" y="3493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¿Froté todas las superficies durante el tiempo adecuado?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51560" y="4078224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413308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54480" y="40416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¿Mis manos están completamente secas antes de usar guantes?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51560" y="4626864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46817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54480" y="45902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¿Evité tocar superficies innecesarias después de higienizarme?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863840" y="1645920"/>
            <a:ext cx="3429000" cy="3520440"/>
          </a:xfrm>
          <a:prstGeom prst="round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COMPROMISO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275320" y="2651760"/>
            <a:ext cx="26060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</a:rPr>
              <a:t>Realizar la higiene de manos en los momentos indicados, aplicar la técnica correcta y promover esta práctica como una barrera esencial para la seguridad del paciente y del equipo de salud.</a:t>
            </a:r>
            <a:endParaRPr lang="en-US" sz="1560" dirty="0"/>
          </a:p>
        </p:txBody>
      </p:sp>
      <p:sp>
        <p:nvSpPr>
          <p:cNvPr id="25" name="Text 22"/>
          <p:cNvSpPr/>
          <p:nvPr/>
        </p:nvSpPr>
        <p:spPr>
          <a:xfrm>
            <a:off x="8183880" y="4663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F0F4"/>
                </a:solidFill>
              </a:rPr>
              <a:t>Manos limpias, atención segura.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Lavado de manos - SanitHelp</dc:title>
  <dc:subject>Lavado de manos e higiene de manos</dc:subject>
  <dc:creator>OpenAI</dc:creator>
  <cp:lastModifiedBy>OpenAI</cp:lastModifiedBy>
  <cp:revision>1</cp:revision>
  <dcterms:created xsi:type="dcterms:W3CDTF">2026-10-27T16:09:14Z</dcterms:created>
  <dcterms:modified xsi:type="dcterms:W3CDTF">2026-10-27T16:09:14Z</dcterms:modified>
</cp:coreProperties>
</file>