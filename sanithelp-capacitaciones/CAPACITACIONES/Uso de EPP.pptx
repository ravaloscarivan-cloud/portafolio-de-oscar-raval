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https://www.osha.gov/personal-protective-equipment
- https://www.funcionpublica.gov.co/eva/gestornormativo/norma_pdf.php?i=72173&amp;lt=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https://www.osha.gov/personal-protective-equipment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https://www.cdc.gov/healthcare-associated-infections/media/pdfs/PPE-Sequence-P.pdf
- https://www.osha.gov/personal-protective-equipment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https://www.osha.gov/personal-protective-equipment
- https://www.funcionpublica.gov.co/eva/gestornormativo/norma_pdf.php?i=72173&amp;lt=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NITHELP"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58C0CA"/>
          </a:solidFill>
          <a:ln w="12700">
            <a:solidFill>
              <a:srgbClr val="58C0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345B93"/>
          </a:solidFill>
          <a:ln w="12700">
            <a:solidFill>
              <a:srgbClr val="345B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620256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SanitHelp | Seguridad y Salud en el Trabajo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0424160" y="6620256"/>
            <a:ext cx="1234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Capacitación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digo_etica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182880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7373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45B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DE EPP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640080" y="239572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Elementos de Protección Personal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530352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Seleccionar, usar, retirar y cuidar el EPP correctamente reduce la exposición a peligros en el trabajo.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086600" y="1417320"/>
            <a:ext cx="658368" cy="658368"/>
          </a:xfrm>
          <a:prstGeom prst="ellipse">
            <a:avLst/>
          </a:prstGeom>
          <a:solidFill>
            <a:srgbClr val="58C0CA"/>
          </a:solidFill>
          <a:ln w="12700">
            <a:solidFill>
              <a:srgbClr val="58C0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32320" y="15270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G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949440" y="2167128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24A"/>
                </a:solidFill>
              </a:rPr>
              <a:t>Guantes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8275320" y="1417320"/>
            <a:ext cx="658368" cy="658368"/>
          </a:xfrm>
          <a:prstGeom prst="ellipse">
            <a:avLst/>
          </a:prstGeom>
          <a:solidFill>
            <a:srgbClr val="345B93"/>
          </a:solidFill>
          <a:ln w="12700">
            <a:solidFill>
              <a:srgbClr val="345B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321040" y="15270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8138160" y="2167128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24A"/>
                </a:solidFill>
              </a:rPr>
              <a:t>Mascarilla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464040" y="1417320"/>
            <a:ext cx="658368" cy="658368"/>
          </a:xfrm>
          <a:prstGeom prst="ellipse">
            <a:avLst/>
          </a:prstGeom>
          <a:solidFill>
            <a:srgbClr val="2E8B75"/>
          </a:solidFill>
          <a:ln w="12700">
            <a:solidFill>
              <a:srgbClr val="2E8B7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09760" y="15270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O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9326880" y="2167128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24A"/>
                </a:solidFill>
              </a:rPr>
              <a:t>Ojos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0652760" y="1417320"/>
            <a:ext cx="658368" cy="658368"/>
          </a:xfrm>
          <a:prstGeom prst="ellipse">
            <a:avLst/>
          </a:prstGeom>
          <a:solidFill>
            <a:srgbClr val="D9902F"/>
          </a:solidFill>
          <a:ln w="12700">
            <a:solidFill>
              <a:srgbClr val="D9902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98480" y="1527048"/>
            <a:ext cx="566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10515600" y="2167128"/>
            <a:ext cx="932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8324A"/>
                </a:solidFill>
              </a:rPr>
              <a:t>Bata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7059168" y="2788920"/>
            <a:ext cx="3794760" cy="15087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5B93"/>
                </a:solidFill>
              </a:rPr>
              <a:t>El EPP es la última barrera de protección: no reemplaza la eliminación del peligro ni los controles de ingeniería o administrativos.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7543800" y="4617720"/>
            <a:ext cx="2743200" cy="685800"/>
          </a:xfrm>
          <a:prstGeom prst="chevron">
            <a:avLst/>
          </a:prstGeom>
          <a:solidFill>
            <a:srgbClr val="58C0CA"/>
          </a:solidFill>
          <a:ln w="12700">
            <a:solidFill>
              <a:srgbClr val="58C0C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35240" y="4782312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PROTEGER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digo_etica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41732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5B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¿Cuándo y cuál EPP utilizar?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176272" y="9601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EPP se selecciona según el peligro, la tarea y el nivel de exposición.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85800" y="155448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58C0CA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1527048" y="1847088"/>
            <a:ext cx="914400" cy="914400"/>
          </a:xfrm>
          <a:prstGeom prst="ellipse">
            <a:avLst/>
          </a:prstGeom>
          <a:solidFill>
            <a:srgbClr val="58C0CA"/>
          </a:solidFill>
          <a:ln w="12700">
            <a:solidFill>
              <a:srgbClr val="58C0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627632" y="20574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G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914400" y="2944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5B93"/>
                </a:solidFill>
              </a:rPr>
              <a:t>Manos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3401568"/>
            <a:ext cx="21488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8324A"/>
                </a:solidFill>
              </a:rPr>
              <a:t>Guantes adecuados al riesgo: biológico, químico, mecánico o de limpieza.</a:t>
            </a:r>
            <a:endParaRPr lang="en-US" sz="1320" dirty="0"/>
          </a:p>
        </p:txBody>
      </p:sp>
      <p:sp>
        <p:nvSpPr>
          <p:cNvPr id="10" name="Shape 7"/>
          <p:cNvSpPr/>
          <p:nvPr/>
        </p:nvSpPr>
        <p:spPr>
          <a:xfrm>
            <a:off x="3538728" y="155448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345B93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379976" y="1847088"/>
            <a:ext cx="914400" cy="914400"/>
          </a:xfrm>
          <a:prstGeom prst="ellipse">
            <a:avLst/>
          </a:prstGeom>
          <a:solidFill>
            <a:srgbClr val="345B93"/>
          </a:solidFill>
          <a:ln w="12700">
            <a:solidFill>
              <a:srgbClr val="345B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20574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3767328" y="2944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5B93"/>
                </a:solidFill>
              </a:rPr>
              <a:t>Respiratorio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767328" y="3401568"/>
            <a:ext cx="21488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8324A"/>
                </a:solidFill>
              </a:rPr>
              <a:t>Mascarilla o respirador según el tipo de exposición y el protocolo aplicable.</a:t>
            </a:r>
            <a:endParaRPr lang="en-US" sz="1320" dirty="0"/>
          </a:p>
        </p:txBody>
      </p:sp>
      <p:sp>
        <p:nvSpPr>
          <p:cNvPr id="15" name="Shape 12"/>
          <p:cNvSpPr/>
          <p:nvPr/>
        </p:nvSpPr>
        <p:spPr>
          <a:xfrm>
            <a:off x="6391656" y="155448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2E8B75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232904" y="1847088"/>
            <a:ext cx="914400" cy="914400"/>
          </a:xfrm>
          <a:prstGeom prst="ellipse">
            <a:avLst/>
          </a:prstGeom>
          <a:solidFill>
            <a:srgbClr val="2E8B75"/>
          </a:solidFill>
          <a:ln w="12700">
            <a:solidFill>
              <a:srgbClr val="2E8B7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33488" y="20574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O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6620256" y="2944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5B93"/>
                </a:solidFill>
              </a:rPr>
              <a:t>Ojos y cara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620256" y="3401568"/>
            <a:ext cx="21488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8324A"/>
                </a:solidFill>
              </a:rPr>
              <a:t>Gafas de seguridad o careta cuando exista riesgo de salpicaduras o proyecciones.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9244584" y="1554480"/>
            <a:ext cx="2606040" cy="33832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D9902F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10085832" y="1847088"/>
            <a:ext cx="914400" cy="914400"/>
          </a:xfrm>
          <a:prstGeom prst="ellipse">
            <a:avLst/>
          </a:prstGeom>
          <a:solidFill>
            <a:srgbClr val="D9902F"/>
          </a:solidFill>
          <a:ln w="12700">
            <a:solidFill>
              <a:srgbClr val="D9902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186416" y="2057400"/>
            <a:ext cx="713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9473184" y="2944368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5B93"/>
                </a:solidFill>
              </a:rPr>
              <a:t>Cuerpo / pies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473184" y="3401568"/>
            <a:ext cx="214884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18324A"/>
                </a:solidFill>
              </a:rPr>
              <a:t>Bata, delantal, calzado cerrado u otros elementos definidos por la actividad.</a:t>
            </a:r>
            <a:endParaRPr lang="en-US" sz="1320" dirty="0"/>
          </a:p>
        </p:txBody>
      </p:sp>
      <p:sp>
        <p:nvSpPr>
          <p:cNvPr id="25" name="Text 22"/>
          <p:cNvSpPr/>
          <p:nvPr/>
        </p:nvSpPr>
        <p:spPr>
          <a:xfrm>
            <a:off x="1051560" y="5349240"/>
            <a:ext cx="1010412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45B93"/>
                </a:solidFill>
              </a:rPr>
              <a:t>Regla clave: el EPP debe ser compatible con la tarea, estar en buen estado y ajustarse correctamente al usuario.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digo_etica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41732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5B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Uso seguro: antes, durante y después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176272" y="9601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protección depende tanto del equipo como de la forma de utilizarlo.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685800" y="1508760"/>
            <a:ext cx="3337560" cy="42976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58C0CA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434840" y="1508760"/>
            <a:ext cx="3337560" cy="42976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345B93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183880" y="1508760"/>
            <a:ext cx="3337560" cy="429768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2E8B75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188720" y="182880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8C0CA"/>
                </a:solidFill>
              </a:rPr>
              <a:t>ANTES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051560" y="242316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el riesgo y el EPP requerido.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51560" y="306324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integridad, talla y limpieza.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51560" y="37033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Realizar higiene de manos cuando aplique.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892040" y="1828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45B93"/>
                </a:solidFill>
              </a:rPr>
              <a:t>DURANTE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754880" y="24231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Usarlo durante toda la exposición.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75488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tocar cara o ajustar zonas contaminadas.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754880" y="370332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Cambiarlo si está roto, húmedo o contaminado.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8641080" y="18288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8B75"/>
                </a:solidFill>
              </a:rPr>
              <a:t>DESPUÉS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8503920" y="24231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 sin contaminar piel o ropa.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503920" y="306324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Desechar o enviar a reprocesamiento según corresponda.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503920" y="388620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Realizar higiene de manos y reportar novedades.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960120" y="5989320"/>
            <a:ext cx="10287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26675"/>
                </a:solidFill>
              </a:rPr>
              <a:t>En atención clínica, la secuencia de colocación y retiro debe seguir el protocolo definido para el tipo de precaución y EPP utilizado.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digo_etica_sanithelp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7472"/>
            <a:ext cx="1417320" cy="7772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148840" y="43891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45B9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Responsabilidades y compromiso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2176272" y="96012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266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EPP funciona cuando existe selección adecuada, capacitación y uso constante.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731520" y="160020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345B93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263640" y="160020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58C0CA"/>
            </a:solidFill>
            <a:prstDash val="solid"/>
          </a:ln>
          <a:effectLst>
            <a:outerShdw sx="100000" sy="100000" kx="0" ky="0" algn="bl" rotWithShape="0" blurRad="15240" dist="6350" dir="27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51560" y="1965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45B93"/>
                </a:solidFill>
              </a:rPr>
              <a:t>Responsabilidad de la organización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143000" y="260604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el EPP según la identificación de peligros.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143000" y="324612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Suministrar equipos adecuados y capacitar al personal.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143000" y="388620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uso, mantenimiento, reposición y disposición.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583680" y="196596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58C0CA"/>
                </a:solidFill>
              </a:rPr>
              <a:t>Compromiso del colaborador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675120" y="2606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el EPP indicado de forma correcta y permanente.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75120" y="324612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Cuidarlo, no modificarlo y reportar daños o faltantes.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6675120" y="388620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8C0C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</a:t>
            </a:r>
            <a:pPr indent="0" marL="0">
              <a:buNone/>
            </a:pPr>
            <a:r>
              <a:rPr lang="en-US" sz="1500" dirty="0">
                <a:solidFill>
                  <a:srgbClr val="1832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Cumplir protocolos y solicitar orientación ante dudas.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2011680" y="5440680"/>
            <a:ext cx="8183880" cy="731520"/>
          </a:xfrm>
          <a:prstGeom prst="roundRect">
            <a:avLst>
              <a:gd name="adj" fmla="val 10000"/>
            </a:avLst>
          </a:prstGeom>
          <a:solidFill>
            <a:srgbClr val="EAF7F8"/>
          </a:solidFill>
          <a:ln w="15240">
            <a:solidFill>
              <a:srgbClr val="58C0C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40280" y="5650992"/>
            <a:ext cx="7726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345B93"/>
                </a:solidFill>
              </a:rPr>
              <a:t>COMPROMISO: protegerme, proteger a mis compañeros y usar el EPP definido para cada actividad.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60196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SanitHelp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Uso de elementos de protección personal (EPP)</dc:title>
  <dc:subject>Uso de EPP</dc:subject>
  <dc:creator>OpenAI</dc:creator>
  <cp:lastModifiedBy>OpenAI</cp:lastModifiedBy>
  <cp:revision>1</cp:revision>
  <dcterms:created xsi:type="dcterms:W3CDTF">2026-10-28T13:18:15Z</dcterms:created>
  <dcterms:modified xsi:type="dcterms:W3CDTF">2026-10-28T13:18:15Z</dcterms:modified>
</cp:coreProperties>
</file>