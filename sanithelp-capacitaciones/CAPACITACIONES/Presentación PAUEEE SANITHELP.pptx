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34644"/>
            <a:ext cx="60960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94532"/>
            <a:ext cx="1228725" cy="285750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34644"/>
            <a:ext cx="6096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83944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" y="4972794"/>
            <a:ext cx="2381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008882"/>
            <a:ext cx="6500812" cy="143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150" b="1" i="0" u="none">
                <a:solidFill>
                  <a:srgbClr val="FFFFFF"/>
                </a:solidFill>
                <a:latin typeface="Space Grotesk"/>
              </a:rPr>
              <a:t>Programa de Ahorro y Uso Eficiente de la Energía Eléctrica (PAUEEE)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39294"/>
            <a:ext cx="619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DM Sans"/>
              </a:rPr>
              <a:t>Socialización Institucional y Gestión Eficiente del Recurso Energético en SANITHELP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1551682"/>
            <a:ext cx="1057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DM Sans"/>
              </a:rPr>
              <a:t>PG-AR-002 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1551682"/>
            <a:ext cx="2369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DM Sans"/>
              </a:rPr>
              <a:t>Proceso: Ambiente y Recursos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4772769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DM Sans"/>
              </a:rPr>
              <a:t>PONENTE: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963269"/>
            <a:ext cx="29051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DM Sans"/>
              </a:rPr>
              <a:t>María Luisa Castro Sánchez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5191869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DM Sans"/>
              </a:rPr>
              <a:t>Ingeniera de Calidad y Ambiente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9375"/>
            <a:ext cx="53340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62225"/>
            <a:ext cx="5334000" cy="25908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24625" y="3543300"/>
            <a:ext cx="23431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63025" y="3543300"/>
            <a:ext cx="23431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24625" y="3962400"/>
            <a:ext cx="23431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3025" y="3962400"/>
            <a:ext cx="2343150" cy="323850"/>
          </a:xfrm>
          <a:prstGeom prst="roundRect">
            <a:avLst>
              <a:gd name="adj" fmla="val 1764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24625" y="438150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3025" y="438150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24175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2867025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01. CONTEXTO SEDE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Identificación Institucional y Áreas Cubiertas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2895600"/>
            <a:ext cx="592574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Información SANITHELP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838450"/>
            <a:ext cx="5334000" cy="2476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Infraestructura Cubierta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238500"/>
            <a:ext cx="5667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DM Sans"/>
              </a:rPr>
              <a:t>Cobertura completa en la sede operacional: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295650"/>
            <a:ext cx="597693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334155"/>
                </a:solidFill>
                <a:latin typeface="DM Sans"/>
              </a:rPr>
              <a:t>NIT:</a:t>
            </a:r>
            <a:r>
              <a:rPr sz="1200" b="0" i="0" u="none">
                <a:solidFill>
                  <a:srgbClr val="334155"/>
                </a:solidFill>
                <a:latin typeface="DM Sans"/>
              </a:rPr>
              <a:t> 900978120-8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600450"/>
            <a:ext cx="597693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334155"/>
                </a:solidFill>
                <a:latin typeface="DM Sans"/>
              </a:rPr>
              <a:t>Rep. Legal:</a:t>
            </a:r>
            <a:r>
              <a:rPr sz="1200" b="0" i="0" u="none">
                <a:solidFill>
                  <a:srgbClr val="334155"/>
                </a:solidFill>
                <a:latin typeface="DM Sans"/>
              </a:rPr>
              <a:t> Anderson de Jesús Cantor Rambau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905250"/>
            <a:ext cx="597693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334155"/>
                </a:solidFill>
                <a:latin typeface="DM Sans"/>
              </a:rPr>
              <a:t>Dirección:</a:t>
            </a:r>
            <a:r>
              <a:rPr sz="1200" b="0" i="0" u="none">
                <a:solidFill>
                  <a:srgbClr val="334155"/>
                </a:solidFill>
                <a:latin typeface="DM Sans"/>
              </a:rPr>
              <a:t> Carrera 53 No. 59-77, Local 2, Barranquilla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210050"/>
            <a:ext cx="48768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200" b="1" i="0" u="none">
                <a:solidFill>
                  <a:srgbClr val="334155"/>
                </a:solidFill>
                <a:latin typeface="DM Sans"/>
              </a:rPr>
              <a:t>Servicios:</a:t>
            </a:r>
            <a:r>
              <a:rPr sz="1200" b="0" i="0" u="none">
                <a:solidFill>
                  <a:srgbClr val="334155"/>
                </a:solidFill>
                <a:latin typeface="DM Sans"/>
              </a:rPr>
              <a:t> Medicina general, laboral, del trabajo, consulta externa y toma de muestras.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925" y="3619500"/>
            <a:ext cx="220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Sala de espera / Recepción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7325" y="3619500"/>
            <a:ext cx="220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2 Consultorios médicos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925" y="4038600"/>
            <a:ext cx="220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Sala de toma de muestras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7325" y="4038600"/>
            <a:ext cx="220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Sala de juntas / Comedor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925" y="4457700"/>
            <a:ext cx="2209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Cuarto de aseo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7325" y="4457700"/>
            <a:ext cx="22098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DM Sans"/>
              </a:rPr>
              <a:t>Cuartos de residuos (RESPEL/Ord)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89014"/>
            <a:ext cx="5343525" cy="2499121"/>
          </a:xfrm>
          <a:prstGeom prst="roundRect">
            <a:avLst>
              <a:gd name="adj" fmla="val 457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9825" y="2375594"/>
            <a:ext cx="5362575" cy="2925960"/>
          </a:xfrm>
          <a:prstGeom prst="roundRect">
            <a:avLst>
              <a:gd name="adj" fmla="val 390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34150" y="4244280"/>
            <a:ext cx="4733925" cy="7429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34150" y="4244280"/>
            <a:ext cx="38100" cy="7429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3814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150" y="2689919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989064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785169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02. MARCO ESTRATÉGICO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Objetivo y Alcance del Programa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7214"/>
            <a:ext cx="621327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Space Grotesk"/>
              </a:rPr>
              <a:t>Objetivo General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8214"/>
            <a:ext cx="48291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DM Sans"/>
              </a:rPr>
              <a:t>Establecer medidas sistemáticas para el control y reducción del consumo de energía eléctrica en SANITHELP, previniendo desperdicios y promoviendo el uso eficiente, garantizando la seguridad eléctrica, bioseguridad y continuidad asistencial.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3223319"/>
            <a:ext cx="5657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Alcance y Prioridad Asistencial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3604319"/>
            <a:ext cx="48291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DM Sans"/>
              </a:rPr>
              <a:t>Aplica a todas las actividades administrativas, asistenciales, de apoyo y mantenimiento.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4358580"/>
            <a:ext cx="44862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DM Sans"/>
              </a:rPr>
              <a:t>Regla Invariable: Las medidas de ahorro NUNCA deben comprometer la atención en salud, la conservación de muestras ni la bioseguridad.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8462"/>
            <a:ext cx="2600325" cy="1800225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38462"/>
            <a:ext cx="2600325" cy="1800225"/>
          </a:xfrm>
          <a:prstGeom prst="roundRect">
            <a:avLst>
              <a:gd name="adj" fmla="val 5291"/>
            </a:avLst>
          </a:prstGeom>
          <a:solidFill>
            <a:srgbClr val="FFFF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28925"/>
            <a:ext cx="2600325" cy="2019300"/>
          </a:xfrm>
          <a:prstGeom prst="roundRect">
            <a:avLst>
              <a:gd name="adj" fmla="val 47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828925"/>
            <a:ext cx="2600325" cy="2019300"/>
          </a:xfrm>
          <a:prstGeom prst="roundRect">
            <a:avLst>
              <a:gd name="adj" fmla="val 471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76587"/>
            <a:ext cx="20002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76587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06705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067050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03. GOBERNANZA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Matriz de Responsabilidades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194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Representante 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4762"/>
            <a:ext cx="2219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Aprobar el programa, disponer de recursos razonables, asignar responsables y revisar periódicamente resultados.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19487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Ing. Calidad y Ambiente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814762"/>
            <a:ext cx="2219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Coordinar el diagnóstico, línea base, inventario de cargas, capacitaciones y seguimiento continuo de indicadores.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409950"/>
            <a:ext cx="233029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Personal Asistencial/Admin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24300"/>
            <a:ext cx="2219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Uso racional de energía, apagar equipos no esenciales al terminar la jornada y reportar riesgos o anomalías.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409950"/>
            <a:ext cx="2330291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Mantenimiento / Técnicos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24300"/>
            <a:ext cx="2219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Apoyar revisiones visuales, ejecutar mantenimientos autorizados y cumplir con la normativa técnica vigente.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90825"/>
            <a:ext cx="4899273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3673" y="2733675"/>
            <a:ext cx="5768726" cy="22098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5625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533775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81952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105275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4391025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898" y="3429000"/>
            <a:ext cx="1047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4162" y="342900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898" y="4133850"/>
            <a:ext cx="1047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4162" y="4133850"/>
            <a:ext cx="142875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04. DIAGNÓSTICO TÉCNICO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Inventario y Recopilación de Información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067050"/>
            <a:ext cx="5705205" cy="2476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Acción Inicial Obligatoria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898" y="3009900"/>
            <a:ext cx="610210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Categorías a Verificar en Sitio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467100"/>
            <a:ext cx="5433528" cy="2857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Recopilar historial de facturación eléctrica.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752850"/>
            <a:ext cx="5433528" cy="2857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Identificar medidor principal y sus periodos.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4038600"/>
            <a:ext cx="5433528" cy="2857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Levantar inventario físico detallado de cargas.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324350"/>
            <a:ext cx="5433528" cy="2857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Inspección técnica de tableros y protecciones.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898" y="3409950"/>
            <a:ext cx="3164830" cy="1905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DM Sans"/>
              </a:rPr>
              <a:t>Iluminación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898" y="3638550"/>
            <a:ext cx="2627114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DM Sans"/>
              </a:rPr>
              <a:t>Luminarias, tipo de lámparas e interruptores.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4162" y="3409950"/>
            <a:ext cx="3165016" cy="190500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DM Sans"/>
              </a:rPr>
              <a:t>Climatización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4162" y="3638550"/>
            <a:ext cx="26272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DM Sans"/>
              </a:rPr>
              <a:t>Aires acondicionados y sistemas de ventilación.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9898" y="4114800"/>
            <a:ext cx="3164830" cy="1905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DM Sans"/>
              </a:rPr>
              <a:t>Equipos de Oficina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898" y="4343400"/>
            <a:ext cx="316483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DM Sans"/>
              </a:rPr>
              <a:t>Computadores, impresoras y enrutadores.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4162" y="4114800"/>
            <a:ext cx="3165016" cy="19050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DM Sans"/>
              </a:rPr>
              <a:t>Refrigeración / Clínicos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4162" y="4343400"/>
            <a:ext cx="26272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DM Sans"/>
              </a:rPr>
              <a:t>Neveras para muestras, centrífugas y diagnósticos.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9425"/>
            <a:ext cx="2571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019425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3019425"/>
            <a:ext cx="2571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9950" y="3019425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019425"/>
            <a:ext cx="2571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3019425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10650" y="3019425"/>
            <a:ext cx="2571750" cy="16383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10650" y="3019425"/>
            <a:ext cx="38100" cy="16383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05. MEDICIÓN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Metodología para Establecer la Línea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248025"/>
            <a:ext cx="22098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3248025"/>
            <a:ext cx="22098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3248025"/>
            <a:ext cx="22098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0" y="3248025"/>
            <a:ext cx="2209800" cy="1181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284C7"/>
                </a:solidFill>
                <a:latin typeface="DM San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19500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Histórico 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914775"/>
            <a:ext cx="2171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Consolidar kWh facturados, días del periodo, lecturas estimadas vs. reales y valores cobrados.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650" y="3619500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Lecturas Directas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6650" y="3914775"/>
            <a:ext cx="2171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Tomar lecturas periódicas del medidor principal solo si es seguro y sin intervenir gabinetes.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619500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Unidad de Actividad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3914775"/>
            <a:ext cx="2171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Relacionar consumo con atenciones mensuales o días de operación (denominador único).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7350" y="3619500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Aprobación Formal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3914775"/>
            <a:ext cx="21717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Definir y aprobar la línea base una vez que los datos sean suficientes, trazables y fiables.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05100"/>
            <a:ext cx="53911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705100"/>
            <a:ext cx="53911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14775"/>
            <a:ext cx="53911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14775"/>
            <a:ext cx="5391150" cy="1019175"/>
          </a:xfrm>
          <a:prstGeom prst="roundRect">
            <a:avLst>
              <a:gd name="adj" fmla="val 9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33700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933700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143375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143375"/>
            <a:ext cx="1905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06. OPERATIVIDAD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Oportunidades de Ahorro Identificadas por 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05125"/>
            <a:ext cx="6450806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Sala de Espera y Recepción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181350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Aprovechar luz natural y apagar pantallas u ordenadores inactivos durante periodos de no atención.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2905125"/>
            <a:ext cx="5762625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Consultorios y Toma de Muestras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81350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Apagar luces/equipos al desocupar. </a:t>
            </a:r>
            <a:r>
              <a:rPr sz="1050" b="1" i="0" u="none">
                <a:solidFill>
                  <a:srgbClr val="475569"/>
                </a:solidFill>
                <a:latin typeface="DM Sans"/>
              </a:rPr>
              <a:t>Mantener siempre activa la refrigeración de muestras y reactivos.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14800"/>
            <a:ext cx="6450806" cy="219075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Sala de Juntas y Comedor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391025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Apagar iluminación y pequeños electrodomésticos auxiliares inmediatamente al retirarse del espacio.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4114800"/>
            <a:ext cx="5762625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Cuartos de Aseo y Residuos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4391025"/>
            <a:ext cx="5010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DM Sans"/>
              </a:rPr>
              <a:t>Luz encendida estrictamente durante la manipulación de residuos o limpieza por seguridad operativa.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3225"/>
            <a:ext cx="535305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943225"/>
            <a:ext cx="5353050" cy="179070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23850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3238500"/>
            <a:ext cx="2190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3714750"/>
            <a:ext cx="95250" cy="95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000500"/>
            <a:ext cx="95250" cy="95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86250"/>
            <a:ext cx="95250" cy="95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0" y="3714750"/>
            <a:ext cx="95250" cy="95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0" y="4000500"/>
            <a:ext cx="95250" cy="95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50" y="4286250"/>
            <a:ext cx="95250" cy="95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07. HÁBITOS EFICIENTES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Medidas de Uso Eficiente y Buenas Prácticas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209925"/>
            <a:ext cx="6325790" cy="247650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Desconexión y Apagado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3209925"/>
            <a:ext cx="5695950" cy="247650"/>
          </a:xfrm>
          <a:prstGeom prst="rect">
            <a:avLst/>
          </a:prstGeom>
          <a:noFill/>
        </p:spPr>
        <p:txBody>
          <a:bodyPr wrap="non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Climatización y Confort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609975"/>
            <a:ext cx="6024562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Apagado manual al finalizar la jornada laboral.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95725"/>
            <a:ext cx="6024562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Desconectar cargadores u ordenadores inactivos.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181475"/>
            <a:ext cx="6024562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Prohibido manipular tableros o redes para ahorrar.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6050" y="3609975"/>
            <a:ext cx="5695950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Mantener puertas y ventanas cerradas con aire activado.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6050" y="3895725"/>
            <a:ext cx="5695950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Seguir especificaciones térmicas de fabricantes.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4181475"/>
            <a:ext cx="5695950" cy="2857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334155"/>
                </a:solidFill>
                <a:latin typeface="DM Sans"/>
              </a:rPr>
              <a:t>Reemplazo de equipos solo tras análisis técnico-costo.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5137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05137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1941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32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3243262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315753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DM Sans"/>
              </a:rPr>
              <a:t>08. SEGURIDAD ELÉCTRICA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Procedimiento para Consumos Atípicos y Riesgos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62426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Space Grotesk"/>
              </a:rPr>
              <a:t>1. Detección y Reporte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9195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7F1D1D"/>
                </a:solidFill>
                <a:latin typeface="DM Sans"/>
              </a:rPr>
              <a:t>Comunicar inmediatamente a Calidad/SST ante lecturas atípicas, calentamientos, olor a quemado, chispas o humedad en cables.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624262"/>
            <a:ext cx="397549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pace Grotesk"/>
              </a:rPr>
              <a:t>2. Medidas Inmediatas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525" y="3919537"/>
            <a:ext cx="3124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A3412"/>
                </a:solidFill>
                <a:latin typeface="DM Sans"/>
              </a:rPr>
              <a:t>Restringir acceso a la zona. </a:t>
            </a:r>
            <a:r>
              <a:rPr sz="1050" b="1" i="0" u="none">
                <a:solidFill>
                  <a:srgbClr val="9A3412"/>
                </a:solidFill>
                <a:latin typeface="DM Sans"/>
              </a:rPr>
              <a:t>No tocar superficies ni cables energizados.</a:t>
            </a:r>
            <a:r>
              <a:rPr sz="1050" b="0" i="0" u="none">
                <a:solidFill>
                  <a:srgbClr val="9A3412"/>
                </a:solidFill>
                <a:latin typeface="DM Sans"/>
              </a:rPr>
              <a:t> Suspender uso solo si no hay riesgo de arco eléctrico.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5325" y="3538537"/>
            <a:ext cx="38766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Space Grotesk"/>
              </a:rPr>
              <a:t>3. Intervención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5325" y="3833812"/>
            <a:ext cx="3124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66534"/>
                </a:solidFill>
                <a:latin typeface="DM Sans"/>
              </a:rPr>
              <a:t>Se prohíben empalmes o reparaciones empíricas. Intervenciones ejecutadas exclusivamente por personal certificado competentemente.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9900"/>
            <a:ext cx="5343525" cy="1657350"/>
          </a:xfrm>
          <a:prstGeom prst="roundRect">
            <a:avLst>
              <a:gd name="adj" fmla="val 68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57925" y="2981325"/>
            <a:ext cx="5324475" cy="1714500"/>
          </a:xfrm>
          <a:prstGeom prst="roundRect">
            <a:avLst>
              <a:gd name="adj" fmla="val 666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76600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23850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09. CONTROL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Inspección e Indicadores de Gestión Energética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248025"/>
            <a:ext cx="6388298" cy="2476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Plan de Inspección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09975"/>
            <a:ext cx="49625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DM Sans"/>
              </a:rPr>
              <a:t>Revisión visual semestral:</a:t>
            </a:r>
            <a:r>
              <a:rPr sz="1125" b="0" i="0" u="none">
                <a:solidFill>
                  <a:srgbClr val="334155"/>
                </a:solidFill>
                <a:latin typeface="DM Sans"/>
              </a:rPr>
              <a:t> tomacorrientes, interruptores, tableros y cableado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05275"/>
            <a:ext cx="496252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DM Sans"/>
              </a:rPr>
              <a:t>*La revisión visual interna no sustituye certificaciones ni dictámenes técnicos oficiales exigibles por normativa.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209925"/>
            <a:ext cx="5705475" cy="24765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Space Grotesk"/>
              </a:rPr>
              <a:t>Indicadores de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609975"/>
            <a:ext cx="5705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DM Sans"/>
              </a:rPr>
              <a:t>Consumo Total de Energía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00475"/>
            <a:ext cx="57054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DM Sans"/>
              </a:rPr>
              <a:t>Fórmula:</a:t>
            </a:r>
            <a:r>
              <a:rPr sz="975" b="0" i="0" u="none">
                <a:solidFill>
                  <a:srgbClr val="94A3B8"/>
                </a:solidFill>
                <a:latin typeface="DM Sans"/>
              </a:rPr>
              <a:t> kWh facturados en el periodo | </a:t>
            </a:r>
            <a:r>
              <a:rPr sz="975" b="1" i="0" u="none">
                <a:solidFill>
                  <a:srgbClr val="94A3B8"/>
                </a:solidFill>
                <a:latin typeface="DM Sans"/>
              </a:rPr>
              <a:t>Fuente:</a:t>
            </a:r>
            <a:r>
              <a:rPr sz="975" b="0" i="0" u="none">
                <a:solidFill>
                  <a:srgbClr val="94A3B8"/>
                </a:solidFill>
                <a:latin typeface="DM Sans"/>
              </a:rPr>
              <a:t> Factura pública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114800"/>
            <a:ext cx="57054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DM Sans"/>
              </a:rPr>
              <a:t>Atención de Reportes de Fallas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305300"/>
            <a:ext cx="57054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DM Sans"/>
              </a:rPr>
              <a:t>Fórmula:</a:t>
            </a:r>
            <a:r>
              <a:rPr sz="975" b="0" i="0" u="none">
                <a:solidFill>
                  <a:srgbClr val="94A3B8"/>
                </a:solidFill>
                <a:latin typeface="DM Sans"/>
              </a:rPr>
              <a:t> (Reportes atendidos / Reportes recibidos) × 100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539115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862262"/>
            <a:ext cx="5391150" cy="942975"/>
          </a:xfrm>
          <a:prstGeom prst="roundRect">
            <a:avLst>
              <a:gd name="adj" fmla="val 1010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95737"/>
            <a:ext cx="539115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95737"/>
            <a:ext cx="5391150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862262"/>
            <a:ext cx="38100" cy="942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91250" y="2862262"/>
            <a:ext cx="38100" cy="942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995737"/>
            <a:ext cx="38100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0" y="3995737"/>
            <a:ext cx="38100" cy="7810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10. CUMPLIMIENTO LEGAL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Marco Normativo Vigente en Colombia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052762"/>
            <a:ext cx="65258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Ley 697 de 2001 &amp; D. 1073 de 2015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290887"/>
            <a:ext cx="6215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DM Sans"/>
              </a:rPr>
              <a:t>Uso racional y eficiente de la energía (PROURE) en el sector institucional.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052762"/>
            <a:ext cx="5772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RETIE Vigente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290887"/>
            <a:ext cx="50673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DM Sans"/>
              </a:rPr>
              <a:t>Reglamento Técnico de Instalaciones Eléctricas (Seguridad de personas e instalaciones).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186237"/>
            <a:ext cx="65258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RETILAP Vigente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424362"/>
            <a:ext cx="6215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DM Sans"/>
              </a:rPr>
              <a:t>Reglamento Técnico de Iluminación y Alumbrado Público en aspectos aplicables.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4186237"/>
            <a:ext cx="5772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Decreto 1072 de 2015 &amp; Ley 9/1979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424362"/>
            <a:ext cx="5772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DM Sans"/>
              </a:rPr>
              <a:t>SG-SST: Prevención y gestión de riesgos laborales y seguridad en instalaciones.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5825" y="4270027"/>
            <a:ext cx="280035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695825" y="4270027"/>
            <a:ext cx="28003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4027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092672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6603" y="2778472"/>
            <a:ext cx="10338792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FFFFF"/>
                </a:solidFill>
                <a:latin typeface="Space Grotesk"/>
              </a:rPr>
              <a:t>¡Uso Eficiente y Responsable de la Energía!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416647"/>
            <a:ext cx="8096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DM Sans"/>
              </a:rPr>
              <a:t>El compromiso de todo el equipo de SANITHELP garantiza un entorno seguro, eficiente y sostenible.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4171" y="4508152"/>
            <a:ext cx="2583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DM Sans"/>
              </a:rPr>
              <a:t>María Luisa Castro Sánchez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5781" y="4746277"/>
            <a:ext cx="350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DM Sans"/>
              </a:rPr>
              <a:t>Ingeniera de Calidad y Ambiente | SANITHELP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901</Words>
  <Application>Microsoft Office PowerPoint</Application>
  <PresentationFormat>Panorámica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DM Sans</vt:lpstr>
      <vt:lpstr>Arial</vt:lpstr>
      <vt:lpstr>Space Grotesk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María Luisa Castro Sánchez</dc:creator>
  <cp:keywords/>
  <dc:description>generated using python-pptx</dc:description>
  <cp:lastModifiedBy>María Luisa Castro Sánchez</cp:lastModifiedBy>
  <cp:revision>2</cp:revision>
  <dcterms:created xsi:type="dcterms:W3CDTF">2013-01-27T09:14:16Z</dcterms:created>
  <dcterms:modified xsi:type="dcterms:W3CDTF">2026-10-26T20:22:01Z</dcterms:modified>
  <cp:category/>
</cp:coreProperties>
</file>