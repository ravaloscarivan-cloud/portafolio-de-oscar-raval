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">
    <p:bg>
      <p:bgPr>
        <a:solidFill>
          <a:srgbClr val="F7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07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Cultura ética y responsable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056132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07A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508760" cy="69494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64592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3A63"/>
                </a:solidFill>
              </a:rPr>
              <a:t>CÓDIGO DE ÉTICA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694944" y="2404872"/>
            <a:ext cx="6675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55C96"/>
                </a:solidFill>
              </a:rPr>
              <a:t>Principios que orientan nuestras decisiones y relaciones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13232" y="3246120"/>
            <a:ext cx="6720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43746"/>
                </a:solidFill>
              </a:rPr>
              <a:t>Objetivo: fortalecer una cultura basada en el respeto, la integridad, la confidencialidad, la responsabilidad y la actuación transparente en todas las actividades de SanitHelp.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7818120" y="1188720"/>
            <a:ext cx="361188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EE"/>
            </a:solidFill>
            <a:prstDash val="solid"/>
          </a:ln>
          <a:effectLst>
            <a:outerShdw sx="100000" sy="100000" kx="0" ky="0" algn="bl" rotWithShape="0" blurRad="17780" dist="6350" dir="2700000">
              <a:srgbClr val="000000">
                <a:alpha val="1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732520" y="1783080"/>
            <a:ext cx="1783080" cy="1481328"/>
          </a:xfrm>
          <a:prstGeom prst="heart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308592" y="2167128"/>
            <a:ext cx="566928" cy="566928"/>
          </a:xfrm>
          <a:prstGeom prst="plus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12480" y="3566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3A63"/>
                </a:solidFill>
              </a:rPr>
              <a:t>5 principios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339328" y="3977640"/>
            <a:ext cx="265176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243746"/>
                </a:solidFill>
              </a:rPr>
              <a:t>Integridad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43746"/>
                </a:solidFill>
              </a:rPr>
              <a:t>Respeto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43746"/>
                </a:solidFill>
              </a:rPr>
              <a:t>Confidencialidad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43746"/>
                </a:solidFill>
              </a:rPr>
              <a:t>Responsabilidad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dirty="0">
                <a:solidFill>
                  <a:srgbClr val="243746"/>
                </a:solidFill>
              </a:rPr>
              <a:t>Transparencia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1. CÓMO ACTUAMOS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Principios del Código de Ética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3429000" cy="4160520"/>
          </a:xfrm>
          <a:prstGeom prst="roundRect">
            <a:avLst/>
          </a:prstGeom>
          <a:solidFill>
            <a:srgbClr val="EAF7FA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96112" y="1691640"/>
            <a:ext cx="393192" cy="393192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408176" y="1645920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Integridad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203704"/>
            <a:ext cx="2880360" cy="3172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Actuar con honestidad y coherencia.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Cumplir los compromisos asumidos.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No ocultar información relevante.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Evitar conductas que afecten la confianza.</a:t>
            </a:r>
            <a:endParaRPr lang="en-US" sz="1340" dirty="0"/>
          </a:p>
        </p:txBody>
      </p:sp>
      <p:sp>
        <p:nvSpPr>
          <p:cNvPr id="9" name="Shape 6"/>
          <p:cNvSpPr/>
          <p:nvPr/>
        </p:nvSpPr>
        <p:spPr>
          <a:xfrm>
            <a:off x="4370832" y="1417320"/>
            <a:ext cx="3429000" cy="4160520"/>
          </a:xfrm>
          <a:prstGeom prst="roundRect">
            <a:avLst/>
          </a:prstGeom>
          <a:solidFill>
            <a:srgbClr val="EDF3FA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6864" y="1691640"/>
            <a:ext cx="393192" cy="393192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38928" y="1645920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Respeto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645152" y="2203704"/>
            <a:ext cx="2880360" cy="3172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Tratar a todas las personas con dignidad.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Escuchar diferencias sin discriminación.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Mantener un lenguaje profesional.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Cuidar el ambiente laboral y la convivencia.</a:t>
            </a:r>
            <a:endParaRPr lang="en-US" sz="1340" dirty="0"/>
          </a:p>
        </p:txBody>
      </p:sp>
      <p:sp>
        <p:nvSpPr>
          <p:cNvPr id="13" name="Shape 10"/>
          <p:cNvSpPr/>
          <p:nvPr/>
        </p:nvSpPr>
        <p:spPr>
          <a:xfrm>
            <a:off x="8101584" y="1417320"/>
            <a:ext cx="3429000" cy="4160520"/>
          </a:xfrm>
          <a:prstGeom prst="roundRect">
            <a:avLst/>
          </a:prstGeom>
          <a:solidFill>
            <a:srgbClr val="F4FAF6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5240" dist="508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357616" y="1691640"/>
            <a:ext cx="393192" cy="393192"/>
          </a:xfrm>
          <a:prstGeom prst="ellipse">
            <a:avLst/>
          </a:prstGeom>
          <a:solidFill>
            <a:srgbClr val="5BAF8A"/>
          </a:solidFill>
          <a:ln w="12700">
            <a:solidFill>
              <a:srgbClr val="5BAF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69680" y="1645920"/>
            <a:ext cx="2404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3A63"/>
                </a:solidFill>
              </a:rPr>
              <a:t>Responsabilidad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375904" y="2203704"/>
            <a:ext cx="2880360" cy="31729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Cumplir funciones y procedimientos.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Proteger los recursos de la organización.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Reconocer errores y reportarlos.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243746"/>
                </a:solidFill>
              </a:rPr>
              <a:t>Tomar decisiones pensando en el bienestar y la seguridad.</a:t>
            </a:r>
            <a:endParaRPr lang="en-US" sz="1340" dirty="0"/>
          </a:p>
        </p:txBody>
      </p:sp>
      <p:sp>
        <p:nvSpPr>
          <p:cNvPr id="17" name="Text 14"/>
          <p:cNvSpPr/>
          <p:nvPr/>
        </p:nvSpPr>
        <p:spPr>
          <a:xfrm>
            <a:off x="1051560" y="5852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La ética se demuestra en las decisiones cotidianas, especialmente cuando nadie está observando.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2. SITUACIONES DEL DÍA A DÍA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Conductas éticas esperadas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822960" y="1508760"/>
            <a:ext cx="530352" cy="530352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78408" y="1609344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72768" y="14996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Confidencialidad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566160" y="1472184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43746"/>
                </a:solidFill>
              </a:rPr>
              <a:t>Proteger información de pacientes, colaboradores y de la organización; compartirla solo por canales autorizados.</a:t>
            </a:r>
            <a:endParaRPr lang="en-US" sz="1410" dirty="0"/>
          </a:p>
        </p:txBody>
      </p:sp>
      <p:sp>
        <p:nvSpPr>
          <p:cNvPr id="9" name="Shape 6"/>
          <p:cNvSpPr/>
          <p:nvPr/>
        </p:nvSpPr>
        <p:spPr>
          <a:xfrm>
            <a:off x="822960" y="2587752"/>
            <a:ext cx="530352" cy="530352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2688336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572768" y="25786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Conflictos de interés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66160" y="2551176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43746"/>
                </a:solidFill>
              </a:rPr>
              <a:t>Informar oportunamente cualquier situación personal o comercial que pueda afectar la objetividad de una decisión.</a:t>
            </a:r>
            <a:endParaRPr lang="en-US" sz="1410" dirty="0"/>
          </a:p>
        </p:txBody>
      </p:sp>
      <p:sp>
        <p:nvSpPr>
          <p:cNvPr id="13" name="Shape 10"/>
          <p:cNvSpPr/>
          <p:nvPr/>
        </p:nvSpPr>
        <p:spPr>
          <a:xfrm>
            <a:off x="822960" y="3666744"/>
            <a:ext cx="530352" cy="530352"/>
          </a:xfrm>
          <a:prstGeom prst="ellipse">
            <a:avLst/>
          </a:prstGeom>
          <a:solidFill>
            <a:srgbClr val="56B7C7"/>
          </a:solidFill>
          <a:ln w="12700">
            <a:solidFill>
              <a:srgbClr val="56B7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78408" y="3767328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572768" y="3657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Uso de recursos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566160" y="363016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43746"/>
                </a:solidFill>
              </a:rPr>
              <a:t>Utilizar equipos, información, tiempo y bienes institucionales de manera responsable y para fines autorizados.</a:t>
            </a:r>
            <a:endParaRPr lang="en-US" sz="1410" dirty="0"/>
          </a:p>
        </p:txBody>
      </p:sp>
      <p:sp>
        <p:nvSpPr>
          <p:cNvPr id="17" name="Shape 14"/>
          <p:cNvSpPr/>
          <p:nvPr/>
        </p:nvSpPr>
        <p:spPr>
          <a:xfrm>
            <a:off x="822960" y="4745736"/>
            <a:ext cx="530352" cy="530352"/>
          </a:xfrm>
          <a:prstGeom prst="ellipse">
            <a:avLst/>
          </a:prstGeom>
          <a:solidFill>
            <a:srgbClr val="355C96"/>
          </a:solidFill>
          <a:ln w="12700">
            <a:solidFill>
              <a:srgbClr val="355C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78408" y="4846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1572768" y="47365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A63"/>
                </a:solidFill>
              </a:rPr>
              <a:t>Reporte responsable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566160" y="47091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10" dirty="0">
                <a:solidFill>
                  <a:srgbClr val="243746"/>
                </a:solidFill>
              </a:rPr>
              <a:t>Comunicar de buena fe conductas, riesgos o situaciones contrarias a los principios institucionales por los canales definidos.</a:t>
            </a:r>
            <a:endParaRPr lang="en-US" sz="1410" dirty="0"/>
          </a:p>
        </p:txBody>
      </p:sp>
      <p:sp>
        <p:nvSpPr>
          <p:cNvPr id="21" name="Shape 18"/>
          <p:cNvSpPr/>
          <p:nvPr/>
        </p:nvSpPr>
        <p:spPr>
          <a:xfrm>
            <a:off x="7726680" y="5715000"/>
            <a:ext cx="3566160" cy="502920"/>
          </a:xfrm>
          <a:prstGeom prst="roundRect">
            <a:avLst/>
          </a:prstGeom>
          <a:solidFill>
            <a:srgbClr val="FFF5E6"/>
          </a:solidFill>
          <a:ln w="12700">
            <a:solidFill>
              <a:srgbClr val="F5D6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09560" y="587044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B14"/>
                </a:solidFill>
              </a:rPr>
              <a:t>Ante la duda: consulta antes de actuar.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1234440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65960" y="36576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56B7C7"/>
                </a:solidFill>
              </a:rPr>
              <a:t>3. DECIDIR CORRECTAMENTE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1965960" y="61264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3A63"/>
                </a:solidFill>
              </a:rPr>
              <a:t>Cierre: mi compromiso ético</a:t>
            </a:r>
            <a:endParaRPr lang="en-US" sz="2500" dirty="0"/>
          </a:p>
        </p:txBody>
      </p:sp>
      <p:sp>
        <p:nvSpPr>
          <p:cNvPr id="5" name="Shape 2"/>
          <p:cNvSpPr/>
          <p:nvPr/>
        </p:nvSpPr>
        <p:spPr>
          <a:xfrm>
            <a:off x="731520" y="1417320"/>
            <a:ext cx="67208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5EC"/>
            </a:solidFill>
            <a:prstDash val="solid"/>
          </a:ln>
          <a:effectLst>
            <a:outerShdw sx="100000" sy="100000" kx="0" ky="0" algn="bl" rotWithShape="0" blurRad="13970" dist="381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051560" y="1783080"/>
            <a:ext cx="5897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3A63"/>
                </a:solidFill>
              </a:rPr>
              <a:t>Antes de tomar una decisión, pregúntate: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51560" y="246888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5568" y="25237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43230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¿Es legal y cumple las políticas internas?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301752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15568" y="307238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54480" y="298094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¿Respeta la dignidad y los derechos de las personas?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051560" y="356616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36210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1554480" y="352958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¿Protege la información y los recursos de SanitHelp?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1051560" y="411480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15568" y="416966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554480" y="407822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¿Podría explicar esta decisión con transparencia?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1051560" y="4663440"/>
            <a:ext cx="347472" cy="347472"/>
          </a:xfrm>
          <a:prstGeom prst="roundRect">
            <a:avLst/>
          </a:prstGeom>
          <a:solidFill>
            <a:srgbClr val="EAF7FA"/>
          </a:solidFill>
          <a:ln w="19050">
            <a:solidFill>
              <a:srgbClr val="56B7C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471830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6B7C7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54480" y="46268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43746"/>
                </a:solidFill>
              </a:rPr>
              <a:t>¿Contribuye a la confianza y reputación de la organización?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7863840" y="1645920"/>
            <a:ext cx="3429000" cy="3520440"/>
          </a:xfrm>
          <a:prstGeom prst="roundRect">
            <a:avLst/>
          </a:prstGeom>
          <a:solidFill>
            <a:srgbClr val="163A63"/>
          </a:solidFill>
          <a:ln w="12700">
            <a:solidFill>
              <a:srgbClr val="163A6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75320" y="20116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COMPROMISO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8257032" y="2624328"/>
            <a:ext cx="265176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540" dirty="0">
                <a:solidFill>
                  <a:srgbClr val="FFFFFF"/>
                </a:solidFill>
              </a:rPr>
              <a:t>Actuar con integridad, respeto y responsabilidad; proteger la información institucional; evitar conflictos de interés y reportar de buena fe cualquier situación que contravenga los principios éticos de SanitHelp.</a:t>
            </a:r>
            <a:endParaRPr lang="en-US" sz="1540" dirty="0"/>
          </a:p>
        </p:txBody>
      </p:sp>
      <p:sp>
        <p:nvSpPr>
          <p:cNvPr id="25" name="Text 22"/>
          <p:cNvSpPr/>
          <p:nvPr/>
        </p:nvSpPr>
        <p:spPr>
          <a:xfrm>
            <a:off x="8092440" y="46360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7F0F4"/>
                </a:solidFill>
              </a:rPr>
              <a:t>La confianza se construye con cada decisión.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07A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Código de Ética - SanitHelp</dc:title>
  <dc:subject>Código de Ética</dc:subject>
  <dc:creator>OpenAI</dc:creator>
  <cp:lastModifiedBy>OpenAI</cp:lastModifiedBy>
  <cp:revision>1</cp:revision>
  <dcterms:created xsi:type="dcterms:W3CDTF">2026-10-27T16:28:01Z</dcterms:created>
  <dcterms:modified xsi:type="dcterms:W3CDTF">2026-10-27T16:28:01Z</dcterms:modified>
</cp:coreProperties>
</file>