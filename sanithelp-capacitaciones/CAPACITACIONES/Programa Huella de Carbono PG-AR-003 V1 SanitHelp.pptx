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267176"/>
            <a:ext cx="10972800" cy="981075"/>
          </a:xfrm>
          <a:prstGeom prst="rect">
            <a:avLst/>
          </a:prstGeom>
          <a:solidFill>
            <a:srgbClr val="05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2095500" cy="352425"/>
          </a:xfrm>
          <a:prstGeom prst="roundRect">
            <a:avLst>
              <a:gd name="adj" fmla="val 16216"/>
            </a:avLst>
          </a:prstGeom>
          <a:solidFill>
            <a:srgbClr val="1F6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267176"/>
            <a:ext cx="38100" cy="98107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2367855"/>
            <a:ext cx="8191500" cy="150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Plus Jakarta Sans"/>
              </a:rPr>
              <a:t>Proceso: Ambiente y Recursos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39305"/>
            <a:ext cx="10626328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Programa Huella de Carbono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99370"/>
            <a:ext cx="8191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7F3D0"/>
                </a:solidFill>
                <a:latin typeface="Plus Jakarta Sans"/>
              </a:rPr>
              <a:t>Socialización institucional del marco metodológico, límites operacionales y plan de cuantificación GEI.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685800"/>
            <a:ext cx="1845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SANITHELP S.A.S.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6837" y="609600"/>
            <a:ext cx="2595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 i="0" u="none" dirty="0">
                <a:solidFill>
                  <a:srgbClr val="6EE7B7"/>
                </a:solidFill>
                <a:latin typeface="Space Grotesk"/>
              </a:rPr>
              <a:t>CÓDIGO: PG-AR-003 | VERSIÓN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457676"/>
            <a:ext cx="2797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EE7B7"/>
                </a:solidFill>
                <a:latin typeface="Plus Jakarta Sans"/>
              </a:rPr>
              <a:t>PONENTE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5648176"/>
            <a:ext cx="2797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María Luisa Castro Sánchez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886301"/>
            <a:ext cx="2797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7F3D0"/>
                </a:solidFill>
                <a:latin typeface="Plus Jakarta Sans"/>
              </a:rPr>
              <a:t>Ingeniera de Calidad y Ambiente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34075" y="2538412"/>
            <a:ext cx="5648325" cy="2638425"/>
          </a:xfrm>
          <a:prstGeom prst="roundRect">
            <a:avLst>
              <a:gd name="adj" fmla="val 577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95500"/>
            <a:ext cx="50196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81375"/>
            <a:ext cx="5019675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610100"/>
            <a:ext cx="5019675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852737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871912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148137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424362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700587"/>
            <a:ext cx="12382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Identificación Institucional y Sede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271837"/>
            <a:ext cx="5114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47857"/>
                </a:solidFill>
                <a:latin typeface="Plus Jakarta Sans"/>
              </a:rPr>
              <a:t>El levantamiento abarca áreas clave con requerimientos energéticos y de gestión ambiental específicos: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295525"/>
            <a:ext cx="5774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ENTIDAD ORGANIZACIONAL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505075"/>
            <a:ext cx="606325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SANITHELP S.A.S.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809875"/>
            <a:ext cx="5774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NIT: 900978120-8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581400"/>
            <a:ext cx="5774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SEDE OBJETO DE EVALUACIÓN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790950"/>
            <a:ext cx="577453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Carrera 53 No. 59-77, Local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038600"/>
            <a:ext cx="5774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Barranquilla, Atlántico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810125"/>
            <a:ext cx="5774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SERVICIOS HABILITADOS EVALUADOS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5019675"/>
            <a:ext cx="4714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Medicina general, medicina del trabajo y laboral, consulta externa y toma de muestras clínicas.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2867025"/>
            <a:ext cx="272534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5F46"/>
                </a:solidFill>
                <a:latin typeface="Plus Jakarta Sans"/>
              </a:rPr>
              <a:t>Infraestructura Interna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3852862"/>
            <a:ext cx="5724525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Recepción y Sala de Espera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4129087"/>
            <a:ext cx="5724525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Dos Consultorios (incluye Examen Físico)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4405312"/>
            <a:ext cx="5724525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Toma de Muestras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7475" y="4681537"/>
            <a:ext cx="5724525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Cuarto de Residuos Peligrosos y Ordinarios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12814"/>
            <a:ext cx="5334000" cy="2689621"/>
          </a:xfrm>
          <a:prstGeom prst="roundRect">
            <a:avLst>
              <a:gd name="adj" fmla="val 5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12814"/>
            <a:ext cx="5334000" cy="2689621"/>
          </a:xfrm>
          <a:prstGeom prst="roundRect">
            <a:avLst>
              <a:gd name="adj" fmla="val 5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855714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2855714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970014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312" y="2970014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SECCIONES 2 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Propósito y Cobertura del Programa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465314"/>
            <a:ext cx="61007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Objetivo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884414"/>
            <a:ext cx="47434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Establecer la metodología y responsabilidades para definir los límites organizacionales y operacionales de SANITHELP, identificando fuentes de emisión de GEI, recopilando datos de actividad y planificando acciones de reducción verificables.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465314"/>
            <a:ext cx="5600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Alcance 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884414"/>
            <a:ext cx="47434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Cubre las operaciones bajo enfoque de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Control Operacional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en la sede de Barranquilla. Incluye medición anual de Alcances 1, 2 y categorías relevantes de Alcance 3 sujetas a materialidad y disponibilidad de información.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86237"/>
            <a:ext cx="10972800" cy="742950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747962"/>
            <a:ext cx="3530649" cy="1209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30749" y="2747962"/>
            <a:ext cx="3530649" cy="1209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1899" y="2747962"/>
            <a:ext cx="3530649" cy="1209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747962"/>
            <a:ext cx="38100" cy="12096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30749" y="2747962"/>
            <a:ext cx="38100" cy="12096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51899" y="2747962"/>
            <a:ext cx="38100" cy="12096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43550" y="4414837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86550" y="4414837"/>
            <a:ext cx="942975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81925" y="4414837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58275" y="4414837"/>
            <a:ext cx="1171575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382250" y="4414837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4 Y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Principios y Clave Conceptualmente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57700"/>
            <a:ext cx="3607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Plus Jakarta Sans"/>
              </a:rPr>
              <a:t>5 Principios Obligatorios del Inventario: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938462"/>
            <a:ext cx="408390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Dato de Actividad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214687"/>
            <a:ext cx="320679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Cuantificación de la actividad emisora (ej. kWh consumidos, Litros de combustible, Kg de residuos).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349" y="2938462"/>
            <a:ext cx="408390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Factor de Emisión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349" y="3214687"/>
            <a:ext cx="320679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Coeficiente documentado que convierte el dato de actividad en emisiones de GEI equivalentes.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99" y="2938462"/>
            <a:ext cx="3911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Unidad CO₂e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499" y="3224212"/>
            <a:ext cx="320679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Métrica estandarizada para expresar el impacto de diferentes GEI según su potencial de calentamiento.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6900" y="4471987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Plus Jakarta Sans"/>
              </a:rPr>
              <a:t>Relevancia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4471987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Plus Jakarta Sans"/>
              </a:rPr>
              <a:t>Integridad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5275" y="4471987"/>
            <a:ext cx="952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Plus Jakarta Sans"/>
              </a:rPr>
              <a:t>Consistencia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1625" y="4471987"/>
            <a:ext cx="1000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Plus Jakarta Sans"/>
              </a:rPr>
              <a:t>Transparencia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471987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Plus Jakarta Sans"/>
              </a:rPr>
              <a:t>Exactitud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733675"/>
          <a:ext cx="10972798" cy="2247900"/>
        </p:xfrm>
        <a:graphic>
          <a:graphicData uri="http://schemas.openxmlformats.org/drawingml/2006/table">
            <a:tbl>
              <a:tblPr/>
              <a:tblGrid>
                <a:gridCol w="329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Referencia Estándar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Uso en SanitHelp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Aplicabilidad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ISO 14064-1:2018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Estructura organizativa, cuantificación y reporte de emisiones.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Estándar Guía Voluntario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GHG Protocol Corporate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Clasificación por alcances y guía para Scope 2 (Energía).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Marco Corporativo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Res. UPME 000085 de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Factor oficial de emisión del Sistema Interconectado Nacional (SIN).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Oficial Colombia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Leyes 1931/18 y 2169/21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Marco legal colombiano sobre gestión de cambio climático y metas.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Referencia Contextual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Marco Metodológico y Normativo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14450"/>
            <a:ext cx="3505200" cy="50863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314450"/>
            <a:ext cx="3505200" cy="50863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314450"/>
            <a:ext cx="3505200" cy="50863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314450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13144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1314450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6300" y="1628775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10100" y="1628775"/>
            <a:ext cx="11620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43900" y="1628775"/>
            <a:ext cx="1085850" cy="219075"/>
          </a:xfrm>
          <a:prstGeom prst="roundRect">
            <a:avLst>
              <a:gd name="adj" fmla="val 17391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719762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5986462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5719762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5986462"/>
            <a:ext cx="1047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5453062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5719762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986462"/>
            <a:ext cx="1714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Clasificación de Fuentes por Alcance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16668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Plus Jakarta Sans"/>
              </a:rPr>
              <a:t>Directas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1933575"/>
            <a:ext cx="39004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Alcance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2276475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Fuentes bajo control operacional directo.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5695950"/>
            <a:ext cx="3714750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Combustión en generadores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5962650"/>
            <a:ext cx="3714750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Fugas de refrigerantes (climatización)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350" y="1666875"/>
            <a:ext cx="1066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75985"/>
                </a:solidFill>
                <a:latin typeface="Plus Jakarta Sans"/>
              </a:rPr>
              <a:t>Indirectas Energía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100" y="1933575"/>
            <a:ext cx="39004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Alcance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0100" y="2276475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Energía adquirida y consumida en sede.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0100" y="5695950"/>
            <a:ext cx="3714750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Consumo eléctrico mensual (kWh)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0100" y="5962650"/>
            <a:ext cx="3714750" cy="17145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Medición por facturación oficial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150" y="1666875"/>
            <a:ext cx="990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Plus Jakarta Sans"/>
              </a:rPr>
              <a:t>Cadena de Valor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1933575"/>
            <a:ext cx="3848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Alcance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900" y="2276475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Otras emisiones indirectas relevantes.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3900" y="5429250"/>
            <a:ext cx="3714750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Residuos ordinarios y biológicos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3900" y="5695950"/>
            <a:ext cx="3714750" cy="17145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Consumo de agua y vertimientos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3900" y="5962650"/>
            <a:ext cx="3714750" cy="17145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Transporte e insumos clínicos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48012"/>
            <a:ext cx="207258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4580" y="3071812"/>
            <a:ext cx="207258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9560" y="3148012"/>
            <a:ext cx="207258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4541" y="3062287"/>
            <a:ext cx="207258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521" y="3071812"/>
            <a:ext cx="207258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74440" y="33480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99420" y="32718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24401" y="33480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49381" y="32623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374362" y="32718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Fases del Procedimiento de Cuantificación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1565" y="33480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292" y="3805237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Definición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558" y="4062412"/>
            <a:ext cx="209066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Aprobar límites, año base y responsables de área.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545" y="32718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3272" y="3729037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Recopilación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539" y="3986212"/>
            <a:ext cx="20906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Recolectar facturas, manifiestos y bitácoras de gas.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1526" y="33480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8253" y="3805237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Selección 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0519" y="4062412"/>
            <a:ext cx="209066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Asignar factores de emisión oficiales vigentes.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6506" y="32623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233" y="3719512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Cálculo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5500" y="3976687"/>
            <a:ext cx="2090663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Multiplicar dato de actividad por factor y consolidar CO₂e.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1487" y="32718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213" y="3729037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Informe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480" y="3986212"/>
            <a:ext cx="20906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Revisión técnica, aprobación y definición de reducciones.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3200"/>
            <a:ext cx="637788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24225"/>
            <a:ext cx="637788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05250"/>
            <a:ext cx="637788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486275"/>
            <a:ext cx="637788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380" y="2409825"/>
            <a:ext cx="4252019" cy="285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SECCIONES 9 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Calidad de Datos y Evidencias Requeridas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876550"/>
            <a:ext cx="1133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Electricidad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5730" y="2876550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Facturas mensuales / Medidor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457575"/>
            <a:ext cx="12477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Refrigerantes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2330" y="3457575"/>
            <a:ext cx="366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Fichas y registros de recarga/recuperación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4038600"/>
            <a:ext cx="2024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Residuos Hospitalarios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6630" y="4038600"/>
            <a:ext cx="3524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Manifiestos y certificados de tratamiento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4619625"/>
            <a:ext cx="1750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Agua / Vertimientos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030" y="4619625"/>
            <a:ext cx="2857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Facturación de servicios públicos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7975"/>
            <a:ext cx="3505200" cy="2019300"/>
          </a:xfrm>
          <a:prstGeom prst="roundRect">
            <a:avLst>
              <a:gd name="adj" fmla="val 75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47975"/>
            <a:ext cx="3505200" cy="2019300"/>
          </a:xfrm>
          <a:prstGeom prst="roundRect">
            <a:avLst>
              <a:gd name="adj" fmla="val 75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62262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3152775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31527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3167062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Indicadores de Gestión de Huella de Carbono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" y="3571875"/>
            <a:ext cx="3800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Emisiones Totales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3867150"/>
            <a:ext cx="3619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59669"/>
                </a:solidFill>
                <a:latin typeface="Plus Jakarta Sans"/>
              </a:rPr>
              <a:t>tCO₂e / 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257675"/>
            <a:ext cx="3619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Suma consolidada de fuentes incluidas en los alcances.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5762" y="3571875"/>
            <a:ext cx="3800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Intensidad por Atención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3867150"/>
            <a:ext cx="3619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Plus Jakarta Sans"/>
              </a:rPr>
              <a:t>kgCO₂e /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6250" y="4257675"/>
            <a:ext cx="3619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Emisiones divididas por total de servicios prestados.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9562" y="3586162"/>
            <a:ext cx="3800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Cobertura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0050" y="3881437"/>
            <a:ext cx="3619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7C3AED"/>
                </a:solidFill>
                <a:latin typeface="Plus Jakarta Sans"/>
              </a:rPr>
              <a:t>% Fuentes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0050" y="4243387"/>
            <a:ext cx="3619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Porcentaje de fuentes materiales con respaldo documental.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881437"/>
            <a:ext cx="10972800" cy="11620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95562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595562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881437"/>
            <a:ext cx="57150" cy="11620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1481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62262"/>
            <a:ext cx="1333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862262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Plan de Reducción y Restricciones Sanitarias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110037"/>
            <a:ext cx="11220450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2410C"/>
                </a:solidFill>
                <a:latin typeface="Plus Jakarta Sans"/>
              </a:rPr>
              <a:t>Restricción Sanitaria Obligatoria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4386262"/>
            <a:ext cx="10401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A3412"/>
                </a:solidFill>
                <a:latin typeface="Plus Jakarta Sans"/>
              </a:rPr>
              <a:t>Las medidas de reducción </a:t>
            </a:r>
            <a:r>
              <a:rPr sz="1125" b="1" i="0" u="none">
                <a:solidFill>
                  <a:srgbClr val="9A3412"/>
                </a:solidFill>
                <a:latin typeface="Plus Jakarta Sans"/>
              </a:rPr>
              <a:t>NO autorizan</a:t>
            </a:r>
            <a:r>
              <a:rPr sz="1125" b="0" i="0" u="none">
                <a:solidFill>
                  <a:srgbClr val="9A3412"/>
                </a:solidFill>
                <a:latin typeface="Plus Jakarta Sans"/>
              </a:rPr>
              <a:t> apagar o desconectar equipos médicos, de laboratorio o refrigeración de muestras, ni alterar las condiciones climáticas o sanitarias necesarias para la seguridad del paciente.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824162"/>
            <a:ext cx="6450806" cy="2190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Eficiencia Energética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119437"/>
            <a:ext cx="5010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Optimizar iluminación y equipos de climatización sin alterar condiciones de atención.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824162"/>
            <a:ext cx="5753100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Gestión de Residuos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119437"/>
            <a:ext cx="5010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Mejorar segregación en fuente y verificar soportes de tratamiento final de terceros.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705100"/>
          <a:ext cx="10972799" cy="2266950"/>
        </p:xfrm>
        <a:graphic>
          <a:graphicData uri="http://schemas.openxmlformats.org/drawingml/2006/table">
            <a:tbl>
              <a:tblPr/>
              <a:tblGrid>
                <a:gridCol w="329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1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Rol / Cargo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Responsabilidad en el Programa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Representante Legal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Aprobar límites, asignación de recursos, año base y reporte institucional.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Ing. Calidad y Ambiente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Coordinar recopilación de datos, cálculo de emisiones, reportes y plan de reducción.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Compras y Administración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Gestionar facturación energética, manifiestos de residuos y datos de proveedores.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Mantenimiento y Personal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Registrar recargas de refrigerantes y participar activamente en prácticas sostenibles.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Space Grotesk"/>
              </a:rPr>
              <a:t>SECCIÓN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Responsabilidades Institucionales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000500" y="3995737"/>
            <a:ext cx="4191000" cy="914400"/>
          </a:xfrm>
          <a:prstGeom prst="roundRect">
            <a:avLst>
              <a:gd name="adj" fmla="val 12500"/>
            </a:avLst>
          </a:prstGeom>
          <a:solidFill>
            <a:srgbClr val="1F604F"/>
          </a:solidFill>
          <a:ln w="9525">
            <a:solidFill>
              <a:srgbClr val="387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1500" y="1947862"/>
            <a:ext cx="3429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4D399"/>
                </a:solidFill>
                <a:latin typeface="Space Grotesk"/>
              </a:rPr>
              <a:t>COMPROMISO AMBIENTAL SANITHELP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7989" y="2271712"/>
            <a:ext cx="817602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¿Preguntas o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043237"/>
            <a:ext cx="773906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7F3D0"/>
                </a:solidFill>
                <a:latin typeface="Plus Jakarta Sans"/>
              </a:rPr>
              <a:t>Gracias por su participación en la socialización del Programa Huella de Carbono (PG-AR-003 V1).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4781" y="4233862"/>
            <a:ext cx="4262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María Luisa Castro Sánchez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4781" y="4491037"/>
            <a:ext cx="4262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EE7B7"/>
                </a:solidFill>
                <a:latin typeface="Plus Jakarta Sans"/>
              </a:rPr>
              <a:t>Ingeniera de Calidad y Ambiente | SanitHelp S.A.S.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790</Words>
  <Application>Microsoft Office PowerPoint</Application>
  <PresentationFormat>Panorámica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Plus Jakarta Sans</vt:lpstr>
      <vt:lpstr>Space Grotesk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María Luisa Castro Sánchez</dc:creator>
  <cp:keywords/>
  <dc:description>generated using python-pptx</dc:description>
  <cp:lastModifiedBy>María Luisa Castro Sánchez</cp:lastModifiedBy>
  <cp:revision>2</cp:revision>
  <dcterms:created xsi:type="dcterms:W3CDTF">2013-01-27T09:14:16Z</dcterms:created>
  <dcterms:modified xsi:type="dcterms:W3CDTF">2026-10-26T20:32:02Z</dcterms:modified>
  <cp:category/>
</cp:coreProperties>
</file>