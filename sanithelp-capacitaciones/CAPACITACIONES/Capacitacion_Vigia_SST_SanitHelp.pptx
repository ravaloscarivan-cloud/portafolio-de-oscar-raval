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https://www.funcionpublica.gov.co/eva/gestornormativo/norma.php?i=48365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https://www.funcionpublica.gov.co/eva/gestornormativo/norma.php?i=48365
- https://www.funcionpublica.gov.co/eva/gestornormativo/norma.php?i=72173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https://www.funcionpublica.gov.co/eva/gestornormativo/norma.php?i=171875
- https://www.funcionpublica.gov.co/eva/gestornormativo/norma.php?i=48365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https://www.funcionpublica.gov.co/eva/gestornormativo/norma.php?i=171875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https://sgrl.mintrabajo.gov.co/Empresas/ConsultaEstandares/ConsultaCalificacion/845145
- https://www.funcionpublica.gov.co/eva/gestornormativo/norma.php?i=72173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_MASTER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6B6C2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Capacitación Vigía SST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799" y="530352"/>
            <a:ext cx="1230521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1783080"/>
            <a:ext cx="109728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CF0"/>
            </a:solidFill>
            <a:prstDash val="solid"/>
          </a:ln>
          <a:effectLst>
            <a:outerShdw sx="100000" sy="100000" kx="0" ky="0" algn="bl" rotWithShape="0" blurRad="25400" dist="8890" dir="2700000">
              <a:srgbClr val="000000">
                <a:alpha val="12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594360" y="1783080"/>
            <a:ext cx="201168" cy="3977640"/>
          </a:xfrm>
          <a:prstGeom prst="rect">
            <a:avLst/>
          </a:prstGeom>
          <a:solidFill>
            <a:srgbClr val="56B6C2"/>
          </a:solidFill>
          <a:ln w="12700">
            <a:solidFill>
              <a:srgbClr val="56B6C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3000" y="233172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y responsabilidades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Vigía SST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70432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9E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general del SG-SST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70432" y="43159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Capacitación corta | SanitHelp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83880" y="2286000"/>
            <a:ext cx="2377440" cy="2377440"/>
          </a:xfrm>
          <a:prstGeom prst="ellipse">
            <a:avLst/>
          </a:prstGeom>
          <a:solidFill>
            <a:srgbClr val="EAF6F8"/>
          </a:solidFill>
          <a:ln w="12700">
            <a:solidFill>
              <a:srgbClr val="EAF6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05088" y="2615184"/>
            <a:ext cx="1325880" cy="1508760"/>
          </a:xfrm>
          <a:prstGeom prst="pentagon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24544" y="297180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✓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8001000" y="480060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74152" y="4828032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Prevenir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464040" y="48006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37192" y="4828032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14" y="320040"/>
            <a:ext cx="1054732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384048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el SG-SST?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350008" y="9326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de gestión basado en la mejora continua.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18745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AF6F8"/>
          </a:solidFill>
          <a:ln w="12700">
            <a:solidFill>
              <a:srgbClr val="D6E6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020824"/>
            <a:ext cx="384048" cy="384048"/>
          </a:xfrm>
          <a:prstGeom prst="ellipse">
            <a:avLst/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20482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87552" y="25146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F44"/>
                </a:solidFill>
              </a:rPr>
              <a:t>Política y organización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15768" y="18745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EF3F8"/>
          </a:solidFill>
          <a:ln w="12700">
            <a:solidFill>
              <a:srgbClr val="D6E6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25496" y="2020824"/>
            <a:ext cx="384048" cy="384048"/>
          </a:xfrm>
          <a:prstGeom prst="ellipse">
            <a:avLst/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25496" y="20482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80360" y="25146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F44"/>
                </a:solidFill>
              </a:rPr>
              <a:t>Planificación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08576" y="18745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AF6F8"/>
          </a:solidFill>
          <a:ln w="12700">
            <a:solidFill>
              <a:srgbClr val="D6E6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18304" y="2020824"/>
            <a:ext cx="384048" cy="384048"/>
          </a:xfrm>
          <a:prstGeom prst="ellipse">
            <a:avLst/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18304" y="20482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73168" y="25146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F44"/>
                </a:solidFill>
              </a:rPr>
              <a:t>Aplicación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01384" y="18745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EF3F8"/>
          </a:solidFill>
          <a:ln w="12700">
            <a:solidFill>
              <a:srgbClr val="D6E6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1112" y="2020824"/>
            <a:ext cx="384048" cy="384048"/>
          </a:xfrm>
          <a:prstGeom prst="ellipse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11112" y="20482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65976" y="25146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F44"/>
                </a:solidFill>
              </a:rPr>
              <a:t>Evaluación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394192" y="18745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AF6F8"/>
          </a:solidFill>
          <a:ln w="12700">
            <a:solidFill>
              <a:srgbClr val="D6E6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0" y="2020824"/>
            <a:ext cx="384048" cy="384048"/>
          </a:xfrm>
          <a:prstGeom prst="ellipse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0" y="20482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558784" y="25146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F44"/>
                </a:solidFill>
              </a:rPr>
              <a:t>Auditoría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287000" y="18745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EF3F8"/>
          </a:solidFill>
          <a:ln w="12700">
            <a:solidFill>
              <a:srgbClr val="D6E6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96728" y="2020824"/>
            <a:ext cx="384048" cy="384048"/>
          </a:xfrm>
          <a:prstGeom prst="ellipse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396728" y="20482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451592" y="25146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F44"/>
                </a:solidFill>
              </a:rPr>
              <a:t>Mejora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14400" y="3886200"/>
            <a:ext cx="10378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9050" dist="5080" dir="27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143000" y="4160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B67"/>
                </a:solidFill>
              </a:rPr>
              <a:t>Propósito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2514600" y="409651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F44"/>
                </a:solidFill>
              </a:rPr>
              <a:t>Anticipar, reconocer, evaluar y controlar los riesgos que puedan afectar la seguridad y salud de las personas en el trabajo.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2514600" y="480060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9EAA"/>
                </a:solidFill>
              </a:rPr>
              <a:t>La participación de los trabajadores y la comunicación hacen parte del sistema.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14" y="320040"/>
            <a:ext cx="1054732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384048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¿Cuál es el papel del Vigía SST?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350008" y="9326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 la participación activa de los trabajadores en prevención.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6824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44752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Escuchar y canalizar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44752" y="2130552"/>
            <a:ext cx="265176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observaciones, inquietudes y propuestas de los trabajadores relacionadas con seguridad y salud en el trabajo.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6824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56632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 y proponer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56632" y="2130552"/>
            <a:ext cx="265176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Apoya la identificación de condiciones inseguras y propone medidas de prevención y mejora al empleador.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55280" y="15544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92440" y="16824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AE8C"/>
          </a:solidFill>
          <a:ln w="12700">
            <a:solidFill>
              <a:srgbClr val="5BAE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68512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Participar y hacer seguimiento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68512" y="2130552"/>
            <a:ext cx="265176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 en actividades de capacitación, inspección, promoción y seguimiento de acciones del SG-SST.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14400" y="58978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B67"/>
                </a:solidFill>
              </a:rPr>
              <a:t>El Vigía no reemplaza al responsable del SG-SST: actúa como apoyo y canal de participación.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14" y="320040"/>
            <a:ext cx="1054732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384048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principales del Vigía SST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350008" y="9326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prácticas que debe impulsar y acompañar.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481328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682496"/>
            <a:ext cx="603504" cy="603504"/>
          </a:xfrm>
          <a:prstGeom prst="ellipse">
            <a:avLst/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83794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45920" y="16184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B67"/>
                </a:solidFill>
              </a:rPr>
              <a:t>Proponer medidas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196596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Promover acciones que ayuden a mantener ambientes de trabajo seguros y saludables.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481328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1682496"/>
            <a:ext cx="603504" cy="603504"/>
          </a:xfrm>
          <a:prstGeom prst="ellipse">
            <a:avLst/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183794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23760" y="16184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B67"/>
                </a:solidFill>
              </a:rPr>
              <a:t>Participar en capacitación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223760" y="196596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Apoyar y participar en actividades de formación y prevención en SST.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3035808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6112" y="3236976"/>
            <a:ext cx="603504" cy="603504"/>
          </a:xfrm>
          <a:prstGeom prst="ellipse">
            <a:avLst/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33924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645920" y="3172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B67"/>
                </a:solidFill>
              </a:rPr>
              <a:t>Vigilar actividades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645920" y="352044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Hacer seguimiento al desarrollo de actividades y controles de seguridad y salud.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3035808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73952" y="3236976"/>
            <a:ext cx="603504" cy="603504"/>
          </a:xfrm>
          <a:prstGeom prst="ellipse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3952" y="33924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23760" y="3172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B67"/>
                </a:solidFill>
              </a:rPr>
              <a:t>Apoyar análisis de incidentes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223760" y="352044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Colaborar en el análisis de causas y en la propuesta de medidas correctivas.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31520" y="4590288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96112" y="4791456"/>
            <a:ext cx="603504" cy="603504"/>
          </a:xfrm>
          <a:prstGeom prst="ellipse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6112" y="494690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645920" y="47274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B67"/>
                </a:solidFill>
              </a:rPr>
              <a:t>Realizar observaciones e inspecciones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645920" y="50749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Identificar condiciones que requieran intervención y comunicar los hallazgos.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309360" y="4590288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73952" y="4791456"/>
            <a:ext cx="603504" cy="603504"/>
          </a:xfrm>
          <a:prstGeom prst="ellipse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73952" y="494690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223760" y="47274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B67"/>
                </a:solidFill>
              </a:rPr>
              <a:t>Promover participación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223760" y="50749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Motivar a los trabajadores a reportar riesgos, incidentes y oportunidades de mejora.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14" y="320040"/>
            <a:ext cx="1054732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384048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práctica de actuación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350008" y="9326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hacer cuando se identifica una condición o situación de riesgo?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7512" y="1965960"/>
            <a:ext cx="841248" cy="841248"/>
          </a:xfrm>
          <a:prstGeom prst="ellipse">
            <a:avLst/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" y="2212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1168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B67"/>
                </a:solidFill>
              </a:rPr>
              <a:t>Detectar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" y="345643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Observar la condición o recibir el reporte.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664208" y="2176272"/>
            <a:ext cx="713232" cy="365760"/>
          </a:xfrm>
          <a:prstGeom prst="chevron">
            <a:avLst/>
          </a:prstGeom>
          <a:solidFill>
            <a:srgbClr val="C9E5EA"/>
          </a:solidFill>
          <a:ln w="12700">
            <a:solidFill>
              <a:srgbClr val="C9E5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99232" y="1965960"/>
            <a:ext cx="841248" cy="841248"/>
          </a:xfrm>
          <a:prstGeom prst="ellipse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9232" y="2212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532888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B67"/>
                </a:solidFill>
              </a:rPr>
              <a:t>Registrar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377440" y="345643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Dejar evidencia clara del hallazgo.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995928" y="2176272"/>
            <a:ext cx="713232" cy="365760"/>
          </a:xfrm>
          <a:prstGeom prst="chevron">
            <a:avLst/>
          </a:prstGeom>
          <a:solidFill>
            <a:srgbClr val="C9E5EA"/>
          </a:solidFill>
          <a:ln w="12700">
            <a:solidFill>
              <a:srgbClr val="C9E5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0952" y="1965960"/>
            <a:ext cx="841248" cy="841248"/>
          </a:xfrm>
          <a:prstGeom prst="ellipse">
            <a:avLst/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30952" y="2212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64608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B67"/>
                </a:solidFill>
              </a:rPr>
              <a:t>Comunicar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09160" y="345643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Escalar al responsable del SG-SST o al empleador.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327648" y="2176272"/>
            <a:ext cx="713232" cy="365760"/>
          </a:xfrm>
          <a:prstGeom prst="chevron">
            <a:avLst/>
          </a:prstGeom>
          <a:solidFill>
            <a:srgbClr val="C9E5EA"/>
          </a:solidFill>
          <a:ln w="12700">
            <a:solidFill>
              <a:srgbClr val="C9E5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62672" y="1965960"/>
            <a:ext cx="841248" cy="841248"/>
          </a:xfrm>
          <a:prstGeom prst="ellipse">
            <a:avLst/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2212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96328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B67"/>
                </a:solidFill>
              </a:rPr>
              <a:t>Proponer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040880" y="345643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Sugerir acciones de prevención o control.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59368" y="2176272"/>
            <a:ext cx="713232" cy="365760"/>
          </a:xfrm>
          <a:prstGeom prst="chevron">
            <a:avLst/>
          </a:prstGeom>
          <a:solidFill>
            <a:srgbClr val="C9E5EA"/>
          </a:solidFill>
          <a:ln w="12700">
            <a:solidFill>
              <a:srgbClr val="C9E5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994392" y="1965960"/>
            <a:ext cx="841248" cy="841248"/>
          </a:xfrm>
          <a:prstGeom prst="ellipse">
            <a:avLst/>
          </a:prstGeom>
          <a:solidFill>
            <a:srgbClr val="5BAE8C"/>
          </a:solidFill>
          <a:ln w="12700">
            <a:solidFill>
              <a:srgbClr val="5BAE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94392" y="22128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528048" y="2999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B67"/>
                </a:solidFill>
              </a:rPr>
              <a:t>Verificar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372600" y="345643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F44"/>
                </a:solidFill>
              </a:rPr>
              <a:t>Hacer seguimiento al cierre y eficacia de la medida.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97280" y="5010912"/>
            <a:ext cx="9966960" cy="658368"/>
          </a:xfrm>
          <a:prstGeom prst="roundRect">
            <a:avLst>
              <a:gd name="adj" fmla="val 8333"/>
            </a:avLst>
          </a:prstGeom>
          <a:solidFill>
            <a:srgbClr val="EAF6F8"/>
          </a:solidFill>
          <a:ln w="12700">
            <a:solidFill>
              <a:srgbClr val="EAF6F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25880" y="517550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B67"/>
                </a:solidFill>
              </a:rPr>
              <a:t>Clave: el Vigía facilita la comunicación y el seguimiento; las decisiones y recursos corresponden al empleador y al responsable del SG-SST.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14" y="320040"/>
            <a:ext cx="1054732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384048"/>
            <a:ext cx="923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Evidencias de la capacitación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350008" y="9326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Asistencia, evaluación y material de apoyo.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6824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B9EAA"/>
          </a:solidFill>
          <a:ln w="12700">
            <a:solidFill>
              <a:srgbClr val="2B9E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36192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Asistencia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36192" y="2130552"/>
            <a:ext cx="246888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nombre del participante, fecha, tema, duración y firma o evidencia digital de participación.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25696" y="155448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856" y="16824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38928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Evaluación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38928" y="2130552"/>
            <a:ext cx="246888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un cuestionario corto de 5 preguntas para verificar comprensión de funciones, responsabilidades y marco general del SG-SST.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28432" y="155448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E6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65592" y="16824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AE8C"/>
          </a:solidFill>
          <a:ln w="12700">
            <a:solidFill>
              <a:srgbClr val="5BAE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41664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Material de apoyo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41664" y="2130552"/>
            <a:ext cx="246888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la presentación, guía o material entregado, junto con los soportes de asistencia y resultados de evaluación.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143000" y="5257800"/>
            <a:ext cx="9875520" cy="566928"/>
          </a:xfrm>
          <a:prstGeom prst="roundRect">
            <a:avLst>
              <a:gd name="adj" fmla="val 9677"/>
            </a:avLst>
          </a:prstGeom>
          <a:solidFill>
            <a:srgbClr val="163B67"/>
          </a:solidFill>
          <a:ln w="12700">
            <a:solidFill>
              <a:srgbClr val="163B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541324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Mensaje final: prevenir también es escuchar, observar, reportar y hacer seguimiento.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y responsabilidades del Vigía SST</dc:title>
  <dc:subject>Capacitación Vigía SST</dc:subject>
  <dc:creator>OpenAI</dc:creator>
  <cp:lastModifiedBy>OpenAI</cp:lastModifiedBy>
  <cp:revision>1</cp:revision>
  <dcterms:created xsi:type="dcterms:W3CDTF">2026-10-26T14:28:00Z</dcterms:created>
  <dcterms:modified xsi:type="dcterms:W3CDTF">2026-10-26T14:28:00Z</dcterms:modified>
</cp:coreProperties>
</file>