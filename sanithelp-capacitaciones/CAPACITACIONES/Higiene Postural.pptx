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e832af08-485f-8d08-7013-31c51a7faf47}">
          <p14:sldIdLst>
            <p14:sldId id="256"/>
          </p14:sldIdLst>
        </p14:section>
        <p14:section name="Puesto de trabajo" id="{76a6fd29-a58f-db62-041a-348977fbe11b}">
          <p14:sldIdLst>
            <p14:sldId id="257"/>
          </p14:sldIdLst>
        </p14:section>
        <p14:section name="Manejo de cargas" id="{ddfd380c-4cfa-a85d-ffc7-cacb3b9e704b}">
          <p14:sldIdLst>
            <p14:sldId id="258"/>
          </p14:sldIdLst>
        </p14:section>
        <p14:section name="Cierre" id="{c1e8f146-eea7-78c5-27f2-6f937efa63a2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Portada: definición de higiene postural, su beneficio y dónde se aplica.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ajustes del puesto de trabajo y un mensaje clave: no hay una postura perfecta, lo importante es moverse.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pasos para levantar una carga con seguridad y tres conductas que se deben evitar.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hábitos diarios, una señal de alerta para consultar al médico y el mensaje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SanitHelp  |  Seguridad y Salud en el Trabajo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148840"/>
            <a:ext cx="40233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457200" y="3703320"/>
            <a:ext cx="3840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74320"/>
            <a:ext cx="1051560" cy="65060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SanitHelp  |  Seguridad y Salud en el Trabajo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457200" y="868680"/>
            <a:ext cx="676656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rjeta logo"/>
          <p:cNvSpPr/>
          <p:nvPr/>
        </p:nvSpPr>
        <p:spPr>
          <a:xfrm>
            <a:off x="457200" y="457200"/>
            <a:ext cx="201168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3" name="Logo SanitHelp" descr="Logo SanitHel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504239"/>
            <a:ext cx="1325880" cy="820323"/>
          </a:xfrm>
          <a:prstGeom prst="rect">
            <a:avLst/>
          </a:prstGeom>
        </p:spPr>
      </p:pic>
      <p:sp>
        <p:nvSpPr>
          <p:cNvPr id="4" name="Etiqueta"/>
          <p:cNvSpPr txBox="1"/>
          <p:nvPr/>
        </p:nvSpPr>
        <p:spPr>
          <a:xfrm>
            <a:off x="457200" y="1737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SEGURIDAD Y SALUD EN EL TRABAJO</a:t>
            </a:r>
            <a:endParaRPr lang="en-US" sz="12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457200" y="214884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Higiene postural</a:t>
            </a:r>
            <a:endParaRPr lang="en-US" sz="4400" dirty="0"/>
          </a:p>
        </p:txBody>
      </p:sp>
      <p:sp>
        <p:nvSpPr>
          <p:cNvPr id="6" name="Text 1"/>
          <p:cNvSpPr/>
          <p:nvPr>
            <p:ph idx="102" type="body" hasCustomPrompt="1"/>
          </p:nvPr>
        </p:nvSpPr>
        <p:spPr>
          <a:xfrm>
            <a:off x="457200" y="37033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Hábitos sencillos para cuidar la espalda y prevenir molestias</a:t>
            </a:r>
            <a:endParaRPr lang="en-US" sz="1800" dirty="0"/>
          </a:p>
        </p:txBody>
      </p:sp>
      <p:sp>
        <p:nvSpPr>
          <p:cNvPr id="7" name="Tarjeta 1"/>
          <p:cNvSpPr/>
          <p:nvPr/>
        </p:nvSpPr>
        <p:spPr>
          <a:xfrm>
            <a:off x="4846320" y="640080"/>
            <a:ext cx="3840480" cy="118872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Ícono 1 círculo"/>
          <p:cNvSpPr/>
          <p:nvPr/>
        </p:nvSpPr>
        <p:spPr>
          <a:xfrm>
            <a:off x="5029200" y="960120"/>
            <a:ext cx="548640" cy="548640"/>
          </a:xfrm>
          <a:prstGeom prst="ellipse">
            <a:avLst/>
          </a:prstGeom>
          <a:solidFill>
            <a:srgbClr val="5DB7C7"/>
          </a:solidFill>
          <a:ln w="12700">
            <a:solidFill>
              <a:srgbClr val="5DB7C7"/>
            </a:solidFill>
            <a:prstDash val="solid"/>
          </a:ln>
        </p:spPr>
      </p:sp>
      <p:pic>
        <p:nvPicPr>
          <p:cNvPr id="9" name="Ícono 1" descr="Ícono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097280"/>
            <a:ext cx="274320" cy="274320"/>
          </a:xfrm>
          <a:prstGeom prst="rect">
            <a:avLst/>
          </a:prstGeom>
        </p:spPr>
      </p:pic>
      <p:sp>
        <p:nvSpPr>
          <p:cNvPr id="10" name="Texto 1"/>
          <p:cNvSpPr txBox="1"/>
          <p:nvPr/>
        </p:nvSpPr>
        <p:spPr>
          <a:xfrm>
            <a:off x="5760720" y="7315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La higiene postural es adoptar posiciones y movimientos adecuados en las actividades diarias.</a:t>
            </a:r>
            <a:endParaRPr lang="en-US" sz="1400" dirty="0"/>
          </a:p>
        </p:txBody>
      </p:sp>
      <p:sp>
        <p:nvSpPr>
          <p:cNvPr id="11" name="Tarjeta 2"/>
          <p:cNvSpPr/>
          <p:nvPr/>
        </p:nvSpPr>
        <p:spPr>
          <a:xfrm>
            <a:off x="4846320" y="2011680"/>
            <a:ext cx="3840480" cy="118872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Ícono 2 círculo"/>
          <p:cNvSpPr/>
          <p:nvPr/>
        </p:nvSpPr>
        <p:spPr>
          <a:xfrm>
            <a:off x="5029200" y="2331720"/>
            <a:ext cx="548640" cy="548640"/>
          </a:xfrm>
          <a:prstGeom prst="ellipse">
            <a:avLst/>
          </a:prstGeom>
          <a:solidFill>
            <a:srgbClr val="5DB7C7"/>
          </a:solidFill>
          <a:ln w="12700">
            <a:solidFill>
              <a:srgbClr val="5DB7C7"/>
            </a:solidFill>
            <a:prstDash val="solid"/>
          </a:ln>
        </p:spPr>
      </p:sp>
      <p:pic>
        <p:nvPicPr>
          <p:cNvPr id="13" name="Ícono 2" descr="Ícono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2468880"/>
            <a:ext cx="274320" cy="274320"/>
          </a:xfrm>
          <a:prstGeom prst="rect">
            <a:avLst/>
          </a:prstGeom>
        </p:spPr>
      </p:pic>
      <p:sp>
        <p:nvSpPr>
          <p:cNvPr id="14" name="Texto 2"/>
          <p:cNvSpPr txBox="1"/>
          <p:nvPr/>
        </p:nvSpPr>
        <p:spPr>
          <a:xfrm>
            <a:off x="5760720" y="21031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Ayuda a disminuir la sobrecarga muscular y el riesgo de dolor de espalda.</a:t>
            </a:r>
            <a:endParaRPr lang="en-US" sz="1400" dirty="0"/>
          </a:p>
        </p:txBody>
      </p:sp>
      <p:sp>
        <p:nvSpPr>
          <p:cNvPr id="15" name="Tarjeta 3"/>
          <p:cNvSpPr/>
          <p:nvPr/>
        </p:nvSpPr>
        <p:spPr>
          <a:xfrm>
            <a:off x="4846320" y="3383280"/>
            <a:ext cx="3840480" cy="118872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Ícono 3 círculo"/>
          <p:cNvSpPr/>
          <p:nvPr/>
        </p:nvSpPr>
        <p:spPr>
          <a:xfrm>
            <a:off x="5029200" y="3703320"/>
            <a:ext cx="548640" cy="548640"/>
          </a:xfrm>
          <a:prstGeom prst="ellipse">
            <a:avLst/>
          </a:prstGeom>
          <a:solidFill>
            <a:srgbClr val="5DB7C7"/>
          </a:solidFill>
          <a:ln w="12700">
            <a:solidFill>
              <a:srgbClr val="5DB7C7"/>
            </a:solidFill>
            <a:prstDash val="solid"/>
          </a:ln>
        </p:spPr>
      </p:sp>
      <p:pic>
        <p:nvPicPr>
          <p:cNvPr id="17" name="Ícono 3" descr="Ícono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3840480"/>
            <a:ext cx="274320" cy="274320"/>
          </a:xfrm>
          <a:prstGeom prst="rect">
            <a:avLst/>
          </a:prstGeom>
        </p:spPr>
      </p:pic>
      <p:sp>
        <p:nvSpPr>
          <p:cNvPr id="18" name="Texto 3"/>
          <p:cNvSpPr txBox="1"/>
          <p:nvPr/>
        </p:nvSpPr>
        <p:spPr>
          <a:xfrm>
            <a:off x="5760720" y="34747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Se aplica en el trabajo, en casa y al caminar, sentarse o levantar objetos.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¿Cómo sentarse y trabajar?</a:t>
            </a:r>
            <a:endParaRPr lang="en-US" sz="32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57200" y="8686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Organiza el puesto para mantener una postura cómoda</a:t>
            </a:r>
            <a:endParaRPr lang="en-US" sz="1600" dirty="0"/>
          </a:p>
        </p:txBody>
      </p:sp>
      <p:sp>
        <p:nvSpPr>
          <p:cNvPr id="4" name="Tarjeta 1"/>
          <p:cNvSpPr/>
          <p:nvPr/>
        </p:nvSpPr>
        <p:spPr>
          <a:xfrm>
            <a:off x="457200" y="1417320"/>
            <a:ext cx="259080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Ícono 1 círculo"/>
          <p:cNvSpPr/>
          <p:nvPr/>
        </p:nvSpPr>
        <p:spPr>
          <a:xfrm>
            <a:off x="640080" y="1581912"/>
            <a:ext cx="457200" cy="457200"/>
          </a:xfrm>
          <a:prstGeom prst="ellipse">
            <a:avLst/>
          </a:prstGeom>
          <a:solidFill>
            <a:srgbClr val="4E6794"/>
          </a:solidFill>
          <a:ln w="12700">
            <a:solidFill>
              <a:srgbClr val="4E6794"/>
            </a:solidFill>
            <a:prstDash val="solid"/>
          </a:ln>
        </p:spPr>
      </p:sp>
      <p:pic>
        <p:nvPicPr>
          <p:cNvPr id="6" name="Ícono 1" descr="Ícono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696212"/>
            <a:ext cx="228600" cy="228600"/>
          </a:xfrm>
          <a:prstGeom prst="rect">
            <a:avLst/>
          </a:prstGeom>
        </p:spPr>
      </p:pic>
      <p:sp>
        <p:nvSpPr>
          <p:cNvPr id="7" name="Texto 1"/>
          <p:cNvSpPr txBox="1"/>
          <p:nvPr/>
        </p:nvSpPr>
        <p:spPr>
          <a:xfrm>
            <a:off x="640080" y="2103120"/>
            <a:ext cx="222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Apoya la espalda en el respaldo y mantén los hombros relajados.</a:t>
            </a:r>
            <a:endParaRPr lang="en-US" sz="1400" dirty="0"/>
          </a:p>
        </p:txBody>
      </p:sp>
      <p:sp>
        <p:nvSpPr>
          <p:cNvPr id="8" name="Tarjeta 2"/>
          <p:cNvSpPr/>
          <p:nvPr/>
        </p:nvSpPr>
        <p:spPr>
          <a:xfrm>
            <a:off x="3276600" y="1417320"/>
            <a:ext cx="259080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Ícono 2 círculo"/>
          <p:cNvSpPr/>
          <p:nvPr/>
        </p:nvSpPr>
        <p:spPr>
          <a:xfrm>
            <a:off x="3459480" y="1581912"/>
            <a:ext cx="457200" cy="457200"/>
          </a:xfrm>
          <a:prstGeom prst="ellipse">
            <a:avLst/>
          </a:prstGeom>
          <a:solidFill>
            <a:srgbClr val="4E6794"/>
          </a:solidFill>
          <a:ln w="12700">
            <a:solidFill>
              <a:srgbClr val="4E6794"/>
            </a:solidFill>
            <a:prstDash val="solid"/>
          </a:ln>
        </p:spPr>
      </p:sp>
      <p:pic>
        <p:nvPicPr>
          <p:cNvPr id="10" name="Ícono 2" descr="Ícono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780" y="1696212"/>
            <a:ext cx="228600" cy="228600"/>
          </a:xfrm>
          <a:prstGeom prst="rect">
            <a:avLst/>
          </a:prstGeom>
        </p:spPr>
      </p:pic>
      <p:sp>
        <p:nvSpPr>
          <p:cNvPr id="11" name="Texto 2"/>
          <p:cNvSpPr txBox="1"/>
          <p:nvPr/>
        </p:nvSpPr>
        <p:spPr>
          <a:xfrm>
            <a:off x="3459480" y="2103120"/>
            <a:ext cx="222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Deja los pies apoyados en el piso; evita cruzar las piernas por mucho tiempo.</a:t>
            </a:r>
            <a:endParaRPr lang="en-US" sz="1400" dirty="0"/>
          </a:p>
        </p:txBody>
      </p:sp>
      <p:sp>
        <p:nvSpPr>
          <p:cNvPr id="12" name="Tarjeta 3"/>
          <p:cNvSpPr/>
          <p:nvPr/>
        </p:nvSpPr>
        <p:spPr>
          <a:xfrm>
            <a:off x="6096000" y="1417320"/>
            <a:ext cx="259080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Ícono 3 círculo"/>
          <p:cNvSpPr/>
          <p:nvPr/>
        </p:nvSpPr>
        <p:spPr>
          <a:xfrm>
            <a:off x="6278880" y="1581912"/>
            <a:ext cx="457200" cy="457200"/>
          </a:xfrm>
          <a:prstGeom prst="ellipse">
            <a:avLst/>
          </a:prstGeom>
          <a:solidFill>
            <a:srgbClr val="4E6794"/>
          </a:solidFill>
          <a:ln w="12700">
            <a:solidFill>
              <a:srgbClr val="4E6794"/>
            </a:solidFill>
            <a:prstDash val="solid"/>
          </a:ln>
        </p:spPr>
      </p:sp>
      <p:pic>
        <p:nvPicPr>
          <p:cNvPr id="14" name="Ícono 3" descr="Ícono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180" y="1696212"/>
            <a:ext cx="228600" cy="228600"/>
          </a:xfrm>
          <a:prstGeom prst="rect">
            <a:avLst/>
          </a:prstGeom>
        </p:spPr>
      </p:pic>
      <p:sp>
        <p:nvSpPr>
          <p:cNvPr id="15" name="Texto 3"/>
          <p:cNvSpPr txBox="1"/>
          <p:nvPr/>
        </p:nvSpPr>
        <p:spPr>
          <a:xfrm>
            <a:off x="6278880" y="2103120"/>
            <a:ext cx="222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Ubica la pantalla frente a ti, aproximadamente a la altura de los ojos.</a:t>
            </a:r>
            <a:endParaRPr lang="en-US" sz="1400" dirty="0"/>
          </a:p>
        </p:txBody>
      </p:sp>
      <p:sp>
        <p:nvSpPr>
          <p:cNvPr id="16" name="Tarjeta 4"/>
          <p:cNvSpPr/>
          <p:nvPr/>
        </p:nvSpPr>
        <p:spPr>
          <a:xfrm>
            <a:off x="457200" y="3063240"/>
            <a:ext cx="259080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Ícono 4 círculo"/>
          <p:cNvSpPr/>
          <p:nvPr/>
        </p:nvSpPr>
        <p:spPr>
          <a:xfrm>
            <a:off x="640080" y="3227832"/>
            <a:ext cx="457200" cy="457200"/>
          </a:xfrm>
          <a:prstGeom prst="ellipse">
            <a:avLst/>
          </a:prstGeom>
          <a:solidFill>
            <a:srgbClr val="4E6794"/>
          </a:solidFill>
          <a:ln w="12700">
            <a:solidFill>
              <a:srgbClr val="4E6794"/>
            </a:solidFill>
            <a:prstDash val="solid"/>
          </a:ln>
        </p:spPr>
      </p:sp>
      <p:pic>
        <p:nvPicPr>
          <p:cNvPr id="18" name="Ícono 4" descr="Ícono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3342132"/>
            <a:ext cx="228600" cy="228600"/>
          </a:xfrm>
          <a:prstGeom prst="rect">
            <a:avLst/>
          </a:prstGeom>
        </p:spPr>
      </p:pic>
      <p:sp>
        <p:nvSpPr>
          <p:cNvPr id="19" name="Texto 4"/>
          <p:cNvSpPr txBox="1"/>
          <p:nvPr/>
        </p:nvSpPr>
        <p:spPr>
          <a:xfrm>
            <a:off x="640080" y="3749040"/>
            <a:ext cx="222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Mantén teclado y mouse cerca para no estirar constantemente los brazos.</a:t>
            </a:r>
            <a:endParaRPr lang="en-US" sz="1400" dirty="0"/>
          </a:p>
        </p:txBody>
      </p:sp>
      <p:sp>
        <p:nvSpPr>
          <p:cNvPr id="20" name="Tarjeta 5"/>
          <p:cNvSpPr/>
          <p:nvPr/>
        </p:nvSpPr>
        <p:spPr>
          <a:xfrm>
            <a:off x="3276600" y="3063240"/>
            <a:ext cx="259080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Ícono 5 círculo"/>
          <p:cNvSpPr/>
          <p:nvPr/>
        </p:nvSpPr>
        <p:spPr>
          <a:xfrm>
            <a:off x="3459480" y="3227832"/>
            <a:ext cx="457200" cy="457200"/>
          </a:xfrm>
          <a:prstGeom prst="ellipse">
            <a:avLst/>
          </a:prstGeom>
          <a:solidFill>
            <a:srgbClr val="4E6794"/>
          </a:solidFill>
          <a:ln w="12700">
            <a:solidFill>
              <a:srgbClr val="4E6794"/>
            </a:solidFill>
            <a:prstDash val="solid"/>
          </a:ln>
        </p:spPr>
      </p:sp>
      <p:pic>
        <p:nvPicPr>
          <p:cNvPr id="22" name="Ícono 5" descr="Ícono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3780" y="3342132"/>
            <a:ext cx="228600" cy="228600"/>
          </a:xfrm>
          <a:prstGeom prst="rect">
            <a:avLst/>
          </a:prstGeom>
        </p:spPr>
      </p:pic>
      <p:sp>
        <p:nvSpPr>
          <p:cNvPr id="23" name="Texto 5"/>
          <p:cNvSpPr txBox="1"/>
          <p:nvPr/>
        </p:nvSpPr>
        <p:spPr>
          <a:xfrm>
            <a:off x="3459480" y="3749040"/>
            <a:ext cx="222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Cambia de posición y realiza pausas activas periódicas.</a:t>
            </a:r>
            <a:endParaRPr lang="en-US" sz="1400" dirty="0"/>
          </a:p>
        </p:txBody>
      </p:sp>
      <p:sp>
        <p:nvSpPr>
          <p:cNvPr id="24" name="Tarjeta recuerda"/>
          <p:cNvSpPr/>
          <p:nvPr/>
        </p:nvSpPr>
        <p:spPr>
          <a:xfrm>
            <a:off x="6096000" y="3063240"/>
            <a:ext cx="2590800" cy="146304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5" name="Ícono recuerda" descr="Ícono recuerda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8880" y="3227832"/>
            <a:ext cx="256032" cy="256032"/>
          </a:xfrm>
          <a:prstGeom prst="rect">
            <a:avLst/>
          </a:prstGeom>
        </p:spPr>
      </p:pic>
      <p:sp>
        <p:nvSpPr>
          <p:cNvPr id="26" name="Etiqueta recuerda"/>
          <p:cNvSpPr txBox="1"/>
          <p:nvPr/>
        </p:nvSpPr>
        <p:spPr>
          <a:xfrm>
            <a:off x="6626352" y="3200400"/>
            <a:ext cx="185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RECUERDA</a:t>
            </a:r>
            <a:endParaRPr lang="en-US" sz="1400" dirty="0"/>
          </a:p>
        </p:txBody>
      </p:sp>
      <p:sp>
        <p:nvSpPr>
          <p:cNvPr id="27" name="Texto recuerda"/>
          <p:cNvSpPr txBox="1"/>
          <p:nvPr/>
        </p:nvSpPr>
        <p:spPr>
          <a:xfrm>
            <a:off x="6278880" y="3538728"/>
            <a:ext cx="222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No existe una postura perfecta para todo el día: lo importante es ajustar el puesto y moverse con frecuencia.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Levantar y mover objetos</a:t>
            </a:r>
            <a:endParaRPr lang="en-US" sz="32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57200" y="8686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Usa las piernas y evita girar el tronco con carga</a:t>
            </a:r>
            <a:endParaRPr lang="en-US" sz="1600" dirty="0"/>
          </a:p>
        </p:txBody>
      </p:sp>
      <p:sp>
        <p:nvSpPr>
          <p:cNvPr id="4" name="Fila 1"/>
          <p:cNvSpPr/>
          <p:nvPr/>
        </p:nvSpPr>
        <p:spPr>
          <a:xfrm>
            <a:off x="457200" y="1417320"/>
            <a:ext cx="539496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úmero 1 círculo"/>
          <p:cNvSpPr/>
          <p:nvPr/>
        </p:nvSpPr>
        <p:spPr>
          <a:xfrm>
            <a:off x="594360" y="15087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úmero 1"/>
          <p:cNvSpPr txBox="1"/>
          <p:nvPr/>
        </p:nvSpPr>
        <p:spPr>
          <a:xfrm>
            <a:off x="59436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Paso 1"/>
          <p:cNvSpPr txBox="1"/>
          <p:nvPr/>
        </p:nvSpPr>
        <p:spPr>
          <a:xfrm>
            <a:off x="1143000" y="141732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Acércate al objeto y separa los pies para tener estabilidad.</a:t>
            </a:r>
            <a:endParaRPr lang="en-US" sz="1400" dirty="0"/>
          </a:p>
        </p:txBody>
      </p:sp>
      <p:sp>
        <p:nvSpPr>
          <p:cNvPr id="8" name="Fila 2"/>
          <p:cNvSpPr/>
          <p:nvPr/>
        </p:nvSpPr>
        <p:spPr>
          <a:xfrm>
            <a:off x="457200" y="2057400"/>
            <a:ext cx="539496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 2 círculo"/>
          <p:cNvSpPr/>
          <p:nvPr/>
        </p:nvSpPr>
        <p:spPr>
          <a:xfrm>
            <a:off x="594360" y="21488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Número 2"/>
          <p:cNvSpPr txBox="1"/>
          <p:nvPr/>
        </p:nvSpPr>
        <p:spPr>
          <a:xfrm>
            <a:off x="59436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Paso 2"/>
          <p:cNvSpPr txBox="1"/>
          <p:nvPr/>
        </p:nvSpPr>
        <p:spPr>
          <a:xfrm>
            <a:off x="1143000" y="205740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Flexiona rodillas y caderas; mantén la espalda en una posición neutral.</a:t>
            </a:r>
            <a:endParaRPr lang="en-US" sz="1400" dirty="0"/>
          </a:p>
        </p:txBody>
      </p:sp>
      <p:sp>
        <p:nvSpPr>
          <p:cNvPr id="12" name="Fila 3"/>
          <p:cNvSpPr/>
          <p:nvPr/>
        </p:nvSpPr>
        <p:spPr>
          <a:xfrm>
            <a:off x="457200" y="2697480"/>
            <a:ext cx="539496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Número 3 círculo"/>
          <p:cNvSpPr/>
          <p:nvPr/>
        </p:nvSpPr>
        <p:spPr>
          <a:xfrm>
            <a:off x="594360" y="27889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Número 3"/>
          <p:cNvSpPr txBox="1"/>
          <p:nvPr/>
        </p:nvSpPr>
        <p:spPr>
          <a:xfrm>
            <a:off x="59436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Paso 3"/>
          <p:cNvSpPr txBox="1"/>
          <p:nvPr/>
        </p:nvSpPr>
        <p:spPr>
          <a:xfrm>
            <a:off x="1143000" y="269748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Sujeta la carga cerca del cuerpo y levántala de forma controlada.</a:t>
            </a:r>
            <a:endParaRPr lang="en-US" sz="1400" dirty="0"/>
          </a:p>
        </p:txBody>
      </p:sp>
      <p:sp>
        <p:nvSpPr>
          <p:cNvPr id="16" name="Fila 4"/>
          <p:cNvSpPr/>
          <p:nvPr/>
        </p:nvSpPr>
        <p:spPr>
          <a:xfrm>
            <a:off x="457200" y="3337560"/>
            <a:ext cx="539496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úmero 4 círculo"/>
          <p:cNvSpPr/>
          <p:nvPr/>
        </p:nvSpPr>
        <p:spPr>
          <a:xfrm>
            <a:off x="594360" y="34290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úmero 4"/>
          <p:cNvSpPr txBox="1"/>
          <p:nvPr/>
        </p:nvSpPr>
        <p:spPr>
          <a:xfrm>
            <a:off x="59436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Paso 4"/>
          <p:cNvSpPr txBox="1"/>
          <p:nvPr/>
        </p:nvSpPr>
        <p:spPr>
          <a:xfrm>
            <a:off x="1143000" y="333756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Para cambiar de dirección, mueve los pies; no retuerzas la cintura.</a:t>
            </a:r>
            <a:endParaRPr lang="en-US" sz="1400" dirty="0"/>
          </a:p>
        </p:txBody>
      </p:sp>
      <p:sp>
        <p:nvSpPr>
          <p:cNvPr id="20" name="Fila 5"/>
          <p:cNvSpPr/>
          <p:nvPr/>
        </p:nvSpPr>
        <p:spPr>
          <a:xfrm>
            <a:off x="457200" y="3977640"/>
            <a:ext cx="539496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Número 5 círculo"/>
          <p:cNvSpPr/>
          <p:nvPr/>
        </p:nvSpPr>
        <p:spPr>
          <a:xfrm>
            <a:off x="594360" y="40690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Número 5"/>
          <p:cNvSpPr txBox="1"/>
          <p:nvPr/>
        </p:nvSpPr>
        <p:spPr>
          <a:xfrm>
            <a:off x="59436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3" name="Paso 5"/>
          <p:cNvSpPr txBox="1"/>
          <p:nvPr/>
        </p:nvSpPr>
        <p:spPr>
          <a:xfrm>
            <a:off x="1143000" y="39776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 pesa demasiado, pide ayuda o utiliza una ayuda mecánica.</a:t>
            </a:r>
            <a:endParaRPr lang="en-US" sz="1400" dirty="0"/>
          </a:p>
        </p:txBody>
      </p:sp>
      <p:sp>
        <p:nvSpPr>
          <p:cNvPr id="24" name="Panel evita"/>
          <p:cNvSpPr/>
          <p:nvPr/>
        </p:nvSpPr>
        <p:spPr>
          <a:xfrm>
            <a:off x="6126480" y="1417320"/>
            <a:ext cx="2560320" cy="3108960"/>
          </a:xfrm>
          <a:prstGeom prst="roundRect">
            <a:avLst>
              <a:gd name="adj" fmla="val 4286"/>
            </a:avLst>
          </a:prstGeom>
          <a:solidFill>
            <a:schemeClr val="accent5">
              <a:alpha val="1000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25" name="Ícono evita círculo"/>
          <p:cNvSpPr/>
          <p:nvPr/>
        </p:nvSpPr>
        <p:spPr>
          <a:xfrm>
            <a:off x="6355080" y="1645920"/>
            <a:ext cx="594360" cy="5943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26" name="Ícono evita" descr="Ícono evi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670" y="1794510"/>
            <a:ext cx="297180" cy="297180"/>
          </a:xfrm>
          <a:prstGeom prst="rect">
            <a:avLst/>
          </a:prstGeom>
        </p:spPr>
      </p:pic>
      <p:sp>
        <p:nvSpPr>
          <p:cNvPr id="27" name="Etiqueta evita"/>
          <p:cNvSpPr txBox="1"/>
          <p:nvPr/>
        </p:nvSpPr>
        <p:spPr>
          <a:xfrm>
            <a:off x="6355080" y="2423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EVITA</a:t>
            </a:r>
            <a:endParaRPr lang="en-US" sz="2000" dirty="0"/>
          </a:p>
        </p:txBody>
      </p:sp>
      <p:sp>
        <p:nvSpPr>
          <p:cNvPr id="28" name="Texto evita"/>
          <p:cNvSpPr txBox="1"/>
          <p:nvPr/>
        </p:nvSpPr>
        <p:spPr>
          <a:xfrm>
            <a:off x="6355080" y="283464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Levantar cargas alejadas del cuerpo, hacer movimientos bruscos o cargar peso mientras giras.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Hábitos para prevenir molestias</a:t>
            </a:r>
            <a:endParaRPr lang="en-US" sz="32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57200" y="8686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Pequeñas acciones que puedes aplicar todos los días</a:t>
            </a:r>
            <a:endParaRPr lang="en-US" sz="1600" dirty="0"/>
          </a:p>
        </p:txBody>
      </p:sp>
      <p:sp>
        <p:nvSpPr>
          <p:cNvPr id="4" name="Tarjeta 1"/>
          <p:cNvSpPr/>
          <p:nvPr/>
        </p:nvSpPr>
        <p:spPr>
          <a:xfrm>
            <a:off x="457200" y="1417320"/>
            <a:ext cx="274320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Ícono 1 círculo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4E6794"/>
          </a:solidFill>
          <a:ln w="12700">
            <a:solidFill>
              <a:srgbClr val="4E6794"/>
            </a:solidFill>
            <a:prstDash val="solid"/>
          </a:ln>
        </p:spPr>
      </p:sp>
      <p:pic>
        <p:nvPicPr>
          <p:cNvPr id="6" name="Ícono 1" descr="Ícono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805940"/>
            <a:ext cx="228600" cy="228600"/>
          </a:xfrm>
          <a:prstGeom prst="rect">
            <a:avLst/>
          </a:prstGeom>
        </p:spPr>
      </p:pic>
      <p:sp>
        <p:nvSpPr>
          <p:cNvPr id="7" name="Texto 1"/>
          <p:cNvSpPr txBox="1"/>
          <p:nvPr/>
        </p:nvSpPr>
        <p:spPr>
          <a:xfrm>
            <a:off x="1234440" y="14630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Realiza pausas activas y cambia de postura con frecuencia.</a:t>
            </a:r>
            <a:endParaRPr lang="en-US" sz="1400" dirty="0"/>
          </a:p>
        </p:txBody>
      </p:sp>
      <p:sp>
        <p:nvSpPr>
          <p:cNvPr id="8" name="Tarjeta 2"/>
          <p:cNvSpPr/>
          <p:nvPr/>
        </p:nvSpPr>
        <p:spPr>
          <a:xfrm>
            <a:off x="3474720" y="1417320"/>
            <a:ext cx="274320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Ícono 2 círculo"/>
          <p:cNvSpPr/>
          <p:nvPr/>
        </p:nvSpPr>
        <p:spPr>
          <a:xfrm>
            <a:off x="3657600" y="1691640"/>
            <a:ext cx="457200" cy="457200"/>
          </a:xfrm>
          <a:prstGeom prst="ellipse">
            <a:avLst/>
          </a:prstGeom>
          <a:solidFill>
            <a:srgbClr val="4E6794"/>
          </a:solidFill>
          <a:ln w="12700">
            <a:solidFill>
              <a:srgbClr val="4E6794"/>
            </a:solidFill>
            <a:prstDash val="solid"/>
          </a:ln>
        </p:spPr>
      </p:sp>
      <p:pic>
        <p:nvPicPr>
          <p:cNvPr id="10" name="Ícono 2" descr="Ícono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900" y="1805940"/>
            <a:ext cx="228600" cy="228600"/>
          </a:xfrm>
          <a:prstGeom prst="rect">
            <a:avLst/>
          </a:prstGeom>
        </p:spPr>
      </p:pic>
      <p:sp>
        <p:nvSpPr>
          <p:cNvPr id="11" name="Texto 2"/>
          <p:cNvSpPr txBox="1"/>
          <p:nvPr/>
        </p:nvSpPr>
        <p:spPr>
          <a:xfrm>
            <a:off x="4251960" y="14630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Ajusta silla, mesa y herramientas a tu estatura y tarea.</a:t>
            </a:r>
            <a:endParaRPr lang="en-US" sz="1400" dirty="0"/>
          </a:p>
        </p:txBody>
      </p:sp>
      <p:sp>
        <p:nvSpPr>
          <p:cNvPr id="12" name="Tarjeta 3"/>
          <p:cNvSpPr/>
          <p:nvPr/>
        </p:nvSpPr>
        <p:spPr>
          <a:xfrm>
            <a:off x="457200" y="2606040"/>
            <a:ext cx="274320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Ícono 3 círculo"/>
          <p:cNvSpPr/>
          <p:nvPr/>
        </p:nvSpPr>
        <p:spPr>
          <a:xfrm>
            <a:off x="640080" y="2880360"/>
            <a:ext cx="457200" cy="457200"/>
          </a:xfrm>
          <a:prstGeom prst="ellipse">
            <a:avLst/>
          </a:prstGeom>
          <a:solidFill>
            <a:srgbClr val="4E6794"/>
          </a:solidFill>
          <a:ln w="12700">
            <a:solidFill>
              <a:srgbClr val="4E6794"/>
            </a:solidFill>
            <a:prstDash val="solid"/>
          </a:ln>
        </p:spPr>
      </p:sp>
      <p:pic>
        <p:nvPicPr>
          <p:cNvPr id="14" name="Ícono 3" descr="Ícono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2994660"/>
            <a:ext cx="228600" cy="228600"/>
          </a:xfrm>
          <a:prstGeom prst="rect">
            <a:avLst/>
          </a:prstGeom>
        </p:spPr>
      </p:pic>
      <p:sp>
        <p:nvSpPr>
          <p:cNvPr id="15" name="Texto 3"/>
          <p:cNvSpPr txBox="1"/>
          <p:nvPr/>
        </p:nvSpPr>
        <p:spPr>
          <a:xfrm>
            <a:off x="1234440" y="265176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Evita permanecer mucho tiempo en una misma posición.</a:t>
            </a:r>
            <a:endParaRPr lang="en-US" sz="1400" dirty="0"/>
          </a:p>
        </p:txBody>
      </p:sp>
      <p:sp>
        <p:nvSpPr>
          <p:cNvPr id="16" name="Tarjeta 4"/>
          <p:cNvSpPr/>
          <p:nvPr/>
        </p:nvSpPr>
        <p:spPr>
          <a:xfrm>
            <a:off x="3474720" y="2606040"/>
            <a:ext cx="274320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Ícono 4 círculo"/>
          <p:cNvSpPr/>
          <p:nvPr/>
        </p:nvSpPr>
        <p:spPr>
          <a:xfrm>
            <a:off x="3657600" y="2880360"/>
            <a:ext cx="457200" cy="457200"/>
          </a:xfrm>
          <a:prstGeom prst="ellipse">
            <a:avLst/>
          </a:prstGeom>
          <a:solidFill>
            <a:srgbClr val="4E6794"/>
          </a:solidFill>
          <a:ln w="12700">
            <a:solidFill>
              <a:srgbClr val="4E6794"/>
            </a:solidFill>
            <a:prstDash val="solid"/>
          </a:ln>
        </p:spPr>
      </p:sp>
      <p:pic>
        <p:nvPicPr>
          <p:cNvPr id="18" name="Ícono 4" descr="Ícono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1900" y="2994660"/>
            <a:ext cx="228600" cy="228600"/>
          </a:xfrm>
          <a:prstGeom prst="rect">
            <a:avLst/>
          </a:prstGeom>
        </p:spPr>
      </p:pic>
      <p:sp>
        <p:nvSpPr>
          <p:cNvPr id="19" name="Texto 4"/>
          <p:cNvSpPr txBox="1"/>
          <p:nvPr/>
        </p:nvSpPr>
        <p:spPr>
          <a:xfrm>
            <a:off x="4251960" y="265176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Mantén actividad física regular según tus condiciones.</a:t>
            </a:r>
            <a:endParaRPr lang="en-US" sz="1400" dirty="0"/>
          </a:p>
        </p:txBody>
      </p:sp>
      <p:sp>
        <p:nvSpPr>
          <p:cNvPr id="20" name="Alerta médica"/>
          <p:cNvSpPr/>
          <p:nvPr/>
        </p:nvSpPr>
        <p:spPr>
          <a:xfrm>
            <a:off x="457200" y="3794760"/>
            <a:ext cx="5760720" cy="777240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21" name="Ícono alerta médica círculo"/>
          <p:cNvSpPr/>
          <p:nvPr/>
        </p:nvSpPr>
        <p:spPr>
          <a:xfrm>
            <a:off x="640080" y="3931920"/>
            <a:ext cx="502920" cy="5029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22" name="Ícono alerta médica" descr="Ícono alerta médic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810" y="4057650"/>
            <a:ext cx="251460" cy="251460"/>
          </a:xfrm>
          <a:prstGeom prst="rect">
            <a:avLst/>
          </a:prstGeom>
        </p:spPr>
      </p:pic>
      <p:sp>
        <p:nvSpPr>
          <p:cNvPr id="23" name="Texto alerta médica"/>
          <p:cNvSpPr txBox="1"/>
          <p:nvPr/>
        </p:nvSpPr>
        <p:spPr>
          <a:xfrm>
            <a:off x="1325880" y="37947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Si el dolor es intenso, persiste o aparece tras un accidente, busca valoración médica.</a:t>
            </a:r>
            <a:endParaRPr lang="en-US" sz="1400" dirty="0"/>
          </a:p>
        </p:txBody>
      </p:sp>
      <p:sp>
        <p:nvSpPr>
          <p:cNvPr id="24" name="Panel mensaje final"/>
          <p:cNvSpPr/>
          <p:nvPr/>
        </p:nvSpPr>
        <p:spPr>
          <a:xfrm>
            <a:off x="6492240" y="1417320"/>
            <a:ext cx="2194560" cy="315468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Ícono mensaje final círculo"/>
          <p:cNvSpPr/>
          <p:nvPr/>
        </p:nvSpPr>
        <p:spPr>
          <a:xfrm>
            <a:off x="6675120" y="1645920"/>
            <a:ext cx="594360" cy="594360"/>
          </a:xfrm>
          <a:prstGeom prst="ellipse">
            <a:avLst/>
          </a:prstGeom>
          <a:solidFill>
            <a:srgbClr val="5DB7C7"/>
          </a:solidFill>
          <a:ln w="12700">
            <a:solidFill>
              <a:srgbClr val="5DB7C7"/>
            </a:solidFill>
            <a:prstDash val="solid"/>
          </a:ln>
        </p:spPr>
      </p:sp>
      <p:pic>
        <p:nvPicPr>
          <p:cNvPr id="26" name="Ícono mensaje final" descr="Ícono mensaje final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3710" y="1794510"/>
            <a:ext cx="297180" cy="297180"/>
          </a:xfrm>
          <a:prstGeom prst="rect">
            <a:avLst/>
          </a:prstGeom>
        </p:spPr>
      </p:pic>
      <p:sp>
        <p:nvSpPr>
          <p:cNvPr id="27" name="Etiqueta mensaje final"/>
          <p:cNvSpPr txBox="1"/>
          <p:nvPr/>
        </p:nvSpPr>
        <p:spPr>
          <a:xfrm>
            <a:off x="6675120" y="2423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MENSAJE FINAL</a:t>
            </a:r>
            <a:endParaRPr lang="en-US" sz="1400" dirty="0"/>
          </a:p>
        </p:txBody>
      </p:sp>
      <p:sp>
        <p:nvSpPr>
          <p:cNvPr id="28" name="Texto mensaje final"/>
          <p:cNvSpPr txBox="1"/>
          <p:nvPr/>
        </p:nvSpPr>
        <p:spPr>
          <a:xfrm>
            <a:off x="6675120" y="278892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Cuidar la postura es combinar buena técnica, un entorno adecuado y movimiento frecuente.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nitHelp">
  <a:themeElements>
    <a:clrScheme name="SanitHelp">
      <a:dk1>
        <a:srgbClr val="1F2A44"/>
      </a:dk1>
      <a:lt1>
        <a:srgbClr val="FFFFFF"/>
      </a:lt1>
      <a:dk2>
        <a:srgbClr val="2F4066"/>
      </a:dk2>
      <a:lt2>
        <a:srgbClr val="EDF5F8"/>
      </a:lt2>
      <a:accent1>
        <a:srgbClr val="4E6794"/>
      </a:accent1>
      <a:accent2>
        <a:srgbClr val="5DB7C7"/>
      </a:accent2>
      <a:accent3>
        <a:srgbClr val="2F4066"/>
      </a:accent3>
      <a:accent4>
        <a:srgbClr val="A9DAE3"/>
      </a:accent4>
      <a:accent5>
        <a:srgbClr val="C0392B"/>
      </a:accent5>
      <a:accent6>
        <a:srgbClr val="5F6F8F"/>
      </a:accent6>
      <a:hlink>
        <a:srgbClr val="4E6794"/>
      </a:hlink>
      <a:folHlink>
        <a:srgbClr val="5F6F8F"/>
      </a:folHlink>
    </a:clrScheme>
    <a:fontScheme name="SanitHelp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Higiene postural</dc:title>
  <dc:subject>PptxGenJS Presentation</dc:subject>
  <dc:creator>SanitHelp</dc:creator>
  <cp:lastModifiedBy>SanitHelp</cp:lastModifiedBy>
  <cp:revision>1</cp:revision>
  <dcterms:created xsi:type="dcterms:W3CDTF">2026-10-27T16:20:19Z</dcterms:created>
  <dcterms:modified xsi:type="dcterms:W3CDTF">2026-10-27T16:20:19Z</dcterms:modified>
</cp:coreProperties>
</file>