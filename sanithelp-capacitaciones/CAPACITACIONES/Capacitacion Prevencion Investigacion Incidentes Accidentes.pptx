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Decreto 1072 de 2015, arts. 2.2.4.6.32 y 2.2.4.6.33. Resolución 1401 de 2007.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Resolución 1401 de 2007, arts. 2 y 3. Ley 1562 de 2012, art. 3 (definición de accidente de trabajo).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Decreto 1072 de 2015, arts. 2.2.4.6.24, 2.2.4.6.31 y 2.2.4.6.34.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Resolución 1401 de 2007, arts. 4, 6, 7, 10, 11 y 12.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Resolución 1401 de 2007, arts. 3, 11 y 12. Decreto 1072 de 2015, art. 2.2.4.6.33.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Decreto 1072 de 2015, arts. 2.2.4.6.11, 2.2.4.6.12, 2.2.4.6.32 y 2.2.4.6.33.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696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SG-SST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96" y="320040"/>
            <a:ext cx="1113329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17320"/>
            <a:ext cx="6720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E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Prevención e investigación de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73E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incidentes y accidentes de trabajo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13232" y="27889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AFC0"/>
                </a:solidFill>
              </a:rPr>
              <a:t>Acciones correctivas y aprendizaje preventivo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3232" y="3246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84D"/>
                </a:solidFill>
              </a:rPr>
              <a:t>Capacitación para el Vigía de Seguridad y Salud en el Trabajo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863840" y="1051560"/>
            <a:ext cx="34290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6E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235440" y="150876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72016" y="160934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!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2960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E6C"/>
                </a:solidFill>
              </a:rPr>
              <a:t>La investigación no busca culpables.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7532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384D"/>
                </a:solidFill>
              </a:rPr>
              <a:t>Busca causas, controles y acciones que eviten la repetición del evento.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732520" y="4480560"/>
            <a:ext cx="1828800" cy="548640"/>
          </a:xfrm>
          <a:prstGeom prst="chevron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06256" y="4626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PREVENIR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E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Incidente, accidente y objetivo de investigar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586"/>
                </a:solidFill>
              </a:rPr>
              <a:t>Diferenciar el evento permite actuar de manera adecuada.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2971800" cy="3474720"/>
          </a:xfrm>
          <a:prstGeom prst="roundRect">
            <a:avLst/>
          </a:prstGeom>
          <a:solidFill>
            <a:srgbClr val="DFF5F8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2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7944" y="196596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206654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E6C"/>
                </a:solidFill>
              </a:rPr>
              <a:t>Incidente de trabajo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33272" y="3383280"/>
            <a:ext cx="2286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84D"/>
                </a:solidFill>
              </a:rPr>
              <a:t>Suceso relacionado con el trabajo que tuvo potencial de ser accidente, sin lesión ni pérdida material.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60520" y="1645920"/>
            <a:ext cx="2971800" cy="34747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12664" y="196596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206654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+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0560" y="2743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E6C"/>
                </a:solidFill>
              </a:rPr>
              <a:t>Accidente de trabajo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07992" y="3383280"/>
            <a:ext cx="2286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84D"/>
                </a:solidFill>
              </a:rPr>
              <a:t>Evento repentino relacionado con el trabajo que produce lesión, perturbación funcional, invalidez o muerte.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35240" y="1645920"/>
            <a:ext cx="2971800" cy="3474720"/>
          </a:xfrm>
          <a:prstGeom prst="roundRect">
            <a:avLst/>
          </a:prstGeom>
          <a:solidFill>
            <a:srgbClr val="F3F9E8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87384" y="1965960"/>
            <a:ext cx="658368" cy="658368"/>
          </a:xfrm>
          <a:prstGeom prst="ellipse">
            <a:avLst/>
          </a:prstGeom>
          <a:solidFill>
            <a:srgbClr val="A7CF3A"/>
          </a:solidFill>
          <a:ln w="12700">
            <a:solidFill>
              <a:srgbClr val="A7C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206654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✓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955280" y="2743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E6C"/>
                </a:solidFill>
              </a:rPr>
              <a:t>¿Por qué investigar?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982712" y="3383280"/>
            <a:ext cx="2286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84D"/>
                </a:solidFill>
              </a:rPr>
              <a:t>Para identificar causas y definir medidas correctivas que eliminen o reduzcan el riesgo y eviten recurrencias.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291840" y="5486400"/>
            <a:ext cx="5577840" cy="475488"/>
          </a:xfrm>
          <a:prstGeom prst="roundRect">
            <a:avLst>
              <a:gd name="adj" fmla="val 15385"/>
            </a:avLst>
          </a:prstGeom>
          <a:solidFill>
            <a:srgbClr val="DFF5F8"/>
          </a:solidFill>
          <a:ln w="12700">
            <a:solidFill>
              <a:srgbClr val="DFF5F8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2e+2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01568" y="5577840"/>
            <a:ext cx="5358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6C"/>
                </a:solidFill>
              </a:rPr>
              <a:t>La meta es aprender del evento y fortalecer el SG-SST.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E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Prevención: antes de que ocurra un evento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586"/>
                </a:solidFill>
              </a:rPr>
              <a:t>El Vigía apoya la identificación de riesgos y la participación de los trabajadores.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192938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Identificar peligros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76072" y="3246120"/>
            <a:ext cx="23774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84D"/>
                </a:solidFill>
              </a:rPr>
              <a:t>Observar tareas, equipos, áreas y cambios.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70632" y="1947672"/>
            <a:ext cx="502920" cy="384048"/>
          </a:xfrm>
          <a:prstGeom prst="chevron">
            <a:avLst/>
          </a:prstGeom>
          <a:solidFill>
            <a:srgbClr val="B9D7E3"/>
          </a:solidFill>
          <a:ln w="12700">
            <a:solidFill>
              <a:srgbClr val="B9D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7872" y="182880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92938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10712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Reportar oportunamente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46704" y="3246120"/>
            <a:ext cx="23774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84D"/>
                </a:solidFill>
              </a:rPr>
              <a:t>Informar actos, condiciones e incidentes.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41264" y="1947672"/>
            <a:ext cx="502920" cy="384048"/>
          </a:xfrm>
          <a:prstGeom prst="chevron">
            <a:avLst/>
          </a:prstGeom>
          <a:solidFill>
            <a:srgbClr val="B9D7E3"/>
          </a:solidFill>
          <a:ln w="12700">
            <a:solidFill>
              <a:srgbClr val="B9D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182880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92938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181344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Controlar riesgos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17336" y="3246120"/>
            <a:ext cx="23774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84D"/>
                </a:solidFill>
              </a:rPr>
              <a:t>Aplicar controles en la fuente, el medio y las personas.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11896" y="1947672"/>
            <a:ext cx="502920" cy="384048"/>
          </a:xfrm>
          <a:prstGeom prst="chevron">
            <a:avLst/>
          </a:prstGeom>
          <a:solidFill>
            <a:srgbClr val="B9D7E3"/>
          </a:solidFill>
          <a:ln w="12700">
            <a:solidFill>
              <a:srgbClr val="B9D7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89136" y="1828800"/>
            <a:ext cx="658368" cy="658368"/>
          </a:xfrm>
          <a:prstGeom prst="ellipse">
            <a:avLst/>
          </a:prstGeom>
          <a:solidFill>
            <a:srgbClr val="A7CF3A"/>
          </a:solidFill>
          <a:ln w="12700">
            <a:solidFill>
              <a:srgbClr val="A7C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5712" y="192938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951976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Verificar eficacia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87968" y="3246120"/>
            <a:ext cx="23774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84D"/>
                </a:solidFill>
              </a:rPr>
              <a:t>Confirmar que el control funciona y se mantiene.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43000" y="4800600"/>
            <a:ext cx="9921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2e+2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17320" y="5029200"/>
            <a:ext cx="937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Clave del Vigía SST: observar, escuchar, promover el reporte y hacer seguimiento a las medidas definidas.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E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Investigación: qué hacer cuando ocurre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586"/>
                </a:solidFill>
              </a:rPr>
              <a:t>La investigación debe ser oportuna, objetiva y orientada a las causas.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572768"/>
            <a:ext cx="10424160" cy="658368"/>
          </a:xfrm>
          <a:prstGeom prst="roundRect">
            <a:avLst/>
          </a:prstGeom>
          <a:solidFill>
            <a:srgbClr val="F3FAFC"/>
          </a:solidFill>
          <a:ln w="12700">
            <a:solidFill>
              <a:srgbClr val="D9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682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E6C"/>
                </a:solidFill>
              </a:rPr>
              <a:t>1. Atender y asegurar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456432" y="16733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Prestar atención inicial, controlar el área y evitar nuevos daños.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10424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532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E6C"/>
                </a:solidFill>
              </a:rPr>
              <a:t>2. Reportar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456432" y="25237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Activar el procedimiento interno y conservar la información del evento.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68680" y="3273552"/>
            <a:ext cx="10424160" cy="658368"/>
          </a:xfrm>
          <a:prstGeom prst="roundRect">
            <a:avLst/>
          </a:prstGeom>
          <a:solidFill>
            <a:srgbClr val="F3FAFC"/>
          </a:solidFill>
          <a:ln w="12700">
            <a:solidFill>
              <a:srgbClr val="D9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E6C"/>
                </a:solidFill>
              </a:rPr>
              <a:t>3. Recoger evidencias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456432" y="33741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Entrevistas, fotografías, documentos, inspección del lugar y otros soportes.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68680" y="4123944"/>
            <a:ext cx="10424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2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E6C"/>
                </a:solidFill>
              </a:rPr>
              <a:t>4. Analizar causas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456432" y="4224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Distinguir causas inmediatas y causas básicas.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868680" y="4974336"/>
            <a:ext cx="10424160" cy="658368"/>
          </a:xfrm>
          <a:prstGeom prst="roundRect">
            <a:avLst/>
          </a:prstGeom>
          <a:solidFill>
            <a:srgbClr val="F3FAFC"/>
          </a:solidFill>
          <a:ln w="12700">
            <a:solidFill>
              <a:srgbClr val="D9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5084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E6C"/>
                </a:solidFill>
              </a:rPr>
              <a:t>5. Definir acciones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56432" y="5074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Asignar responsable, fecha de cumplimiento y mecanismo de seguimiento.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960120" y="5989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F59"/>
                </a:solidFill>
              </a:rPr>
              <a:t>Plazo de investigación: dentro de los 15 días siguientes a la ocurrencia del incidente o accidente.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E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las causas a las acciones correctivas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586"/>
                </a:solidFill>
              </a:rPr>
              <a:t>Una buena acción correctiva elimina la causa, no solo el síntoma.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743200" cy="306324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2e+3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65376" y="1965960"/>
            <a:ext cx="658368" cy="658368"/>
          </a:xfrm>
          <a:prstGeom prst="ellipse">
            <a:avLst/>
          </a:prstGeom>
          <a:solidFill>
            <a:srgbClr val="E1A62B"/>
          </a:solidFill>
          <a:ln w="12700">
            <a:solidFill>
              <a:srgbClr val="E1A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206654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!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E6C"/>
                </a:solidFill>
              </a:rPr>
              <a:t>Causas inmediatas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291840"/>
            <a:ext cx="2103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Actos y condiciones inseguras observables justo antes del evento.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2743200" cy="30632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85816" y="196596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206654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E6C"/>
                </a:solidFill>
              </a:rPr>
              <a:t>Causas básicas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2103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Factores personales, del trabajo o de gestión que explican por qué existían esas condiciones.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2743200" cy="3063240"/>
          </a:xfrm>
          <a:prstGeom prst="roundRect">
            <a:avLst/>
          </a:prstGeom>
          <a:solidFill>
            <a:srgbClr val="EAF8EF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06256" y="1965960"/>
            <a:ext cx="658368" cy="658368"/>
          </a:xfrm>
          <a:prstGeom prst="ellipse">
            <a:avLst/>
          </a:prstGeom>
          <a:solidFill>
            <a:srgbClr val="A7CF3A"/>
          </a:solidFill>
          <a:ln w="12700">
            <a:solidFill>
              <a:srgbClr val="A7C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42832" y="206654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✓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09244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E6C"/>
                </a:solidFill>
              </a:rPr>
              <a:t>Acción correctiva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3291840"/>
            <a:ext cx="2103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20384D"/>
                </a:solidFill>
              </a:rPr>
              <a:t>Medida para eliminar la causa detectada, con responsable, plazo, evidencia y verificación de eficacia.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2331720" y="5166360"/>
            <a:ext cx="7589520" cy="475488"/>
          </a:xfrm>
          <a:prstGeom prst="roundRect">
            <a:avLst>
              <a:gd name="adj" fmla="val 15385"/>
            </a:avLst>
          </a:prstGeom>
          <a:solidFill>
            <a:srgbClr val="DFF5F8"/>
          </a:solidFill>
          <a:ln w="12700">
            <a:solidFill>
              <a:srgbClr val="DFF5F8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2e+4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41448" y="5257800"/>
            <a:ext cx="7370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6C"/>
                </a:solidFill>
              </a:rPr>
              <a:t>No basta con “capacitar”: la acción debe responder a la causa real identificada.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E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Evidencias de la capacitación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586"/>
                </a:solidFill>
              </a:rPr>
              <a:t>Conservar soportes facilita el seguimiento y la demostración del cumplimiento.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3317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2e+5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1328" y="201168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7904" y="211226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Asistencia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84D"/>
                </a:solidFill>
              </a:rPr>
              <a:t>Registro de participantes, fecha, tema y firma.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3611880" y="1737360"/>
            <a:ext cx="2331720" cy="3017520"/>
          </a:xfrm>
          <a:prstGeom prst="roundRect">
            <a:avLst/>
          </a:prstGeom>
          <a:solidFill>
            <a:srgbClr val="F3FAFC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201168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211226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84048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Evaluación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3337560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84D"/>
                </a:solidFill>
              </a:rPr>
              <a:t>Aplicar cuestionario PRE/POST o evaluación de conocimientos.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6583680" y="1737360"/>
            <a:ext cx="23317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24928" y="2011680"/>
            <a:ext cx="658368" cy="658368"/>
          </a:xfrm>
          <a:prstGeom prst="ellipse">
            <a:avLst/>
          </a:prstGeom>
          <a:solidFill>
            <a:srgbClr val="18AFC0"/>
          </a:solidFill>
          <a:ln w="12700">
            <a:solidFill>
              <a:srgbClr val="18A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211226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1228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Acta de capacitación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12280" y="3337560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84D"/>
                </a:solidFill>
              </a:rPr>
              <a:t>Dejar constancia del contenido, metodología y compromisos.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9555480" y="1737360"/>
            <a:ext cx="2331720" cy="3017520"/>
          </a:xfrm>
          <a:prstGeom prst="roundRect">
            <a:avLst/>
          </a:prstGeom>
          <a:solidFill>
            <a:srgbClr val="F3FAFC"/>
          </a:solidFill>
          <a:ln w="12700">
            <a:solidFill>
              <a:srgbClr val="D9E7ED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396728" y="2011680"/>
            <a:ext cx="658368" cy="658368"/>
          </a:xfrm>
          <a:prstGeom prst="ellipse">
            <a:avLst/>
          </a:prstGeom>
          <a:solidFill>
            <a:srgbClr val="A7CF3A"/>
          </a:solidFill>
          <a:ln w="12700">
            <a:solidFill>
              <a:srgbClr val="A7C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33304" y="2112264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78408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E6C"/>
                </a:solidFill>
              </a:rPr>
              <a:t>Seguimiento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84080" y="3337560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84D"/>
                </a:solidFill>
              </a:rPr>
              <a:t>Verificar acciones y conservar evidencias de cierre.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1828800" y="5166360"/>
            <a:ext cx="8503920" cy="685800"/>
          </a:xfrm>
          <a:prstGeom prst="roundRect">
            <a:avLst/>
          </a:prstGeom>
          <a:solidFill>
            <a:srgbClr val="173E6C"/>
          </a:solidFill>
          <a:ln w="12700">
            <a:solidFill>
              <a:srgbClr val="173E6C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57400" y="5376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Cierre: investigar para aprender, corregir para prevenir y verificar para mejorar.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Prevención e investigación de incidentes y accidentes de trabajo</dc:title>
  <dc:subject>Capacitación Vigía SST - prevención e investigación de incidentes y accidentes</dc:subject>
  <dc:creator>OpenAI</dc:creator>
  <cp:lastModifiedBy>OpenAI</cp:lastModifiedBy>
  <cp:revision>1</cp:revision>
  <dcterms:created xsi:type="dcterms:W3CDTF">2026-10-26T15:18:03Z</dcterms:created>
  <dcterms:modified xsi:type="dcterms:W3CDTF">2026-10-26T15:18:03Z</dcterms:modified>
</cp:coreProperties>
</file>