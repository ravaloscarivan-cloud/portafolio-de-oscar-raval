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300" y="-1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674419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Ministerio del Trabajo. SG-SST: marco general y objetivo. https://www.mintrabajo.gov.co/relaciones-laborales/riesgos-laborales/sistema-de-gestion-de-seguridad-y-salud-en-el-trabajo
- Resolución 0312 de 2019. Compilación jurídica MINTIC. https://normograma.mintic.gov.co/mintic/compilacion/docs/resolucion_mtra_0312_2019.htm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Ministerio del Trabajo. Definición y objetivo del SG-SST. https://www.mintrabajo.gov.co/relaciones-laborales/riesgos-laborales/sistema-de-gestion-de-seguridad-y-salud-en-el-trabajo
- Decreto 1072 de 2015, Libro 2, Parte 2, Título 4, Capítulo 6. Función Pública. https://www.funcionpublica.gov.co/eva/gestornormativo/norma.php?i=72173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Ministerio del Trabajo. SG-SST como proceso lógico y por etapas basado en mejora continua. https://www.mintrabajo.gov.co/relaciones-laborales/riesgos-laborales/sistema-de-gestion-de-seguridad-y-salud-en-el-trabajo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Decreto 1072 de 2015, Capítulo 6 del SG-SST. Función Pública. https://www.funcionpublica.gov.co/eva/gestornormativo/norma.php?i=72173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Resolución 0312 de 2019, arts. 1, 3, 8, 9 y 16. Compilación MINTIC. https://normograma.mintic.gov.co/mintic/compilacion/docs/resolucion_mtra_0312_2019.htm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Resolución 0312 de 2019. Tablas de criterios y modos de verificación de los Estándares Mínimos. Compilación MINTIC. https://normograma.mintic.gov.co/mintic/compilacion/docs/resolucion_mtra_0312_2019.htm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Resolución 0312 de 2019, arts. 26 y 28. Compilación MINTIC. https://normograma.mintic.gov.co/mintic/compilacion/docs/resolucion_mtra_0312_2019.htm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Resolución 0312 de 2019, criterios y modos de verificación; art. 30 indicadores mínimos. Compilación MINTIC. https://normograma.mintic.gov.co/mintic/compilacion/docs/resolucion_mtra_0312_2019.htm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Ministerio del Trabajo. SG-SST. https://www.mintrabajo.gov.co/relaciones-laborales/riesgos-laborales/sistema-de-gestion-de-seguridad-y-salud-en-el-trabajo
- Resolución 0312 de 2019, arts. 26 y 28. Compilación MINTIC. https://normograma.mintic.gov.co/mintic/compilacion/docs/resolucion_mtra_0312_2019.htm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ANIT">
    <p:bg>
      <p:bgPr>
        <a:solidFill>
          <a:srgbClr val="F7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8B9C9"/>
          </a:solidFill>
          <a:ln w="12700">
            <a:solidFill>
              <a:srgbClr val="58B9C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4D7A"/>
          </a:solidFill>
          <a:ln w="12700">
            <a:solidFill>
              <a:srgbClr val="1E4D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92824"/>
            <a:ext cx="5943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SanitHelp • Seguridad y Salud en el Trabajo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92824"/>
            <a:ext cx="32004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92824"/>
            <a:ext cx="32004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653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mnt/data/sgsst_deck/sanithelp_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133" y="566928"/>
            <a:ext cx="1611269" cy="12344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58368" y="1874520"/>
            <a:ext cx="5669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4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Fundamentos del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1E4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SG-SST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676656" y="30632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58B9C9"/>
                </a:solidFill>
              </a:rPr>
              <a:t>y estándares mínimos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85800" y="36576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D679C"/>
                </a:solidFill>
              </a:rPr>
              <a:t>Resolución 0312 de 2019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85800" y="409651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D7282"/>
                </a:solidFill>
              </a:rPr>
              <a:t>Capacitación para colaboradores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583680" y="1280160"/>
            <a:ext cx="4663440" cy="4160520"/>
          </a:xfrm>
          <a:prstGeom prst="roundRect">
            <a:avLst>
              <a:gd name="adj" fmla="val 1758"/>
            </a:avLst>
          </a:prstGeom>
          <a:solidFill>
            <a:srgbClr val="F6FBFD"/>
          </a:solidFill>
          <a:ln w="12700">
            <a:solidFill>
              <a:srgbClr val="DDECF1"/>
            </a:solidFill>
            <a:prstDash val="solid"/>
          </a:ln>
          <a:effectLst>
            <a:outerShdw blurRad="19050" dist="127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635240" y="1874520"/>
            <a:ext cx="2240280" cy="2468880"/>
          </a:xfrm>
          <a:prstGeom prst="hexagon">
            <a:avLst/>
          </a:prstGeom>
          <a:solidFill>
            <a:srgbClr val="1E4D7A"/>
          </a:solidFill>
          <a:ln w="12700">
            <a:solidFill>
              <a:srgbClr val="1E4D7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001000" y="242316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</a:rPr>
              <a:t>✓</a:t>
            </a:r>
            <a:endParaRPr lang="en-US" sz="4800" dirty="0"/>
          </a:p>
        </p:txBody>
      </p:sp>
      <p:sp>
        <p:nvSpPr>
          <p:cNvPr id="11" name="Text 8"/>
          <p:cNvSpPr/>
          <p:nvPr/>
        </p:nvSpPr>
        <p:spPr>
          <a:xfrm>
            <a:off x="7086600" y="4617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D679C"/>
                </a:solidFill>
              </a:rPr>
              <a:t>Prevenir • Proteger • Mejorar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995160" y="50292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D7282"/>
                </a:solidFill>
              </a:rPr>
              <a:t>Un sistema vivo, basado en la mejora continua.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92824"/>
            <a:ext cx="32004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sgsst_deck/sanithelp_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050" y="256032"/>
            <a:ext cx="1074179" cy="822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920240" y="301752"/>
            <a:ext cx="9464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E4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Objetivos de la capacitación</a:t>
            </a:r>
            <a:endParaRPr lang="en-US" sz="2300" dirty="0"/>
          </a:p>
        </p:txBody>
      </p:sp>
      <p:sp>
        <p:nvSpPr>
          <p:cNvPr id="4" name="Text 1"/>
          <p:cNvSpPr/>
          <p:nvPr/>
        </p:nvSpPr>
        <p:spPr>
          <a:xfrm>
            <a:off x="1938528" y="758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7282"/>
                </a:solidFill>
              </a:rPr>
              <a:t>Al finalizar, cada colaborador podrá reconocer su papel dentro del SG-SST.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1920240" y="1060704"/>
            <a:ext cx="9555480" cy="0"/>
          </a:xfrm>
          <a:prstGeom prst="line">
            <a:avLst/>
          </a:prstGeom>
          <a:noFill/>
          <a:ln w="16510">
            <a:solidFill>
              <a:srgbClr val="58B9C9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85800" y="1508760"/>
            <a:ext cx="507492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CE8EE"/>
            </a:solidFill>
            <a:prstDash val="solid"/>
          </a:ln>
          <a:effectLst>
            <a:outerShdw blurRad="241935000" dist="161290000" algn="bl" rotWithShape="0">
              <a:srgbClr val="000000">
                <a:alpha val="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960120" y="1856232"/>
            <a:ext cx="420624" cy="420624"/>
          </a:xfrm>
          <a:prstGeom prst="ellipse">
            <a:avLst/>
          </a:prstGeom>
          <a:solidFill>
            <a:srgbClr val="58B9C9"/>
          </a:solidFill>
          <a:ln w="12700">
            <a:solidFill>
              <a:srgbClr val="58B9C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60120" y="1906524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600200" y="1737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4D7A"/>
                </a:solidFill>
              </a:rPr>
              <a:t>Comprender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600200" y="2121408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7282"/>
                </a:solidFill>
              </a:rPr>
              <a:t>qué es el SG-SST y por qué protege la salud, la seguridad y el bienestar.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309360" y="1508760"/>
            <a:ext cx="5074920" cy="1600200"/>
          </a:xfrm>
          <a:prstGeom prst="roundRect">
            <a:avLst>
              <a:gd name="adj" fmla="val 4571"/>
            </a:avLst>
          </a:prstGeom>
          <a:solidFill>
            <a:srgbClr val="F8FCFD"/>
          </a:solidFill>
          <a:ln w="12700">
            <a:solidFill>
              <a:srgbClr val="DCE8E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583680" y="1856232"/>
            <a:ext cx="420624" cy="420624"/>
          </a:xfrm>
          <a:prstGeom prst="ellipse">
            <a:avLst/>
          </a:prstGeom>
          <a:solidFill>
            <a:srgbClr val="4D679C"/>
          </a:solidFill>
          <a:ln w="12700">
            <a:solidFill>
              <a:srgbClr val="4D679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583680" y="1906524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223760" y="1737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4D7A"/>
                </a:solidFill>
              </a:rPr>
              <a:t>Relacionar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7223760" y="2121408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7282"/>
                </a:solidFill>
              </a:rPr>
              <a:t>el ciclo PHVA con la gestión diaria de riesgos y controles.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85800" y="3566160"/>
            <a:ext cx="507492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CE8E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960120" y="3913632"/>
            <a:ext cx="420624" cy="420624"/>
          </a:xfrm>
          <a:prstGeom prst="ellipse">
            <a:avLst/>
          </a:prstGeom>
          <a:solidFill>
            <a:srgbClr val="58B9C9"/>
          </a:solidFill>
          <a:ln w="12700">
            <a:solidFill>
              <a:srgbClr val="58B9C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60120" y="3963924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600200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4D7A"/>
                </a:solidFill>
              </a:rPr>
              <a:t>Identificar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1600200" y="4178808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7282"/>
                </a:solidFill>
              </a:rPr>
              <a:t>qué exigen los Estándares Mínimos de la Resolución 0312 de 2019.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309360" y="3566160"/>
            <a:ext cx="5074920" cy="1600200"/>
          </a:xfrm>
          <a:prstGeom prst="roundRect">
            <a:avLst>
              <a:gd name="adj" fmla="val 4571"/>
            </a:avLst>
          </a:prstGeom>
          <a:solidFill>
            <a:srgbClr val="F8FCFD"/>
          </a:solidFill>
          <a:ln w="12700">
            <a:solidFill>
              <a:srgbClr val="DCE8E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583680" y="3913632"/>
            <a:ext cx="420624" cy="420624"/>
          </a:xfrm>
          <a:prstGeom prst="ellipse">
            <a:avLst/>
          </a:prstGeom>
          <a:solidFill>
            <a:srgbClr val="4D679C"/>
          </a:solidFill>
          <a:ln w="12700">
            <a:solidFill>
              <a:srgbClr val="4D679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583680" y="3963924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7223760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4D7A"/>
                </a:solidFill>
              </a:rPr>
              <a:t>Participar</a:t>
            </a:r>
            <a:endParaRPr lang="en-US" sz="1700" dirty="0"/>
          </a:p>
        </p:txBody>
      </p:sp>
      <p:sp>
        <p:nvSpPr>
          <p:cNvPr id="25" name="Text 22"/>
          <p:cNvSpPr/>
          <p:nvPr/>
        </p:nvSpPr>
        <p:spPr>
          <a:xfrm>
            <a:off x="7223760" y="4178808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7282"/>
                </a:solidFill>
              </a:rPr>
              <a:t>reportando peligros, incidentes y oportunidades de mejora.</a:t>
            </a:r>
            <a:endParaRPr lang="en-US" sz="12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92824"/>
            <a:ext cx="32004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sgsst_deck/sanithelp_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050" y="256032"/>
            <a:ext cx="1074179" cy="822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920240" y="301752"/>
            <a:ext cx="9464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E4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¿Qué es el SG-SST?</a:t>
            </a:r>
            <a:endParaRPr lang="en-US" sz="2300" dirty="0"/>
          </a:p>
        </p:txBody>
      </p:sp>
      <p:sp>
        <p:nvSpPr>
          <p:cNvPr id="4" name="Text 1"/>
          <p:cNvSpPr/>
          <p:nvPr/>
        </p:nvSpPr>
        <p:spPr>
          <a:xfrm>
            <a:off x="1938528" y="758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7282"/>
                </a:solidFill>
              </a:rPr>
              <a:t>Sistema de Gestión de Seguridad y Salud en el Trabajo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1920240" y="1060704"/>
            <a:ext cx="9555480" cy="0"/>
          </a:xfrm>
          <a:prstGeom prst="line">
            <a:avLst/>
          </a:prstGeom>
          <a:noFill/>
          <a:ln w="16510">
            <a:solidFill>
              <a:srgbClr val="58B9C9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40080" y="1417320"/>
            <a:ext cx="493776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CE8E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960120" y="178308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4D7A"/>
                </a:solidFill>
              </a:rPr>
              <a:t>Es un proceso lógico y por etapas, basado en la mejora continua.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960120" y="2743200"/>
            <a:ext cx="4297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D7282"/>
                </a:solidFill>
              </a:rPr>
              <a:t>Integra política, organización, planificación, aplicación, evaluación, auditoría y acciones de mejora para anticipar, reconocer, evaluar y controlar los riesgos que puedan afectar la seguridad y salud en el trabajo.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960120" y="4709160"/>
            <a:ext cx="2331720" cy="329184"/>
          </a:xfrm>
          <a:prstGeom prst="roundRect">
            <a:avLst>
              <a:gd name="adj" fmla="val 22222"/>
            </a:avLst>
          </a:prstGeom>
          <a:solidFill>
            <a:srgbClr val="58B9C9"/>
          </a:solidFill>
          <a:ln w="12700">
            <a:solidFill>
              <a:srgbClr val="58B9C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33272" y="4764024"/>
            <a:ext cx="2185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OBJETIVO: PREVENCIÓN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456432" y="4709160"/>
            <a:ext cx="1828800" cy="329184"/>
          </a:xfrm>
          <a:prstGeom prst="roundRect">
            <a:avLst>
              <a:gd name="adj" fmla="val 22222"/>
            </a:avLst>
          </a:prstGeom>
          <a:solidFill>
            <a:srgbClr val="4D679C"/>
          </a:solidFill>
          <a:ln w="12700">
            <a:solidFill>
              <a:srgbClr val="4D679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529584" y="4764024"/>
            <a:ext cx="1682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MEJORA CONTINUA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6126480" y="15087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4D7A"/>
                </a:solidFill>
              </a:rPr>
              <a:t>En la práctica significa: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6217920" y="2057400"/>
            <a:ext cx="4663440" cy="566928"/>
          </a:xfrm>
          <a:prstGeom prst="roundRect">
            <a:avLst>
              <a:gd name="adj" fmla="val 9677"/>
            </a:avLst>
          </a:prstGeom>
          <a:solidFill>
            <a:srgbClr val="DFF4F6"/>
          </a:solidFill>
          <a:ln w="12700">
            <a:solidFill>
              <a:srgbClr val="D7E8EE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400800" y="2130552"/>
            <a:ext cx="420624" cy="420624"/>
          </a:xfrm>
          <a:prstGeom prst="ellipse">
            <a:avLst/>
          </a:prstGeom>
          <a:solidFill>
            <a:srgbClr val="58B9C9"/>
          </a:solidFill>
          <a:ln w="12700">
            <a:solidFill>
              <a:srgbClr val="58B9C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00800" y="2180844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7040880" y="220370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83044"/>
                </a:solidFill>
              </a:rPr>
              <a:t>Identificar peligros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217920" y="2834640"/>
            <a:ext cx="4663440" cy="566928"/>
          </a:xfrm>
          <a:prstGeom prst="roundRect">
            <a:avLst>
              <a:gd name="adj" fmla="val 9677"/>
            </a:avLst>
          </a:prstGeom>
          <a:solidFill>
            <a:srgbClr val="EAF1F8"/>
          </a:solidFill>
          <a:ln w="12700">
            <a:solidFill>
              <a:srgbClr val="D7E8EE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400800" y="2907792"/>
            <a:ext cx="420624" cy="420624"/>
          </a:xfrm>
          <a:prstGeom prst="ellipse">
            <a:avLst/>
          </a:prstGeom>
          <a:solidFill>
            <a:srgbClr val="4D679C"/>
          </a:solidFill>
          <a:ln w="12700">
            <a:solidFill>
              <a:srgbClr val="4D679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00800" y="2958084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7040880" y="298094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83044"/>
                </a:solidFill>
              </a:rPr>
              <a:t>Evaluar riesgos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6217920" y="3611880"/>
            <a:ext cx="4663440" cy="566928"/>
          </a:xfrm>
          <a:prstGeom prst="roundRect">
            <a:avLst>
              <a:gd name="adj" fmla="val 9677"/>
            </a:avLst>
          </a:prstGeom>
          <a:solidFill>
            <a:srgbClr val="DFF4F6"/>
          </a:solidFill>
          <a:ln w="12700">
            <a:solidFill>
              <a:srgbClr val="D7E8EE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400800" y="3685032"/>
            <a:ext cx="420624" cy="420624"/>
          </a:xfrm>
          <a:prstGeom prst="ellipse">
            <a:avLst/>
          </a:prstGeom>
          <a:solidFill>
            <a:srgbClr val="58B9C9"/>
          </a:solidFill>
          <a:ln w="12700">
            <a:solidFill>
              <a:srgbClr val="58B9C9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400800" y="3735324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7040880" y="375818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83044"/>
                </a:solidFill>
              </a:rPr>
              <a:t>Implementar controles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6217920" y="4389120"/>
            <a:ext cx="4663440" cy="566928"/>
          </a:xfrm>
          <a:prstGeom prst="roundRect">
            <a:avLst>
              <a:gd name="adj" fmla="val 9677"/>
            </a:avLst>
          </a:prstGeom>
          <a:solidFill>
            <a:srgbClr val="EAF1F8"/>
          </a:solidFill>
          <a:ln w="12700">
            <a:solidFill>
              <a:srgbClr val="D7E8EE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400800" y="4462272"/>
            <a:ext cx="420624" cy="420624"/>
          </a:xfrm>
          <a:prstGeom prst="ellipse">
            <a:avLst/>
          </a:prstGeom>
          <a:solidFill>
            <a:srgbClr val="4D679C"/>
          </a:solidFill>
          <a:ln w="12700">
            <a:solidFill>
              <a:srgbClr val="4D679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400800" y="4512564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7040880" y="453542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83044"/>
                </a:solidFill>
              </a:rPr>
              <a:t>Verificar y mejorar</a:t>
            </a:r>
            <a:endParaRPr lang="en-US" sz="14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92824"/>
            <a:ext cx="32004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sgsst_deck/sanithelp_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050" y="256032"/>
            <a:ext cx="1074179" cy="822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920240" y="301752"/>
            <a:ext cx="9464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E4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Ciclo PHVA: así funciona el SG-SST</a:t>
            </a:r>
            <a:endParaRPr lang="en-US" sz="2300" dirty="0"/>
          </a:p>
        </p:txBody>
      </p:sp>
      <p:sp>
        <p:nvSpPr>
          <p:cNvPr id="4" name="Text 1"/>
          <p:cNvSpPr/>
          <p:nvPr/>
        </p:nvSpPr>
        <p:spPr>
          <a:xfrm>
            <a:off x="1938528" y="758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7282"/>
                </a:solidFill>
              </a:rPr>
              <a:t>Planear • Hacer • Verificar • Actuar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1920240" y="1060704"/>
            <a:ext cx="9555480" cy="0"/>
          </a:xfrm>
          <a:prstGeom prst="line">
            <a:avLst/>
          </a:prstGeom>
          <a:noFill/>
          <a:ln w="16510">
            <a:solidFill>
              <a:srgbClr val="58B9C9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14400" y="1645920"/>
            <a:ext cx="4663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DE8E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170432" y="1975104"/>
            <a:ext cx="713232" cy="713232"/>
          </a:xfrm>
          <a:prstGeom prst="ellipse">
            <a:avLst/>
          </a:prstGeom>
          <a:solidFill>
            <a:srgbClr val="4D679C"/>
          </a:solidFill>
          <a:ln w="12700">
            <a:solidFill>
              <a:srgbClr val="4D679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70432" y="2148840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2084832" y="19019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D679C"/>
                </a:solidFill>
              </a:rPr>
              <a:t>PLANEAR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2084832" y="2286000"/>
            <a:ext cx="3154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5D7282"/>
                </a:solidFill>
              </a:rPr>
              <a:t>Diagnosticar, priorizar riesgos y definir objetivos / plan anual.</a:t>
            </a:r>
            <a:endParaRPr lang="en-US" sz="1130" dirty="0"/>
          </a:p>
        </p:txBody>
      </p:sp>
      <p:sp>
        <p:nvSpPr>
          <p:cNvPr id="11" name="Shape 8"/>
          <p:cNvSpPr/>
          <p:nvPr/>
        </p:nvSpPr>
        <p:spPr>
          <a:xfrm>
            <a:off x="6583680" y="1645920"/>
            <a:ext cx="4663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DE8E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839712" y="1975104"/>
            <a:ext cx="713232" cy="713232"/>
          </a:xfrm>
          <a:prstGeom prst="ellipse">
            <a:avLst/>
          </a:prstGeom>
          <a:solidFill>
            <a:srgbClr val="58B9C9"/>
          </a:solidFill>
          <a:ln w="12700">
            <a:solidFill>
              <a:srgbClr val="58B9C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839712" y="2148840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7754112" y="19019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58B9C9"/>
                </a:solidFill>
              </a:rPr>
              <a:t>HACER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7754112" y="2286000"/>
            <a:ext cx="3154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5D7282"/>
                </a:solidFill>
              </a:rPr>
              <a:t>Ejecutar controles, capacitaciones, inspecciones y actividades.</a:t>
            </a:r>
            <a:endParaRPr lang="en-US" sz="1130" dirty="0"/>
          </a:p>
        </p:txBody>
      </p:sp>
      <p:sp>
        <p:nvSpPr>
          <p:cNvPr id="16" name="Shape 13"/>
          <p:cNvSpPr/>
          <p:nvPr/>
        </p:nvSpPr>
        <p:spPr>
          <a:xfrm>
            <a:off x="6583680" y="3886200"/>
            <a:ext cx="4663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DE8E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839712" y="4215384"/>
            <a:ext cx="713232" cy="713232"/>
          </a:xfrm>
          <a:prstGeom prst="ellipse">
            <a:avLst/>
          </a:prstGeom>
          <a:solidFill>
            <a:srgbClr val="1E4D7A"/>
          </a:solidFill>
          <a:ln w="12700">
            <a:solidFill>
              <a:srgbClr val="1E4D7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839712" y="4389120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7754112" y="41422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4D7A"/>
                </a:solidFill>
              </a:rPr>
              <a:t>VERIFICAR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7754112" y="4526280"/>
            <a:ext cx="3154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5D7282"/>
                </a:solidFill>
              </a:rPr>
              <a:t>Medir indicadores, investigar eventos, auditar y evaluar.</a:t>
            </a:r>
            <a:endParaRPr lang="en-US" sz="1130" dirty="0"/>
          </a:p>
        </p:txBody>
      </p:sp>
      <p:sp>
        <p:nvSpPr>
          <p:cNvPr id="21" name="Shape 18"/>
          <p:cNvSpPr/>
          <p:nvPr/>
        </p:nvSpPr>
        <p:spPr>
          <a:xfrm>
            <a:off x="914400" y="3886200"/>
            <a:ext cx="4663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DE8E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1170432" y="4215384"/>
            <a:ext cx="713232" cy="713232"/>
          </a:xfrm>
          <a:prstGeom prst="ellipse">
            <a:avLst/>
          </a:prstGeom>
          <a:solidFill>
            <a:srgbClr val="6E8FB5"/>
          </a:solidFill>
          <a:ln w="12700">
            <a:solidFill>
              <a:srgbClr val="6E8FB5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170432" y="4389120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2084832" y="41422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E8FB5"/>
                </a:solidFill>
              </a:rPr>
              <a:t>ACTUAR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2084832" y="4526280"/>
            <a:ext cx="3154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5D7282"/>
                </a:solidFill>
              </a:rPr>
              <a:t>Corregir, prevenir recurrencias y fortalecer el sistema.</a:t>
            </a:r>
            <a:endParaRPr lang="en-US" sz="113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92824"/>
            <a:ext cx="32004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sgsst_deck/sanithelp_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050" y="256032"/>
            <a:ext cx="1074179" cy="822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920240" y="301752"/>
            <a:ext cx="9464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E4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Responsabilidades: el SG-SST es de todos</a:t>
            </a:r>
            <a:endParaRPr lang="en-US" sz="2300" dirty="0"/>
          </a:p>
        </p:txBody>
      </p:sp>
      <p:sp>
        <p:nvSpPr>
          <p:cNvPr id="4" name="Text 1"/>
          <p:cNvSpPr/>
          <p:nvPr/>
        </p:nvSpPr>
        <p:spPr>
          <a:xfrm>
            <a:off x="1938528" y="758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7282"/>
                </a:solidFill>
              </a:rPr>
              <a:t>La empresa lidera el sistema; cada persona participa activamente en la prevención.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1920240" y="1060704"/>
            <a:ext cx="9555480" cy="0"/>
          </a:xfrm>
          <a:prstGeom prst="line">
            <a:avLst/>
          </a:prstGeom>
          <a:noFill/>
          <a:ln w="16510">
            <a:solidFill>
              <a:srgbClr val="58B9C9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40080" y="1463040"/>
            <a:ext cx="3200400" cy="452628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DCE8E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40080" y="1463040"/>
            <a:ext cx="3200400" cy="640080"/>
          </a:xfrm>
          <a:prstGeom prst="roundRect">
            <a:avLst>
              <a:gd name="adj" fmla="val 7143"/>
            </a:avLst>
          </a:prstGeom>
          <a:solidFill>
            <a:srgbClr val="1E4D7A"/>
          </a:solidFill>
          <a:ln w="12700">
            <a:solidFill>
              <a:srgbClr val="1E4D7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04672" y="1664208"/>
            <a:ext cx="2852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Empleador / dirección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96112" y="2423160"/>
            <a:ext cx="219456" cy="219456"/>
          </a:xfrm>
          <a:prstGeom prst="ellipse">
            <a:avLst/>
          </a:prstGeom>
          <a:solidFill>
            <a:srgbClr val="1E4D7A"/>
          </a:solidFill>
          <a:ln w="12700">
            <a:solidFill>
              <a:srgbClr val="1E4D7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96112" y="2441448"/>
            <a:ext cx="219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234440" y="23317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5D7282"/>
                </a:solidFill>
              </a:rPr>
              <a:t>Definir política, objetivos y recursos.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896112" y="3172968"/>
            <a:ext cx="219456" cy="219456"/>
          </a:xfrm>
          <a:prstGeom prst="ellipse">
            <a:avLst/>
          </a:prstGeom>
          <a:solidFill>
            <a:srgbClr val="1E4D7A"/>
          </a:solidFill>
          <a:ln w="12700">
            <a:solidFill>
              <a:srgbClr val="1E4D7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96112" y="3191256"/>
            <a:ext cx="219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234440" y="308152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5D7282"/>
                </a:solidFill>
              </a:rPr>
              <a:t>Asignar responsabilidades.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96112" y="3922776"/>
            <a:ext cx="219456" cy="219456"/>
          </a:xfrm>
          <a:prstGeom prst="ellipse">
            <a:avLst/>
          </a:prstGeom>
          <a:solidFill>
            <a:srgbClr val="1E4D7A"/>
          </a:solidFill>
          <a:ln w="12700">
            <a:solidFill>
              <a:srgbClr val="1E4D7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96112" y="3941064"/>
            <a:ext cx="219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234440" y="3831336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5D7282"/>
                </a:solidFill>
              </a:rPr>
              <a:t>Garantizar la gestión de peligros y riesgos.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896112" y="4672584"/>
            <a:ext cx="219456" cy="219456"/>
          </a:xfrm>
          <a:prstGeom prst="ellipse">
            <a:avLst/>
          </a:prstGeom>
          <a:solidFill>
            <a:srgbClr val="1E4D7A"/>
          </a:solidFill>
          <a:ln w="12700">
            <a:solidFill>
              <a:srgbClr val="1E4D7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96112" y="4690872"/>
            <a:ext cx="219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234440" y="4581144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5D7282"/>
                </a:solidFill>
              </a:rPr>
              <a:t>Revisar el desempeño y promover mejora.</a:t>
            </a:r>
            <a:endParaRPr lang="en-US" sz="1120" dirty="0"/>
          </a:p>
        </p:txBody>
      </p:sp>
      <p:sp>
        <p:nvSpPr>
          <p:cNvPr id="21" name="Shape 18"/>
          <p:cNvSpPr/>
          <p:nvPr/>
        </p:nvSpPr>
        <p:spPr>
          <a:xfrm>
            <a:off x="4160520" y="1463040"/>
            <a:ext cx="3200400" cy="452628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DCE8E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160520" y="1463040"/>
            <a:ext cx="3200400" cy="640080"/>
          </a:xfrm>
          <a:prstGeom prst="roundRect">
            <a:avLst>
              <a:gd name="adj" fmla="val 7143"/>
            </a:avLst>
          </a:prstGeom>
          <a:solidFill>
            <a:srgbClr val="58B9C9"/>
          </a:solidFill>
          <a:ln w="12700">
            <a:solidFill>
              <a:srgbClr val="58B9C9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325112" y="1664208"/>
            <a:ext cx="2852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Responsable de SST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4416552" y="2423160"/>
            <a:ext cx="219456" cy="219456"/>
          </a:xfrm>
          <a:prstGeom prst="ellipse">
            <a:avLst/>
          </a:prstGeom>
          <a:solidFill>
            <a:srgbClr val="58B9C9"/>
          </a:solidFill>
          <a:ln w="12700">
            <a:solidFill>
              <a:srgbClr val="58B9C9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416552" y="2441448"/>
            <a:ext cx="219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4754880" y="23317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5D7282"/>
                </a:solidFill>
              </a:rPr>
              <a:t>Coordinar la implementación.</a:t>
            </a:r>
            <a:endParaRPr lang="en-US" sz="1120" dirty="0"/>
          </a:p>
        </p:txBody>
      </p:sp>
      <p:sp>
        <p:nvSpPr>
          <p:cNvPr id="27" name="Shape 24"/>
          <p:cNvSpPr/>
          <p:nvPr/>
        </p:nvSpPr>
        <p:spPr>
          <a:xfrm>
            <a:off x="4416552" y="3172968"/>
            <a:ext cx="219456" cy="219456"/>
          </a:xfrm>
          <a:prstGeom prst="ellipse">
            <a:avLst/>
          </a:prstGeom>
          <a:solidFill>
            <a:srgbClr val="58B9C9"/>
          </a:solidFill>
          <a:ln w="12700">
            <a:solidFill>
              <a:srgbClr val="58B9C9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416552" y="3191256"/>
            <a:ext cx="219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4754880" y="308152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5D7282"/>
                </a:solidFill>
              </a:rPr>
              <a:t>Acompañar identificación y control de riesgos.</a:t>
            </a:r>
            <a:endParaRPr lang="en-US" sz="1120" dirty="0"/>
          </a:p>
        </p:txBody>
      </p:sp>
      <p:sp>
        <p:nvSpPr>
          <p:cNvPr id="30" name="Shape 27"/>
          <p:cNvSpPr/>
          <p:nvPr/>
        </p:nvSpPr>
        <p:spPr>
          <a:xfrm>
            <a:off x="4416552" y="3922776"/>
            <a:ext cx="219456" cy="219456"/>
          </a:xfrm>
          <a:prstGeom prst="ellipse">
            <a:avLst/>
          </a:prstGeom>
          <a:solidFill>
            <a:srgbClr val="58B9C9"/>
          </a:solidFill>
          <a:ln w="12700">
            <a:solidFill>
              <a:srgbClr val="58B9C9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416552" y="3941064"/>
            <a:ext cx="219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4754880" y="3831336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5D7282"/>
                </a:solidFill>
              </a:rPr>
              <a:t>Gestionar registros, indicadores y evidencias.</a:t>
            </a:r>
            <a:endParaRPr lang="en-US" sz="1120" dirty="0"/>
          </a:p>
        </p:txBody>
      </p:sp>
      <p:sp>
        <p:nvSpPr>
          <p:cNvPr id="33" name="Shape 30"/>
          <p:cNvSpPr/>
          <p:nvPr/>
        </p:nvSpPr>
        <p:spPr>
          <a:xfrm>
            <a:off x="4416552" y="4672584"/>
            <a:ext cx="219456" cy="219456"/>
          </a:xfrm>
          <a:prstGeom prst="ellipse">
            <a:avLst/>
          </a:prstGeom>
          <a:solidFill>
            <a:srgbClr val="58B9C9"/>
          </a:solidFill>
          <a:ln w="12700">
            <a:solidFill>
              <a:srgbClr val="58B9C9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416552" y="4690872"/>
            <a:ext cx="219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4754880" y="4581144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5D7282"/>
                </a:solidFill>
              </a:rPr>
              <a:t>Promover capacitación y seguimiento.</a:t>
            </a:r>
            <a:endParaRPr lang="en-US" sz="1120" dirty="0"/>
          </a:p>
        </p:txBody>
      </p:sp>
      <p:sp>
        <p:nvSpPr>
          <p:cNvPr id="36" name="Shape 33"/>
          <p:cNvSpPr/>
          <p:nvPr/>
        </p:nvSpPr>
        <p:spPr>
          <a:xfrm>
            <a:off x="7680960" y="1463040"/>
            <a:ext cx="3200400" cy="452628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DCE8E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7680960" y="1463040"/>
            <a:ext cx="3200400" cy="640080"/>
          </a:xfrm>
          <a:prstGeom prst="roundRect">
            <a:avLst>
              <a:gd name="adj" fmla="val 7143"/>
            </a:avLst>
          </a:prstGeom>
          <a:solidFill>
            <a:srgbClr val="4D679C"/>
          </a:solidFill>
          <a:ln w="12700">
            <a:solidFill>
              <a:srgbClr val="4D679C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7845552" y="1664208"/>
            <a:ext cx="2852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Trabajadores</a:t>
            </a:r>
            <a:endParaRPr lang="en-US" sz="1500" dirty="0"/>
          </a:p>
        </p:txBody>
      </p:sp>
      <p:sp>
        <p:nvSpPr>
          <p:cNvPr id="39" name="Shape 36"/>
          <p:cNvSpPr/>
          <p:nvPr/>
        </p:nvSpPr>
        <p:spPr>
          <a:xfrm>
            <a:off x="7936992" y="2423160"/>
            <a:ext cx="219456" cy="219456"/>
          </a:xfrm>
          <a:prstGeom prst="ellipse">
            <a:avLst/>
          </a:prstGeom>
          <a:solidFill>
            <a:srgbClr val="4D679C"/>
          </a:solidFill>
          <a:ln w="12700">
            <a:solidFill>
              <a:srgbClr val="4D679C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936992" y="2441448"/>
            <a:ext cx="219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8275320" y="23317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5D7282"/>
                </a:solidFill>
              </a:rPr>
              <a:t>Cumplir medidas de seguridad.</a:t>
            </a:r>
            <a:endParaRPr lang="en-US" sz="1120" dirty="0"/>
          </a:p>
        </p:txBody>
      </p:sp>
      <p:sp>
        <p:nvSpPr>
          <p:cNvPr id="42" name="Shape 39"/>
          <p:cNvSpPr/>
          <p:nvPr/>
        </p:nvSpPr>
        <p:spPr>
          <a:xfrm>
            <a:off x="7936992" y="3172968"/>
            <a:ext cx="219456" cy="219456"/>
          </a:xfrm>
          <a:prstGeom prst="ellipse">
            <a:avLst/>
          </a:prstGeom>
          <a:solidFill>
            <a:srgbClr val="4D679C"/>
          </a:solidFill>
          <a:ln w="12700">
            <a:solidFill>
              <a:srgbClr val="4D679C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7936992" y="3191256"/>
            <a:ext cx="219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8275320" y="308152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5D7282"/>
                </a:solidFill>
              </a:rPr>
              <a:t>Informar peligros, incidentes y condiciones inseguras.</a:t>
            </a:r>
            <a:endParaRPr lang="en-US" sz="1120" dirty="0"/>
          </a:p>
        </p:txBody>
      </p:sp>
      <p:sp>
        <p:nvSpPr>
          <p:cNvPr id="45" name="Shape 42"/>
          <p:cNvSpPr/>
          <p:nvPr/>
        </p:nvSpPr>
        <p:spPr>
          <a:xfrm>
            <a:off x="7936992" y="3922776"/>
            <a:ext cx="219456" cy="219456"/>
          </a:xfrm>
          <a:prstGeom prst="ellipse">
            <a:avLst/>
          </a:prstGeom>
          <a:solidFill>
            <a:srgbClr val="4D679C"/>
          </a:solidFill>
          <a:ln w="12700">
            <a:solidFill>
              <a:srgbClr val="4D679C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7936992" y="3941064"/>
            <a:ext cx="219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8275320" y="3831336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5D7282"/>
                </a:solidFill>
              </a:rPr>
              <a:t>Participar en capacitaciones.</a:t>
            </a:r>
            <a:endParaRPr lang="en-US" sz="1120" dirty="0"/>
          </a:p>
        </p:txBody>
      </p:sp>
      <p:sp>
        <p:nvSpPr>
          <p:cNvPr id="48" name="Shape 45"/>
          <p:cNvSpPr/>
          <p:nvPr/>
        </p:nvSpPr>
        <p:spPr>
          <a:xfrm>
            <a:off x="7936992" y="4672584"/>
            <a:ext cx="219456" cy="219456"/>
          </a:xfrm>
          <a:prstGeom prst="ellipse">
            <a:avLst/>
          </a:prstGeom>
          <a:solidFill>
            <a:srgbClr val="4D679C"/>
          </a:solidFill>
          <a:ln w="12700">
            <a:solidFill>
              <a:srgbClr val="4D679C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7936992" y="4690872"/>
            <a:ext cx="219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50" name="Text 47"/>
          <p:cNvSpPr/>
          <p:nvPr/>
        </p:nvSpPr>
        <p:spPr>
          <a:xfrm>
            <a:off x="8275320" y="4581144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5D7282"/>
                </a:solidFill>
              </a:rPr>
              <a:t>Cuidar su salud y la de los demás.</a:t>
            </a:r>
            <a:endParaRPr lang="en-US" sz="1120" dirty="0"/>
          </a:p>
        </p:txBody>
      </p:sp>
      <p:sp>
        <p:nvSpPr>
          <p:cNvPr id="5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92824"/>
            <a:ext cx="32004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sgsst_deck/sanithelp_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050" y="256032"/>
            <a:ext cx="1074179" cy="822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920240" y="301752"/>
            <a:ext cx="9464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E4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Resolución 0312 de 2019</a:t>
            </a:r>
            <a:endParaRPr lang="en-US" sz="2300" dirty="0"/>
          </a:p>
        </p:txBody>
      </p:sp>
      <p:sp>
        <p:nvSpPr>
          <p:cNvPr id="4" name="Text 1"/>
          <p:cNvSpPr/>
          <p:nvPr/>
        </p:nvSpPr>
        <p:spPr>
          <a:xfrm>
            <a:off x="1938528" y="758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7282"/>
                </a:solidFill>
              </a:rPr>
              <a:t>Define los Estándares Mínimos del SG-SST que deben cumplir empleadores y contratantes.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1920240" y="1060704"/>
            <a:ext cx="9555480" cy="0"/>
          </a:xfrm>
          <a:prstGeom prst="line">
            <a:avLst/>
          </a:prstGeom>
          <a:noFill/>
          <a:ln w="16510">
            <a:solidFill>
              <a:srgbClr val="58B9C9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85800" y="1417320"/>
            <a:ext cx="3703320" cy="4480560"/>
          </a:xfrm>
          <a:prstGeom prst="roundRect">
            <a:avLst>
              <a:gd name="adj" fmla="val 1975"/>
            </a:avLst>
          </a:prstGeom>
          <a:solidFill>
            <a:srgbClr val="FFFFFF"/>
          </a:solidFill>
          <a:ln w="12700">
            <a:solidFill>
              <a:srgbClr val="DCE8E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960120" y="17373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4D7A"/>
                </a:solidFill>
              </a:rPr>
              <a:t>¿Qué son los Estándares Mínimos?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960120" y="2514600"/>
            <a:ext cx="2971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D7282"/>
                </a:solidFill>
              </a:rPr>
              <a:t>Son requisitos y procedimientos de obligatorio cumplimiento que permiten establecer, verificar y controlar condiciones básicas para el funcionamiento del SG-SST.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960120" y="4160520"/>
            <a:ext cx="1325880" cy="329184"/>
          </a:xfrm>
          <a:prstGeom prst="roundRect">
            <a:avLst>
              <a:gd name="adj" fmla="val 22222"/>
            </a:avLst>
          </a:prstGeom>
          <a:solidFill>
            <a:srgbClr val="4D679C"/>
          </a:solidFill>
          <a:ln w="12700">
            <a:solidFill>
              <a:srgbClr val="4D679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33272" y="4215384"/>
            <a:ext cx="11795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OBLIGATORIOS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423160" y="4160520"/>
            <a:ext cx="1325880" cy="329184"/>
          </a:xfrm>
          <a:prstGeom prst="roundRect">
            <a:avLst>
              <a:gd name="adj" fmla="val 22222"/>
            </a:avLst>
          </a:prstGeom>
          <a:solidFill>
            <a:srgbClr val="58B9C9"/>
          </a:solidFill>
          <a:ln w="12700">
            <a:solidFill>
              <a:srgbClr val="58B9C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496312" y="4215384"/>
            <a:ext cx="11795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VERIFICABLES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960120" y="480060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83044"/>
                </a:solidFill>
              </a:rPr>
              <a:t>La exigencia se ajusta según el número de trabajadores y la clase de riesgo de la empresa.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4800600" y="1417320"/>
            <a:ext cx="6629400" cy="868680"/>
          </a:xfrm>
          <a:prstGeom prst="roundRect">
            <a:avLst>
              <a:gd name="adj" fmla="val 8421"/>
            </a:avLst>
          </a:prstGeom>
          <a:solidFill>
            <a:srgbClr val="F5FBFC"/>
          </a:solidFill>
          <a:ln w="12700">
            <a:solidFill>
              <a:srgbClr val="DCE8E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074920" y="158191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4D7A"/>
                </a:solidFill>
              </a:rPr>
              <a:t>≤ 10 trabajadores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903720" y="1581912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30" dirty="0">
                <a:solidFill>
                  <a:srgbClr val="5D7282"/>
                </a:solidFill>
              </a:rPr>
              <a:t>Riesgo I, II o III</a:t>
            </a:r>
            <a:endParaRPr lang="en-US" sz="1230" dirty="0"/>
          </a:p>
        </p:txBody>
      </p:sp>
      <p:sp>
        <p:nvSpPr>
          <p:cNvPr id="17" name="Text 14"/>
          <p:cNvSpPr/>
          <p:nvPr/>
        </p:nvSpPr>
        <p:spPr>
          <a:xfrm>
            <a:off x="9098280" y="1581912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8B9C9"/>
                </a:solidFill>
              </a:rPr>
              <a:t>Capítulo I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4800600" y="2496312"/>
            <a:ext cx="6629400" cy="868680"/>
          </a:xfrm>
          <a:prstGeom prst="roundRect">
            <a:avLst>
              <a:gd name="adj" fmla="val 8421"/>
            </a:avLst>
          </a:prstGeom>
          <a:solidFill>
            <a:srgbClr val="F3F6FA"/>
          </a:solidFill>
          <a:ln w="12700">
            <a:solidFill>
              <a:srgbClr val="DCE8E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5074920" y="266090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4D7A"/>
                </a:solidFill>
              </a:rPr>
              <a:t>11 a 50 trabajadores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903720" y="2660904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30" dirty="0">
                <a:solidFill>
                  <a:srgbClr val="5D7282"/>
                </a:solidFill>
              </a:rPr>
              <a:t>Riesgo I, II o III</a:t>
            </a:r>
            <a:endParaRPr lang="en-US" sz="1230" dirty="0"/>
          </a:p>
        </p:txBody>
      </p:sp>
      <p:sp>
        <p:nvSpPr>
          <p:cNvPr id="21" name="Text 18"/>
          <p:cNvSpPr/>
          <p:nvPr/>
        </p:nvSpPr>
        <p:spPr>
          <a:xfrm>
            <a:off x="9098280" y="2660904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8B9C9"/>
                </a:solidFill>
              </a:rPr>
              <a:t>Capítulo II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4800600" y="3575304"/>
            <a:ext cx="6629400" cy="868680"/>
          </a:xfrm>
          <a:prstGeom prst="roundRect">
            <a:avLst>
              <a:gd name="adj" fmla="val 8421"/>
            </a:avLst>
          </a:prstGeom>
          <a:solidFill>
            <a:srgbClr val="F5FBFC"/>
          </a:solidFill>
          <a:ln w="12700">
            <a:solidFill>
              <a:srgbClr val="DCE8E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5074920" y="373989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4D7A"/>
                </a:solidFill>
              </a:rPr>
              <a:t>&gt; 50 trabajadores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6903720" y="3739896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30" dirty="0">
                <a:solidFill>
                  <a:srgbClr val="5D7282"/>
                </a:solidFill>
              </a:rPr>
              <a:t>Riesgo I, II, III, IV o V</a:t>
            </a:r>
            <a:endParaRPr lang="en-US" sz="1230" dirty="0"/>
          </a:p>
        </p:txBody>
      </p:sp>
      <p:sp>
        <p:nvSpPr>
          <p:cNvPr id="25" name="Text 22"/>
          <p:cNvSpPr/>
          <p:nvPr/>
        </p:nvSpPr>
        <p:spPr>
          <a:xfrm>
            <a:off x="9098280" y="3739896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D679C"/>
                </a:solidFill>
              </a:rPr>
              <a:t>Capítulo III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4800600" y="4654296"/>
            <a:ext cx="6629400" cy="868680"/>
          </a:xfrm>
          <a:prstGeom prst="roundRect">
            <a:avLst>
              <a:gd name="adj" fmla="val 8421"/>
            </a:avLst>
          </a:prstGeom>
          <a:solidFill>
            <a:srgbClr val="F3F6FA"/>
          </a:solidFill>
          <a:ln w="12700">
            <a:solidFill>
              <a:srgbClr val="DCE8E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5074920" y="481888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4D7A"/>
                </a:solidFill>
              </a:rPr>
              <a:t>≤ 50 trabajadores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6903720" y="4818888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30" dirty="0">
                <a:solidFill>
                  <a:srgbClr val="5D7282"/>
                </a:solidFill>
              </a:rPr>
              <a:t>Riesgo IV o V</a:t>
            </a:r>
            <a:endParaRPr lang="en-US" sz="1230" dirty="0"/>
          </a:p>
        </p:txBody>
      </p:sp>
      <p:sp>
        <p:nvSpPr>
          <p:cNvPr id="29" name="Text 26"/>
          <p:cNvSpPr/>
          <p:nvPr/>
        </p:nvSpPr>
        <p:spPr>
          <a:xfrm>
            <a:off x="9098280" y="4818888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D679C"/>
                </a:solidFill>
              </a:rPr>
              <a:t>Aplican estándares del Capítulo III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4983480" y="585216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D7282"/>
                </a:solidFill>
              </a:rPr>
              <a:t>Clave: el nivel de riesgo puede hacer que una empresa pequeña deba cumplir el esquema más completo.</a:t>
            </a:r>
            <a:endParaRPr lang="en-US" sz="115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92824"/>
            <a:ext cx="32004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sgsst_deck/sanithelp_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050" y="256032"/>
            <a:ext cx="1074179" cy="822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920240" y="301752"/>
            <a:ext cx="9464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E4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¿Qué revisan los Estándares Mínimos?</a:t>
            </a:r>
            <a:endParaRPr lang="en-US" sz="2300" dirty="0"/>
          </a:p>
        </p:txBody>
      </p:sp>
      <p:sp>
        <p:nvSpPr>
          <p:cNvPr id="4" name="Text 1"/>
          <p:cNvSpPr/>
          <p:nvPr/>
        </p:nvSpPr>
        <p:spPr>
          <a:xfrm>
            <a:off x="1938528" y="758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7282"/>
                </a:solidFill>
              </a:rPr>
              <a:t>Los requisitos se traducen en evidencias concretas del funcionamiento del SG-SST.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1920240" y="1060704"/>
            <a:ext cx="9555480" cy="0"/>
          </a:xfrm>
          <a:prstGeom prst="line">
            <a:avLst/>
          </a:prstGeom>
          <a:noFill/>
          <a:ln w="16510">
            <a:solidFill>
              <a:srgbClr val="58B9C9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85800" y="1417320"/>
            <a:ext cx="5166360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CE8E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86968" y="1636776"/>
            <a:ext cx="420624" cy="420624"/>
          </a:xfrm>
          <a:prstGeom prst="ellipse">
            <a:avLst/>
          </a:prstGeom>
          <a:solidFill>
            <a:srgbClr val="58B9C9"/>
          </a:solidFill>
          <a:ln w="12700">
            <a:solidFill>
              <a:srgbClr val="58B9C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86968" y="1687068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490472" y="1527048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b="1" dirty="0">
                <a:solidFill>
                  <a:srgbClr val="1E4D7A"/>
                </a:solidFill>
              </a:rPr>
              <a:t>Recursos y responsables</a:t>
            </a:r>
            <a:endParaRPr lang="en-US" sz="1180" dirty="0"/>
          </a:p>
        </p:txBody>
      </p:sp>
      <p:sp>
        <p:nvSpPr>
          <p:cNvPr id="10" name="Text 7"/>
          <p:cNvSpPr/>
          <p:nvPr/>
        </p:nvSpPr>
        <p:spPr>
          <a:xfrm>
            <a:off x="3264408" y="1527048"/>
            <a:ext cx="2212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90" dirty="0">
                <a:solidFill>
                  <a:srgbClr val="5D7282"/>
                </a:solidFill>
              </a:rPr>
              <a:t>Asignación de responsables, recursos y formación.</a:t>
            </a:r>
            <a:endParaRPr lang="en-US" sz="990" dirty="0"/>
          </a:p>
        </p:txBody>
      </p:sp>
      <p:sp>
        <p:nvSpPr>
          <p:cNvPr id="11" name="Shape 8"/>
          <p:cNvSpPr/>
          <p:nvPr/>
        </p:nvSpPr>
        <p:spPr>
          <a:xfrm>
            <a:off x="685800" y="2542032"/>
            <a:ext cx="5166360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CE8E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886968" y="2761488"/>
            <a:ext cx="420624" cy="420624"/>
          </a:xfrm>
          <a:prstGeom prst="ellipse">
            <a:avLst/>
          </a:prstGeom>
          <a:solidFill>
            <a:srgbClr val="4D679C"/>
          </a:solidFill>
          <a:ln w="12700">
            <a:solidFill>
              <a:srgbClr val="4D679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86968" y="2811780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490472" y="2651760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b="1" dirty="0">
                <a:solidFill>
                  <a:srgbClr val="1E4D7A"/>
                </a:solidFill>
              </a:rPr>
              <a:t>Gestión integral</a:t>
            </a:r>
            <a:endParaRPr lang="en-US" sz="1180" dirty="0"/>
          </a:p>
        </p:txBody>
      </p:sp>
      <p:sp>
        <p:nvSpPr>
          <p:cNvPr id="15" name="Text 12"/>
          <p:cNvSpPr/>
          <p:nvPr/>
        </p:nvSpPr>
        <p:spPr>
          <a:xfrm>
            <a:off x="3264408" y="2651760"/>
            <a:ext cx="2212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90" dirty="0">
                <a:solidFill>
                  <a:srgbClr val="5D7282"/>
                </a:solidFill>
              </a:rPr>
              <a:t>Política, objetivos, evaluación inicial y plan anual.</a:t>
            </a:r>
            <a:endParaRPr lang="en-US" sz="990" dirty="0"/>
          </a:p>
        </p:txBody>
      </p:sp>
      <p:sp>
        <p:nvSpPr>
          <p:cNvPr id="16" name="Shape 13"/>
          <p:cNvSpPr/>
          <p:nvPr/>
        </p:nvSpPr>
        <p:spPr>
          <a:xfrm>
            <a:off x="685800" y="3666744"/>
            <a:ext cx="5166360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CE8E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886968" y="3886200"/>
            <a:ext cx="420624" cy="420624"/>
          </a:xfrm>
          <a:prstGeom prst="ellipse">
            <a:avLst/>
          </a:prstGeom>
          <a:solidFill>
            <a:srgbClr val="58B9C9"/>
          </a:solidFill>
          <a:ln w="12700">
            <a:solidFill>
              <a:srgbClr val="58B9C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86968" y="3936492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90472" y="3776472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b="1" dirty="0">
                <a:solidFill>
                  <a:srgbClr val="1E4D7A"/>
                </a:solidFill>
              </a:rPr>
              <a:t>Gestión de la salud</a:t>
            </a:r>
            <a:endParaRPr lang="en-US" sz="1180" dirty="0"/>
          </a:p>
        </p:txBody>
      </p:sp>
      <p:sp>
        <p:nvSpPr>
          <p:cNvPr id="20" name="Text 17"/>
          <p:cNvSpPr/>
          <p:nvPr/>
        </p:nvSpPr>
        <p:spPr>
          <a:xfrm>
            <a:off x="3264408" y="3776472"/>
            <a:ext cx="2212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90" dirty="0">
                <a:solidFill>
                  <a:srgbClr val="5D7282"/>
                </a:solidFill>
              </a:rPr>
              <a:t>Condiciones de salud, medicina preventiva y vigilancia.</a:t>
            </a:r>
            <a:endParaRPr lang="en-US" sz="990" dirty="0"/>
          </a:p>
        </p:txBody>
      </p:sp>
      <p:sp>
        <p:nvSpPr>
          <p:cNvPr id="21" name="Shape 18"/>
          <p:cNvSpPr/>
          <p:nvPr/>
        </p:nvSpPr>
        <p:spPr>
          <a:xfrm>
            <a:off x="685800" y="4791456"/>
            <a:ext cx="5166360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CE8E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886968" y="5010912"/>
            <a:ext cx="420624" cy="420624"/>
          </a:xfrm>
          <a:prstGeom prst="ellipse">
            <a:avLst/>
          </a:prstGeom>
          <a:solidFill>
            <a:srgbClr val="4D679C"/>
          </a:solidFill>
          <a:ln w="12700">
            <a:solidFill>
              <a:srgbClr val="4D679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86968" y="5061204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1490472" y="4901184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b="1" dirty="0">
                <a:solidFill>
                  <a:srgbClr val="1E4D7A"/>
                </a:solidFill>
              </a:rPr>
              <a:t>Peligros y riesgos</a:t>
            </a:r>
            <a:endParaRPr lang="en-US" sz="1180" dirty="0"/>
          </a:p>
        </p:txBody>
      </p:sp>
      <p:sp>
        <p:nvSpPr>
          <p:cNvPr id="25" name="Text 22"/>
          <p:cNvSpPr/>
          <p:nvPr/>
        </p:nvSpPr>
        <p:spPr>
          <a:xfrm>
            <a:off x="3264408" y="4901184"/>
            <a:ext cx="2212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90" dirty="0">
                <a:solidFill>
                  <a:srgbClr val="5D7282"/>
                </a:solidFill>
              </a:rPr>
              <a:t>Identificación, evaluación, controles e inspecciones.</a:t>
            </a:r>
            <a:endParaRPr lang="en-US" sz="990" dirty="0"/>
          </a:p>
        </p:txBody>
      </p:sp>
      <p:sp>
        <p:nvSpPr>
          <p:cNvPr id="26" name="Shape 23"/>
          <p:cNvSpPr/>
          <p:nvPr/>
        </p:nvSpPr>
        <p:spPr>
          <a:xfrm>
            <a:off x="6355080" y="1417320"/>
            <a:ext cx="5166360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CE8E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6556248" y="1636776"/>
            <a:ext cx="420624" cy="420624"/>
          </a:xfrm>
          <a:prstGeom prst="ellipse">
            <a:avLst/>
          </a:prstGeom>
          <a:solidFill>
            <a:srgbClr val="58B9C9"/>
          </a:solidFill>
          <a:ln w="12700">
            <a:solidFill>
              <a:srgbClr val="58B9C9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556248" y="1687068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7159752" y="1527048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b="1" dirty="0">
                <a:solidFill>
                  <a:srgbClr val="1E4D7A"/>
                </a:solidFill>
              </a:rPr>
              <a:t>Emergencias</a:t>
            </a:r>
            <a:endParaRPr lang="en-US" sz="1180" dirty="0"/>
          </a:p>
        </p:txBody>
      </p:sp>
      <p:sp>
        <p:nvSpPr>
          <p:cNvPr id="30" name="Text 27"/>
          <p:cNvSpPr/>
          <p:nvPr/>
        </p:nvSpPr>
        <p:spPr>
          <a:xfrm>
            <a:off x="8933688" y="1527048"/>
            <a:ext cx="2212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90" dirty="0">
                <a:solidFill>
                  <a:srgbClr val="5D7282"/>
                </a:solidFill>
              </a:rPr>
              <a:t>Preparación, brigada y respuesta ante emergencias.</a:t>
            </a:r>
            <a:endParaRPr lang="en-US" sz="990" dirty="0"/>
          </a:p>
        </p:txBody>
      </p:sp>
      <p:sp>
        <p:nvSpPr>
          <p:cNvPr id="31" name="Shape 28"/>
          <p:cNvSpPr/>
          <p:nvPr/>
        </p:nvSpPr>
        <p:spPr>
          <a:xfrm>
            <a:off x="6355080" y="2542032"/>
            <a:ext cx="5166360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CE8E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6556248" y="2761488"/>
            <a:ext cx="420624" cy="420624"/>
          </a:xfrm>
          <a:prstGeom prst="ellipse">
            <a:avLst/>
          </a:prstGeom>
          <a:solidFill>
            <a:srgbClr val="4D679C"/>
          </a:solidFill>
          <a:ln w="12700">
            <a:solidFill>
              <a:srgbClr val="4D679C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556248" y="2811780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7159752" y="2651760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b="1" dirty="0">
                <a:solidFill>
                  <a:srgbClr val="1E4D7A"/>
                </a:solidFill>
              </a:rPr>
              <a:t>Verificación</a:t>
            </a:r>
            <a:endParaRPr lang="en-US" sz="1180" dirty="0"/>
          </a:p>
        </p:txBody>
      </p:sp>
      <p:sp>
        <p:nvSpPr>
          <p:cNvPr id="35" name="Text 32"/>
          <p:cNvSpPr/>
          <p:nvPr/>
        </p:nvSpPr>
        <p:spPr>
          <a:xfrm>
            <a:off x="8933688" y="2651760"/>
            <a:ext cx="2212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90" dirty="0">
                <a:solidFill>
                  <a:srgbClr val="5D7282"/>
                </a:solidFill>
              </a:rPr>
              <a:t>Indicadores, auditoría, revisión y seguimiento.</a:t>
            </a:r>
            <a:endParaRPr lang="en-US" sz="990" dirty="0"/>
          </a:p>
        </p:txBody>
      </p:sp>
      <p:sp>
        <p:nvSpPr>
          <p:cNvPr id="36" name="Shape 33"/>
          <p:cNvSpPr/>
          <p:nvPr/>
        </p:nvSpPr>
        <p:spPr>
          <a:xfrm>
            <a:off x="6355080" y="3666744"/>
            <a:ext cx="5166360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CE8E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6556248" y="3886200"/>
            <a:ext cx="420624" cy="420624"/>
          </a:xfrm>
          <a:prstGeom prst="ellipse">
            <a:avLst/>
          </a:prstGeom>
          <a:solidFill>
            <a:srgbClr val="58B9C9"/>
          </a:solidFill>
          <a:ln w="12700">
            <a:solidFill>
              <a:srgbClr val="58B9C9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556248" y="3936492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7</a:t>
            </a:r>
            <a:endParaRPr lang="en-US" sz="1300" dirty="0"/>
          </a:p>
        </p:txBody>
      </p:sp>
      <p:sp>
        <p:nvSpPr>
          <p:cNvPr id="39" name="Text 36"/>
          <p:cNvSpPr/>
          <p:nvPr/>
        </p:nvSpPr>
        <p:spPr>
          <a:xfrm>
            <a:off x="7159752" y="3776472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b="1" dirty="0">
                <a:solidFill>
                  <a:srgbClr val="1E4D7A"/>
                </a:solidFill>
              </a:rPr>
              <a:t>Mejora</a:t>
            </a:r>
            <a:endParaRPr lang="en-US" sz="1180" dirty="0"/>
          </a:p>
        </p:txBody>
      </p:sp>
      <p:sp>
        <p:nvSpPr>
          <p:cNvPr id="40" name="Text 37"/>
          <p:cNvSpPr/>
          <p:nvPr/>
        </p:nvSpPr>
        <p:spPr>
          <a:xfrm>
            <a:off x="8933688" y="3776472"/>
            <a:ext cx="2212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90" dirty="0">
                <a:solidFill>
                  <a:srgbClr val="5D7282"/>
                </a:solidFill>
              </a:rPr>
              <a:t>Acciones correctivas, preventivas y planes de mejoramiento.</a:t>
            </a:r>
            <a:endParaRPr lang="en-US" sz="990" dirty="0"/>
          </a:p>
        </p:txBody>
      </p:sp>
      <p:sp>
        <p:nvSpPr>
          <p:cNvPr id="41" name="Text 38"/>
          <p:cNvSpPr/>
          <p:nvPr/>
        </p:nvSpPr>
        <p:spPr>
          <a:xfrm>
            <a:off x="6400800" y="507492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4D7A"/>
                </a:solidFill>
              </a:rPr>
              <a:t>No basta con “tener documentos”: la evidencia debe demostrar ejecución, seguimiento y mejora.</a:t>
            </a:r>
            <a:endParaRPr lang="en-US" sz="1400" dirty="0"/>
          </a:p>
        </p:txBody>
      </p:sp>
      <p:sp>
        <p:nvSpPr>
          <p:cNvPr id="4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92824"/>
            <a:ext cx="32004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sgsst_deck/sanithelp_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050" y="256032"/>
            <a:ext cx="1074179" cy="822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920240" y="301752"/>
            <a:ext cx="9464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E4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Autoevaluación y plan de mejora</a:t>
            </a:r>
            <a:endParaRPr lang="en-US" sz="2300" dirty="0"/>
          </a:p>
        </p:txBody>
      </p:sp>
      <p:sp>
        <p:nvSpPr>
          <p:cNvPr id="4" name="Text 1"/>
          <p:cNvSpPr/>
          <p:nvPr/>
        </p:nvSpPr>
        <p:spPr>
          <a:xfrm>
            <a:off x="1938528" y="758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7282"/>
                </a:solidFill>
              </a:rPr>
              <a:t>El puntaje orienta la respuesta requerida y el nivel de seguimiento.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1920240" y="1060704"/>
            <a:ext cx="9555480" cy="0"/>
          </a:xfrm>
          <a:prstGeom prst="line">
            <a:avLst/>
          </a:prstGeom>
          <a:noFill/>
          <a:ln w="16510">
            <a:solidFill>
              <a:srgbClr val="58B9C9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1508760"/>
            <a:ext cx="3401568" cy="4069080"/>
          </a:xfrm>
          <a:prstGeom prst="roundRect">
            <a:avLst>
              <a:gd name="adj" fmla="val 2151"/>
            </a:avLst>
          </a:prstGeom>
          <a:solidFill>
            <a:srgbClr val="FFFFFF"/>
          </a:solidFill>
          <a:ln w="12700">
            <a:solidFill>
              <a:srgbClr val="DCE8E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77240" y="1508760"/>
            <a:ext cx="3401568" cy="685800"/>
          </a:xfrm>
          <a:prstGeom prst="roundRect">
            <a:avLst>
              <a:gd name="adj" fmla="val 8000"/>
            </a:avLst>
          </a:prstGeom>
          <a:solidFill>
            <a:srgbClr val="C95B5B"/>
          </a:solidFill>
          <a:ln w="12700">
            <a:solidFill>
              <a:srgbClr val="C95B5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60120" y="1700784"/>
            <a:ext cx="3035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</a:rPr>
              <a:t>&lt; 60%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1051560" y="2542032"/>
            <a:ext cx="28529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C95B5B"/>
                </a:solidFill>
              </a:rPr>
              <a:t>CRÍTICO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124712" y="3429000"/>
            <a:ext cx="27066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80" dirty="0">
                <a:solidFill>
                  <a:srgbClr val="5D7282"/>
                </a:solidFill>
              </a:rPr>
              <a:t>Plan de mejoramiento inmediato y reporte de avances a la ARL en máximo 3 meses.</a:t>
            </a:r>
            <a:endParaRPr lang="en-US" sz="1180" dirty="0"/>
          </a:p>
        </p:txBody>
      </p:sp>
      <p:sp>
        <p:nvSpPr>
          <p:cNvPr id="11" name="Shape 8"/>
          <p:cNvSpPr/>
          <p:nvPr/>
        </p:nvSpPr>
        <p:spPr>
          <a:xfrm>
            <a:off x="4389120" y="1508760"/>
            <a:ext cx="3401568" cy="4069080"/>
          </a:xfrm>
          <a:prstGeom prst="roundRect">
            <a:avLst>
              <a:gd name="adj" fmla="val 2151"/>
            </a:avLst>
          </a:prstGeom>
          <a:solidFill>
            <a:srgbClr val="FFFFFF"/>
          </a:solidFill>
          <a:ln w="12700">
            <a:solidFill>
              <a:srgbClr val="DCE8E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389120" y="1508760"/>
            <a:ext cx="3401568" cy="685800"/>
          </a:xfrm>
          <a:prstGeom prst="roundRect">
            <a:avLst>
              <a:gd name="adj" fmla="val 8000"/>
            </a:avLst>
          </a:prstGeom>
          <a:solidFill>
            <a:srgbClr val="D89A2B"/>
          </a:solidFill>
          <a:ln w="12700">
            <a:solidFill>
              <a:srgbClr val="D89A2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0" y="1700784"/>
            <a:ext cx="3035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</a:rPr>
              <a:t>60% a 85%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4663440" y="2542032"/>
            <a:ext cx="28529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D89A2B"/>
                </a:solidFill>
              </a:rPr>
              <a:t>MODERADAMENTE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D89A2B"/>
                </a:solidFill>
              </a:rPr>
              <a:t>ACEPTABLE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4736592" y="3429000"/>
            <a:ext cx="27066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80" dirty="0">
                <a:solidFill>
                  <a:srgbClr val="5D7282"/>
                </a:solidFill>
              </a:rPr>
              <a:t>Plan de mejoramiento y reporte de avances a la ARL en máximo 6 meses.</a:t>
            </a:r>
            <a:endParaRPr lang="en-US" sz="1180" dirty="0"/>
          </a:p>
        </p:txBody>
      </p:sp>
      <p:sp>
        <p:nvSpPr>
          <p:cNvPr id="16" name="Shape 13"/>
          <p:cNvSpPr/>
          <p:nvPr/>
        </p:nvSpPr>
        <p:spPr>
          <a:xfrm>
            <a:off x="8001000" y="1508760"/>
            <a:ext cx="3401568" cy="4069080"/>
          </a:xfrm>
          <a:prstGeom prst="roundRect">
            <a:avLst>
              <a:gd name="adj" fmla="val 2151"/>
            </a:avLst>
          </a:prstGeom>
          <a:solidFill>
            <a:srgbClr val="FFFFFF"/>
          </a:solidFill>
          <a:ln w="12700">
            <a:solidFill>
              <a:srgbClr val="DCE8E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8001000" y="1508760"/>
            <a:ext cx="3401568" cy="685800"/>
          </a:xfrm>
          <a:prstGeom prst="roundRect">
            <a:avLst>
              <a:gd name="adj" fmla="val 8000"/>
            </a:avLst>
          </a:prstGeom>
          <a:solidFill>
            <a:srgbClr val="55A675"/>
          </a:solidFill>
          <a:ln w="12700">
            <a:solidFill>
              <a:srgbClr val="55A67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183880" y="1700784"/>
            <a:ext cx="3035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</a:rPr>
              <a:t>&gt; 85%</a:t>
            </a:r>
            <a:endParaRPr lang="en-US" sz="2100" dirty="0"/>
          </a:p>
        </p:txBody>
      </p:sp>
      <p:sp>
        <p:nvSpPr>
          <p:cNvPr id="19" name="Text 16"/>
          <p:cNvSpPr/>
          <p:nvPr/>
        </p:nvSpPr>
        <p:spPr>
          <a:xfrm>
            <a:off x="8275320" y="2542032"/>
            <a:ext cx="28529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55A675"/>
                </a:solidFill>
              </a:rPr>
              <a:t>ACEPTABLE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8348472" y="3429000"/>
            <a:ext cx="27066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80" dirty="0">
                <a:solidFill>
                  <a:srgbClr val="5D7282"/>
                </a:solidFill>
              </a:rPr>
              <a:t>Mantener evidencias e incluir las mejoras definidas dentro del Plan Anual de Trabajo.</a:t>
            </a:r>
            <a:endParaRPr lang="en-US" sz="1180" dirty="0"/>
          </a:p>
        </p:txBody>
      </p:sp>
      <p:sp>
        <p:nvSpPr>
          <p:cNvPr id="21" name="Text 18"/>
          <p:cNvSpPr/>
          <p:nvPr/>
        </p:nvSpPr>
        <p:spPr>
          <a:xfrm>
            <a:off x="914400" y="5806440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4D7A"/>
                </a:solidFill>
              </a:rPr>
              <a:t>Desde 2020, el sistema se ejecuta anualmente; en diciembre se realiza la autoevaluación, se elabora el plan de mejora y se formula el plan anual del año siguiente.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92824"/>
            <a:ext cx="32004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sgsst_deck/sanithelp_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050" y="256032"/>
            <a:ext cx="1074179" cy="822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920240" y="301752"/>
            <a:ext cx="9464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E4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¿Qué evidencias debemos cuidar?</a:t>
            </a:r>
            <a:endParaRPr lang="en-US" sz="2300" dirty="0"/>
          </a:p>
        </p:txBody>
      </p:sp>
      <p:sp>
        <p:nvSpPr>
          <p:cNvPr id="4" name="Text 1"/>
          <p:cNvSpPr/>
          <p:nvPr/>
        </p:nvSpPr>
        <p:spPr>
          <a:xfrm>
            <a:off x="1938528" y="758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7282"/>
                </a:solidFill>
              </a:rPr>
              <a:t>Una auditoría revisa coherencia entre lo planeado, lo ejecutado y lo demostrado.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1920240" y="1060704"/>
            <a:ext cx="9555480" cy="0"/>
          </a:xfrm>
          <a:prstGeom prst="line">
            <a:avLst/>
          </a:prstGeom>
          <a:noFill/>
          <a:ln w="16510">
            <a:solidFill>
              <a:srgbClr val="58B9C9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85800" y="1417320"/>
            <a:ext cx="512064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DCE8E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85800" y="1417320"/>
            <a:ext cx="109728" cy="896112"/>
          </a:xfrm>
          <a:prstGeom prst="rect">
            <a:avLst/>
          </a:prstGeom>
          <a:solidFill>
            <a:srgbClr val="58B9C9"/>
          </a:solidFill>
          <a:ln w="12700">
            <a:solidFill>
              <a:srgbClr val="58B9C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5840" y="154533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4D7A"/>
                </a:solidFill>
              </a:rPr>
              <a:t>Política y objetivos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017520" y="1545336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dirty="0">
                <a:solidFill>
                  <a:srgbClr val="5D7282"/>
                </a:solidFill>
              </a:rPr>
              <a:t>Vigentes, comunicados y alineados con la organización.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685800" y="2560320"/>
            <a:ext cx="512064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DCE8E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85800" y="2560320"/>
            <a:ext cx="109728" cy="896112"/>
          </a:xfrm>
          <a:prstGeom prst="rect">
            <a:avLst/>
          </a:prstGeom>
          <a:solidFill>
            <a:srgbClr val="58B9C9"/>
          </a:solidFill>
          <a:ln w="12700">
            <a:solidFill>
              <a:srgbClr val="58B9C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05840" y="268833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4D7A"/>
                </a:solidFill>
              </a:rPr>
              <a:t>Plan anual de trabajo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017520" y="2688336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dirty="0">
                <a:solidFill>
                  <a:srgbClr val="5D7282"/>
                </a:solidFill>
              </a:rPr>
              <a:t>Actividades, responsables, recursos y fechas.</a:t>
            </a:r>
            <a:endParaRPr lang="en-US" sz="1040" dirty="0"/>
          </a:p>
        </p:txBody>
      </p:sp>
      <p:sp>
        <p:nvSpPr>
          <p:cNvPr id="14" name="Shape 11"/>
          <p:cNvSpPr/>
          <p:nvPr/>
        </p:nvSpPr>
        <p:spPr>
          <a:xfrm>
            <a:off x="685800" y="3703320"/>
            <a:ext cx="512064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DCE8E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85800" y="3703320"/>
            <a:ext cx="109728" cy="896112"/>
          </a:xfrm>
          <a:prstGeom prst="rect">
            <a:avLst/>
          </a:prstGeom>
          <a:solidFill>
            <a:srgbClr val="58B9C9"/>
          </a:solidFill>
          <a:ln w="12700">
            <a:solidFill>
              <a:srgbClr val="58B9C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05840" y="383133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4D7A"/>
                </a:solidFill>
              </a:rPr>
              <a:t>Capacitaciones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3017520" y="3831336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dirty="0">
                <a:solidFill>
                  <a:srgbClr val="5D7282"/>
                </a:solidFill>
              </a:rPr>
              <a:t>Asistencia, evaluación y evidencia de eficacia.</a:t>
            </a:r>
            <a:endParaRPr lang="en-US" sz="1040" dirty="0"/>
          </a:p>
        </p:txBody>
      </p:sp>
      <p:sp>
        <p:nvSpPr>
          <p:cNvPr id="18" name="Shape 15"/>
          <p:cNvSpPr/>
          <p:nvPr/>
        </p:nvSpPr>
        <p:spPr>
          <a:xfrm>
            <a:off x="685800" y="4846320"/>
            <a:ext cx="512064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DCE8E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85800" y="4846320"/>
            <a:ext cx="109728" cy="896112"/>
          </a:xfrm>
          <a:prstGeom prst="rect">
            <a:avLst/>
          </a:prstGeom>
          <a:solidFill>
            <a:srgbClr val="58B9C9"/>
          </a:solidFill>
          <a:ln w="12700">
            <a:solidFill>
              <a:srgbClr val="58B9C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005840" y="497433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4D7A"/>
                </a:solidFill>
              </a:rPr>
              <a:t>Identificación de peligros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3017520" y="4974336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dirty="0">
                <a:solidFill>
                  <a:srgbClr val="5D7282"/>
                </a:solidFill>
              </a:rPr>
              <a:t>Matriz actualizada y controles implementados.</a:t>
            </a:r>
            <a:endParaRPr lang="en-US" sz="1040" dirty="0"/>
          </a:p>
        </p:txBody>
      </p:sp>
      <p:sp>
        <p:nvSpPr>
          <p:cNvPr id="22" name="Shape 19"/>
          <p:cNvSpPr/>
          <p:nvPr/>
        </p:nvSpPr>
        <p:spPr>
          <a:xfrm>
            <a:off x="6309360" y="1417320"/>
            <a:ext cx="512064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DCE8E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309360" y="1417320"/>
            <a:ext cx="109728" cy="896112"/>
          </a:xfrm>
          <a:prstGeom prst="rect">
            <a:avLst/>
          </a:prstGeom>
          <a:solidFill>
            <a:srgbClr val="4D679C"/>
          </a:solidFill>
          <a:ln w="12700">
            <a:solidFill>
              <a:srgbClr val="4D679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629400" y="154533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4D7A"/>
                </a:solidFill>
              </a:rPr>
              <a:t>Inspecciones y reportes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8641080" y="1545336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dirty="0">
                <a:solidFill>
                  <a:srgbClr val="5D7282"/>
                </a:solidFill>
              </a:rPr>
              <a:t>Hallazgos, responsables y cierre de acciones.</a:t>
            </a:r>
            <a:endParaRPr lang="en-US" sz="1040" dirty="0"/>
          </a:p>
        </p:txBody>
      </p:sp>
      <p:sp>
        <p:nvSpPr>
          <p:cNvPr id="26" name="Shape 23"/>
          <p:cNvSpPr/>
          <p:nvPr/>
        </p:nvSpPr>
        <p:spPr>
          <a:xfrm>
            <a:off x="6309360" y="2560320"/>
            <a:ext cx="512064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DCE8E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6309360" y="2560320"/>
            <a:ext cx="109728" cy="896112"/>
          </a:xfrm>
          <a:prstGeom prst="rect">
            <a:avLst/>
          </a:prstGeom>
          <a:solidFill>
            <a:srgbClr val="4D679C"/>
          </a:solidFill>
          <a:ln w="12700">
            <a:solidFill>
              <a:srgbClr val="4D679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629400" y="268833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4D7A"/>
                </a:solidFill>
              </a:rPr>
              <a:t>Emergencias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8641080" y="2688336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dirty="0">
                <a:solidFill>
                  <a:srgbClr val="5D7282"/>
                </a:solidFill>
              </a:rPr>
              <a:t>Plan, brigada, simulacros y lecciones aprendidas.</a:t>
            </a:r>
            <a:endParaRPr lang="en-US" sz="1040" dirty="0"/>
          </a:p>
        </p:txBody>
      </p:sp>
      <p:sp>
        <p:nvSpPr>
          <p:cNvPr id="30" name="Shape 27"/>
          <p:cNvSpPr/>
          <p:nvPr/>
        </p:nvSpPr>
        <p:spPr>
          <a:xfrm>
            <a:off x="6309360" y="3703320"/>
            <a:ext cx="512064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DCE8E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309360" y="3703320"/>
            <a:ext cx="109728" cy="896112"/>
          </a:xfrm>
          <a:prstGeom prst="rect">
            <a:avLst/>
          </a:prstGeom>
          <a:solidFill>
            <a:srgbClr val="4D679C"/>
          </a:solidFill>
          <a:ln w="12700">
            <a:solidFill>
              <a:srgbClr val="4D679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629400" y="383133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4D7A"/>
                </a:solidFill>
              </a:rPr>
              <a:t>Indicadores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8641080" y="3831336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dirty="0">
                <a:solidFill>
                  <a:srgbClr val="5D7282"/>
                </a:solidFill>
              </a:rPr>
              <a:t>Accidentalidad, enfermedad laboral y ausentismo, entre otros.</a:t>
            </a:r>
            <a:endParaRPr lang="en-US" sz="1040" dirty="0"/>
          </a:p>
        </p:txBody>
      </p:sp>
      <p:sp>
        <p:nvSpPr>
          <p:cNvPr id="34" name="Shape 31"/>
          <p:cNvSpPr/>
          <p:nvPr/>
        </p:nvSpPr>
        <p:spPr>
          <a:xfrm>
            <a:off x="6309360" y="4846320"/>
            <a:ext cx="512064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DCE8E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6309360" y="4846320"/>
            <a:ext cx="109728" cy="896112"/>
          </a:xfrm>
          <a:prstGeom prst="rect">
            <a:avLst/>
          </a:prstGeom>
          <a:solidFill>
            <a:srgbClr val="4D679C"/>
          </a:solidFill>
          <a:ln w="12700">
            <a:solidFill>
              <a:srgbClr val="4D679C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629400" y="497433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4D7A"/>
                </a:solidFill>
              </a:rPr>
              <a:t>Mejora continua</a:t>
            </a:r>
            <a:endParaRPr lang="en-US" sz="1300" dirty="0"/>
          </a:p>
        </p:txBody>
      </p:sp>
      <p:sp>
        <p:nvSpPr>
          <p:cNvPr id="37" name="Text 34"/>
          <p:cNvSpPr/>
          <p:nvPr/>
        </p:nvSpPr>
        <p:spPr>
          <a:xfrm>
            <a:off x="8641080" y="4974336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dirty="0">
                <a:solidFill>
                  <a:srgbClr val="5D7282"/>
                </a:solidFill>
              </a:rPr>
              <a:t>Planes de acción con seguimiento y evidencia de cierre.</a:t>
            </a:r>
            <a:endParaRPr lang="en-US" sz="1040" dirty="0"/>
          </a:p>
        </p:txBody>
      </p:sp>
      <p:sp>
        <p:nvSpPr>
          <p:cNvPr id="38" name="Text 35"/>
          <p:cNvSpPr/>
          <p:nvPr/>
        </p:nvSpPr>
        <p:spPr>
          <a:xfrm>
            <a:off x="2240280" y="598932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8B9C9"/>
                </a:solidFill>
              </a:rPr>
              <a:t>Regla de oro: evidencia fechada + responsable + trazabilidad del cierre.</a:t>
            </a:r>
            <a:endParaRPr lang="en-US" sz="1500" dirty="0"/>
          </a:p>
        </p:txBody>
      </p:sp>
      <p:sp>
        <p:nvSpPr>
          <p:cNvPr id="3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92824"/>
            <a:ext cx="32004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sgsst_deck/sanithelp_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050" y="256032"/>
            <a:ext cx="1074179" cy="822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920240" y="301752"/>
            <a:ext cx="9464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E4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Del documento a la acción</a:t>
            </a:r>
            <a:endParaRPr lang="en-US" sz="2300" dirty="0"/>
          </a:p>
        </p:txBody>
      </p:sp>
      <p:sp>
        <p:nvSpPr>
          <p:cNvPr id="4" name="Text 1"/>
          <p:cNvSpPr/>
          <p:nvPr/>
        </p:nvSpPr>
        <p:spPr>
          <a:xfrm>
            <a:off x="1938528" y="758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7282"/>
                </a:solidFill>
              </a:rPr>
              <a:t>Tres conductas que fortalecen el SG-SST todos los días.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1920240" y="1060704"/>
            <a:ext cx="9555480" cy="0"/>
          </a:xfrm>
          <a:prstGeom prst="line">
            <a:avLst/>
          </a:prstGeom>
          <a:noFill/>
          <a:ln w="16510">
            <a:solidFill>
              <a:srgbClr val="58B9C9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85800" y="1508760"/>
            <a:ext cx="3337560" cy="429768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DCE8E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810512" y="1828800"/>
            <a:ext cx="1078992" cy="1078992"/>
          </a:xfrm>
          <a:prstGeom prst="ellipse">
            <a:avLst/>
          </a:prstGeom>
          <a:solidFill>
            <a:srgbClr val="58B9C9"/>
          </a:solidFill>
          <a:ln w="12700">
            <a:solidFill>
              <a:srgbClr val="58B9C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810512" y="2029968"/>
            <a:ext cx="1078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FFFFFF"/>
                </a:solidFill>
              </a:rPr>
              <a:t>!</a:t>
            </a:r>
            <a:endParaRPr lang="en-US" sz="2700" dirty="0"/>
          </a:p>
        </p:txBody>
      </p:sp>
      <p:sp>
        <p:nvSpPr>
          <p:cNvPr id="9" name="Text 6"/>
          <p:cNvSpPr/>
          <p:nvPr/>
        </p:nvSpPr>
        <p:spPr>
          <a:xfrm>
            <a:off x="1051560" y="31546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4D7A"/>
                </a:solidFill>
              </a:rPr>
              <a:t>REPORTA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097280" y="361188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70" dirty="0">
                <a:solidFill>
                  <a:srgbClr val="5D7282"/>
                </a:solidFill>
              </a:rPr>
              <a:t>Una condición insegura, un peligro, un incidente o un cambio que pueda generar riesgo.</a:t>
            </a:r>
            <a:endParaRPr lang="en-US" sz="1170" dirty="0"/>
          </a:p>
        </p:txBody>
      </p:sp>
      <p:sp>
        <p:nvSpPr>
          <p:cNvPr id="11" name="Text 8"/>
          <p:cNvSpPr/>
          <p:nvPr/>
        </p:nvSpPr>
        <p:spPr>
          <a:xfrm>
            <a:off x="1124712" y="480060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8B9C9"/>
                </a:solidFill>
              </a:rPr>
              <a:t>No esperes a que ocurra un accidente.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480560" y="1508760"/>
            <a:ext cx="3337560" cy="4297680"/>
          </a:xfrm>
          <a:prstGeom prst="roundRect">
            <a:avLst>
              <a:gd name="adj" fmla="val 2192"/>
            </a:avLst>
          </a:prstGeom>
          <a:solidFill>
            <a:srgbClr val="F4FBFC"/>
          </a:solidFill>
          <a:ln w="12700">
            <a:solidFill>
              <a:srgbClr val="DCE8E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605272" y="1828800"/>
            <a:ext cx="1078992" cy="1078992"/>
          </a:xfrm>
          <a:prstGeom prst="ellipse">
            <a:avLst/>
          </a:prstGeom>
          <a:solidFill>
            <a:srgbClr val="4D679C"/>
          </a:solidFill>
          <a:ln w="12700">
            <a:solidFill>
              <a:srgbClr val="4D679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605272" y="2029968"/>
            <a:ext cx="1078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FFFFFF"/>
                </a:solidFill>
              </a:rPr>
              <a:t>✓</a:t>
            </a:r>
            <a:endParaRPr lang="en-US" sz="2700" dirty="0"/>
          </a:p>
        </p:txBody>
      </p:sp>
      <p:sp>
        <p:nvSpPr>
          <p:cNvPr id="15" name="Text 12"/>
          <p:cNvSpPr/>
          <p:nvPr/>
        </p:nvSpPr>
        <p:spPr>
          <a:xfrm>
            <a:off x="4846320" y="31546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4D7A"/>
                </a:solidFill>
              </a:rPr>
              <a:t>PARTICIPA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4892040" y="361188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70" dirty="0">
                <a:solidFill>
                  <a:srgbClr val="5D7282"/>
                </a:solidFill>
              </a:rPr>
              <a:t>En capacitaciones, simulacros, inspecciones, encuestas y actividades de prevención.</a:t>
            </a:r>
            <a:endParaRPr lang="en-US" sz="1170" dirty="0"/>
          </a:p>
        </p:txBody>
      </p:sp>
      <p:sp>
        <p:nvSpPr>
          <p:cNvPr id="17" name="Text 14"/>
          <p:cNvSpPr/>
          <p:nvPr/>
        </p:nvSpPr>
        <p:spPr>
          <a:xfrm>
            <a:off x="4919472" y="480060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D679C"/>
                </a:solidFill>
              </a:rPr>
              <a:t>Tu experiencia ayuda a mejorar los controles.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8275320" y="1508760"/>
            <a:ext cx="3337560" cy="429768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DCE8E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9400032" y="1828800"/>
            <a:ext cx="1078992" cy="1078992"/>
          </a:xfrm>
          <a:prstGeom prst="ellipse">
            <a:avLst/>
          </a:prstGeom>
          <a:solidFill>
            <a:srgbClr val="1E4D7A"/>
          </a:solidFill>
          <a:ln w="12700">
            <a:solidFill>
              <a:srgbClr val="1E4D7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400032" y="2029968"/>
            <a:ext cx="1078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FFFFFF"/>
                </a:solidFill>
              </a:rPr>
              <a:t>→</a:t>
            </a:r>
            <a:endParaRPr lang="en-US" sz="2700" dirty="0"/>
          </a:p>
        </p:txBody>
      </p:sp>
      <p:sp>
        <p:nvSpPr>
          <p:cNvPr id="21" name="Text 18"/>
          <p:cNvSpPr/>
          <p:nvPr/>
        </p:nvSpPr>
        <p:spPr>
          <a:xfrm>
            <a:off x="8641080" y="31546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4D7A"/>
                </a:solidFill>
              </a:rPr>
              <a:t>CUMPLE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8686800" y="361188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70" dirty="0">
                <a:solidFill>
                  <a:srgbClr val="5D7282"/>
                </a:solidFill>
              </a:rPr>
              <a:t>Procedimientos, controles, uso de EPP y medidas definidas para tu labor.</a:t>
            </a:r>
            <a:endParaRPr lang="en-US" sz="1170" dirty="0"/>
          </a:p>
        </p:txBody>
      </p:sp>
      <p:sp>
        <p:nvSpPr>
          <p:cNvPr id="23" name="Text 20"/>
          <p:cNvSpPr/>
          <p:nvPr/>
        </p:nvSpPr>
        <p:spPr>
          <a:xfrm>
            <a:off x="8714232" y="480060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4D7A"/>
                </a:solidFill>
              </a:rPr>
              <a:t>La prevención depende de hábitos consistentes.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92824"/>
            <a:ext cx="32004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sgsst_deck/sanithelp_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050" y="256032"/>
            <a:ext cx="1074179" cy="822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920240" y="301752"/>
            <a:ext cx="9464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E4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Evaluación de conocimientos</a:t>
            </a:r>
            <a:endParaRPr lang="en-US" sz="2300" dirty="0"/>
          </a:p>
        </p:txBody>
      </p:sp>
      <p:sp>
        <p:nvSpPr>
          <p:cNvPr id="4" name="Text 1"/>
          <p:cNvSpPr/>
          <p:nvPr/>
        </p:nvSpPr>
        <p:spPr>
          <a:xfrm>
            <a:off x="1938528" y="758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7282"/>
                </a:solidFill>
              </a:rPr>
              <a:t>Cuestionario de 5 preguntas • Selecciona una respuesta por pregunta.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1920240" y="1060704"/>
            <a:ext cx="9555480" cy="0"/>
          </a:xfrm>
          <a:prstGeom prst="line">
            <a:avLst/>
          </a:prstGeom>
          <a:noFill/>
          <a:ln w="16510">
            <a:solidFill>
              <a:srgbClr val="58B9C9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85800" y="1353312"/>
            <a:ext cx="10835640" cy="1344168"/>
          </a:xfrm>
          <a:prstGeom prst="roundRect">
            <a:avLst>
              <a:gd name="adj" fmla="val 5442"/>
            </a:avLst>
          </a:prstGeom>
          <a:solidFill>
            <a:srgbClr val="FFFFFF"/>
          </a:solidFill>
          <a:ln w="12700">
            <a:solidFill>
              <a:srgbClr val="DCE8E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932688" y="1499616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1E4D7A"/>
                </a:solidFill>
              </a:rPr>
              <a:t>1. ¿Cuál describe mejor al SG-SST?</a:t>
            </a:r>
            <a:endParaRPr lang="en-US" sz="1320" dirty="0"/>
          </a:p>
        </p:txBody>
      </p:sp>
      <p:sp>
        <p:nvSpPr>
          <p:cNvPr id="8" name="Text 5"/>
          <p:cNvSpPr/>
          <p:nvPr/>
        </p:nvSpPr>
        <p:spPr>
          <a:xfrm>
            <a:off x="960120" y="1856232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dirty="0">
                <a:solidFill>
                  <a:srgbClr val="5D7282"/>
                </a:solidFill>
              </a:rPr>
              <a:t>A. Un archivo de documentos legales.</a:t>
            </a:r>
            <a:endParaRPr lang="en-US" sz="1040" dirty="0"/>
          </a:p>
        </p:txBody>
      </p:sp>
      <p:sp>
        <p:nvSpPr>
          <p:cNvPr id="9" name="Text 6"/>
          <p:cNvSpPr/>
          <p:nvPr/>
        </p:nvSpPr>
        <p:spPr>
          <a:xfrm>
            <a:off x="6035040" y="1856232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dirty="0">
                <a:solidFill>
                  <a:srgbClr val="5D7282"/>
                </a:solidFill>
              </a:rPr>
              <a:t>B. Un proceso por etapas basado en mejora continua para gestionar riesgos.</a:t>
            </a:r>
            <a:endParaRPr lang="en-US" sz="1040" dirty="0"/>
          </a:p>
        </p:txBody>
      </p:sp>
      <p:sp>
        <p:nvSpPr>
          <p:cNvPr id="10" name="Text 7"/>
          <p:cNvSpPr/>
          <p:nvPr/>
        </p:nvSpPr>
        <p:spPr>
          <a:xfrm>
            <a:off x="960120" y="2221992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dirty="0">
                <a:solidFill>
                  <a:srgbClr val="5D7282"/>
                </a:solidFill>
              </a:rPr>
              <a:t>C. Una actividad exclusiva de la ARL.</a:t>
            </a:r>
            <a:endParaRPr lang="en-US" sz="1040" dirty="0"/>
          </a:p>
        </p:txBody>
      </p:sp>
      <p:sp>
        <p:nvSpPr>
          <p:cNvPr id="11" name="Text 8"/>
          <p:cNvSpPr/>
          <p:nvPr/>
        </p:nvSpPr>
        <p:spPr>
          <a:xfrm>
            <a:off x="6035040" y="2221992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dirty="0">
                <a:solidFill>
                  <a:srgbClr val="5D7282"/>
                </a:solidFill>
              </a:rPr>
              <a:t>D. Un programa únicamente para investigar accidentes.</a:t>
            </a:r>
            <a:endParaRPr lang="en-US" sz="1040" dirty="0"/>
          </a:p>
        </p:txBody>
      </p:sp>
      <p:sp>
        <p:nvSpPr>
          <p:cNvPr id="12" name="Shape 9"/>
          <p:cNvSpPr/>
          <p:nvPr/>
        </p:nvSpPr>
        <p:spPr>
          <a:xfrm>
            <a:off x="685800" y="2926080"/>
            <a:ext cx="10835640" cy="1344168"/>
          </a:xfrm>
          <a:prstGeom prst="roundRect">
            <a:avLst>
              <a:gd name="adj" fmla="val 5442"/>
            </a:avLst>
          </a:prstGeom>
          <a:solidFill>
            <a:srgbClr val="FFFFFF"/>
          </a:solidFill>
          <a:ln w="12700">
            <a:solidFill>
              <a:srgbClr val="DCE8E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932688" y="3072384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1E4D7A"/>
                </a:solidFill>
              </a:rPr>
              <a:t>2. En el ciclo PHVA, ¿qué corresponde a “Verificar”?</a:t>
            </a:r>
            <a:endParaRPr lang="en-US" sz="1320" dirty="0"/>
          </a:p>
        </p:txBody>
      </p:sp>
      <p:sp>
        <p:nvSpPr>
          <p:cNvPr id="14" name="Text 11"/>
          <p:cNvSpPr/>
          <p:nvPr/>
        </p:nvSpPr>
        <p:spPr>
          <a:xfrm>
            <a:off x="960120" y="3429000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dirty="0">
                <a:solidFill>
                  <a:srgbClr val="5D7282"/>
                </a:solidFill>
              </a:rPr>
              <a:t>A. Medir resultados, revisar indicadores y auditar.</a:t>
            </a:r>
            <a:endParaRPr lang="en-US" sz="1040" dirty="0"/>
          </a:p>
        </p:txBody>
      </p:sp>
      <p:sp>
        <p:nvSpPr>
          <p:cNvPr id="15" name="Text 12"/>
          <p:cNvSpPr/>
          <p:nvPr/>
        </p:nvSpPr>
        <p:spPr>
          <a:xfrm>
            <a:off x="6035040" y="3429000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dirty="0">
                <a:solidFill>
                  <a:srgbClr val="5D7282"/>
                </a:solidFill>
              </a:rPr>
              <a:t>B. Definir únicamente la política de SST.</a:t>
            </a:r>
            <a:endParaRPr lang="en-US" sz="1040" dirty="0"/>
          </a:p>
        </p:txBody>
      </p:sp>
      <p:sp>
        <p:nvSpPr>
          <p:cNvPr id="16" name="Text 13"/>
          <p:cNvSpPr/>
          <p:nvPr/>
        </p:nvSpPr>
        <p:spPr>
          <a:xfrm>
            <a:off x="960120" y="3794760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dirty="0">
                <a:solidFill>
                  <a:srgbClr val="5D7282"/>
                </a:solidFill>
              </a:rPr>
              <a:t>C. Comprar elementos de protección personal.</a:t>
            </a:r>
            <a:endParaRPr lang="en-US" sz="1040" dirty="0"/>
          </a:p>
        </p:txBody>
      </p:sp>
      <p:sp>
        <p:nvSpPr>
          <p:cNvPr id="17" name="Text 14"/>
          <p:cNvSpPr/>
          <p:nvPr/>
        </p:nvSpPr>
        <p:spPr>
          <a:xfrm>
            <a:off x="6035040" y="3794760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dirty="0">
                <a:solidFill>
                  <a:srgbClr val="5D7282"/>
                </a:solidFill>
              </a:rPr>
              <a:t>D. Contratar personal nuevo.</a:t>
            </a:r>
            <a:endParaRPr lang="en-US" sz="1040" dirty="0"/>
          </a:p>
        </p:txBody>
      </p:sp>
      <p:sp>
        <p:nvSpPr>
          <p:cNvPr id="18" name="Shape 15"/>
          <p:cNvSpPr/>
          <p:nvPr/>
        </p:nvSpPr>
        <p:spPr>
          <a:xfrm>
            <a:off x="685800" y="4498848"/>
            <a:ext cx="10835640" cy="1344168"/>
          </a:xfrm>
          <a:prstGeom prst="roundRect">
            <a:avLst>
              <a:gd name="adj" fmla="val 5442"/>
            </a:avLst>
          </a:prstGeom>
          <a:solidFill>
            <a:srgbClr val="FFFFFF"/>
          </a:solidFill>
          <a:ln w="12700">
            <a:solidFill>
              <a:srgbClr val="DCE8E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932688" y="464515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1E4D7A"/>
                </a:solidFill>
              </a:rPr>
              <a:t>3. ¿De qué depende la exigencia de Estándares Mínimos?</a:t>
            </a:r>
            <a:endParaRPr lang="en-US" sz="1320" dirty="0"/>
          </a:p>
        </p:txBody>
      </p:sp>
      <p:sp>
        <p:nvSpPr>
          <p:cNvPr id="20" name="Text 17"/>
          <p:cNvSpPr/>
          <p:nvPr/>
        </p:nvSpPr>
        <p:spPr>
          <a:xfrm>
            <a:off x="960120" y="5001768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dirty="0">
                <a:solidFill>
                  <a:srgbClr val="5D7282"/>
                </a:solidFill>
              </a:rPr>
              <a:t>A. Solo de la ciudad donde opera la empresa.</a:t>
            </a:r>
            <a:endParaRPr lang="en-US" sz="1040" dirty="0"/>
          </a:p>
        </p:txBody>
      </p:sp>
      <p:sp>
        <p:nvSpPr>
          <p:cNvPr id="21" name="Text 18"/>
          <p:cNvSpPr/>
          <p:nvPr/>
        </p:nvSpPr>
        <p:spPr>
          <a:xfrm>
            <a:off x="6035040" y="5001768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dirty="0">
                <a:solidFill>
                  <a:srgbClr val="5D7282"/>
                </a:solidFill>
              </a:rPr>
              <a:t>B. Solo del cargo del gerente.</a:t>
            </a:r>
            <a:endParaRPr lang="en-US" sz="1040" dirty="0"/>
          </a:p>
        </p:txBody>
      </p:sp>
      <p:sp>
        <p:nvSpPr>
          <p:cNvPr id="22" name="Text 19"/>
          <p:cNvSpPr/>
          <p:nvPr/>
        </p:nvSpPr>
        <p:spPr>
          <a:xfrm>
            <a:off x="960120" y="5367528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dirty="0">
                <a:solidFill>
                  <a:srgbClr val="5D7282"/>
                </a:solidFill>
              </a:rPr>
              <a:t>C. Del número de trabajadores y la clase de riesgo.</a:t>
            </a:r>
            <a:endParaRPr lang="en-US" sz="1040" dirty="0"/>
          </a:p>
        </p:txBody>
      </p:sp>
      <p:sp>
        <p:nvSpPr>
          <p:cNvPr id="23" name="Text 20"/>
          <p:cNvSpPr/>
          <p:nvPr/>
        </p:nvSpPr>
        <p:spPr>
          <a:xfrm>
            <a:off x="6035040" y="5367528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dirty="0">
                <a:solidFill>
                  <a:srgbClr val="5D7282"/>
                </a:solidFill>
              </a:rPr>
              <a:t>D. Únicamente de la antigüedad de la empresa.</a:t>
            </a:r>
            <a:endParaRPr lang="en-US" sz="10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92824"/>
            <a:ext cx="32004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sgsst_deck/sanithelp_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050" y="256032"/>
            <a:ext cx="1074179" cy="822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920240" y="301752"/>
            <a:ext cx="9464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E4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Evaluación de conocimientos</a:t>
            </a:r>
            <a:endParaRPr lang="en-US" sz="2300" dirty="0"/>
          </a:p>
        </p:txBody>
      </p:sp>
      <p:sp>
        <p:nvSpPr>
          <p:cNvPr id="4" name="Text 1"/>
          <p:cNvSpPr/>
          <p:nvPr/>
        </p:nvSpPr>
        <p:spPr>
          <a:xfrm>
            <a:off x="1938528" y="758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7282"/>
                </a:solidFill>
              </a:rPr>
              <a:t>Preguntas 4 y 5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1920240" y="1060704"/>
            <a:ext cx="9555480" cy="0"/>
          </a:xfrm>
          <a:prstGeom prst="line">
            <a:avLst/>
          </a:prstGeom>
          <a:noFill/>
          <a:ln w="16510">
            <a:solidFill>
              <a:srgbClr val="58B9C9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14400" y="1554480"/>
            <a:ext cx="1033272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CE8E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1234440" y="1755648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4D7A"/>
                </a:solidFill>
              </a:rPr>
              <a:t>4. Si la autoevaluación obtiene un puntaje menor al 60%, la valoración es: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280160" y="224028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7282"/>
                </a:solidFill>
              </a:rPr>
              <a:t>A. Aceptable.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172200" y="224028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7282"/>
                </a:solidFill>
              </a:rPr>
              <a:t>B. Crítica.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280160" y="267919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7282"/>
                </a:solidFill>
              </a:rPr>
              <a:t>C. Moderadamente aceptable.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172200" y="267919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7282"/>
                </a:solidFill>
              </a:rPr>
              <a:t>D. No requiere seguimiento.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914400" y="3657600"/>
            <a:ext cx="1033272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CE8E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1234440" y="3858768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4D7A"/>
                </a:solidFill>
              </a:rPr>
              <a:t>5. ¿Cuál conducta del trabajador fortalece directamente el SG-SST?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280160" y="434340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7282"/>
                </a:solidFill>
              </a:rPr>
              <a:t>A. Omitir una condición insegura para evitar retrasos.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172200" y="434340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7282"/>
                </a:solidFill>
              </a:rPr>
              <a:t>B. Participar y reportar peligros o incidentes oportunamente.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280160" y="478231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7282"/>
                </a:solidFill>
              </a:rPr>
              <a:t>C. Esperar que SST identifique todos los riesgos.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172200" y="478231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7282"/>
                </a:solidFill>
              </a:rPr>
              <a:t>D. Cumplir controles solo cuando hay auditoría.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92824"/>
            <a:ext cx="32004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sgsst_deck/sanithelp_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050" y="256032"/>
            <a:ext cx="1074179" cy="822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920240" y="301752"/>
            <a:ext cx="9464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E4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Respuestas y cierre</a:t>
            </a:r>
            <a:endParaRPr lang="en-US" sz="2300" dirty="0"/>
          </a:p>
        </p:txBody>
      </p:sp>
      <p:sp>
        <p:nvSpPr>
          <p:cNvPr id="4" name="Text 1"/>
          <p:cNvSpPr/>
          <p:nvPr/>
        </p:nvSpPr>
        <p:spPr>
          <a:xfrm>
            <a:off x="1938528" y="758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7282"/>
                </a:solidFill>
              </a:rPr>
              <a:t>Refuerza los conceptos esenciales del SG-SST.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1920240" y="1060704"/>
            <a:ext cx="9555480" cy="0"/>
          </a:xfrm>
          <a:prstGeom prst="line">
            <a:avLst/>
          </a:prstGeom>
          <a:noFill/>
          <a:ln w="16510">
            <a:solidFill>
              <a:srgbClr val="58B9C9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68680" y="1490472"/>
            <a:ext cx="420624" cy="420624"/>
          </a:xfrm>
          <a:prstGeom prst="ellipse">
            <a:avLst/>
          </a:prstGeom>
          <a:solidFill>
            <a:srgbClr val="58B9C9"/>
          </a:solidFill>
          <a:ln w="12700">
            <a:solidFill>
              <a:srgbClr val="58B9C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68680" y="1540764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444752" y="1490472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58B9C9"/>
                </a:solidFill>
              </a:rPr>
              <a:t>B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874520" y="1444752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30" dirty="0">
                <a:solidFill>
                  <a:srgbClr val="5D7282"/>
                </a:solidFill>
              </a:rPr>
              <a:t>El SG-SST es un proceso lógico, por etapas y basado en mejora continua.</a:t>
            </a:r>
            <a:endParaRPr lang="en-US" sz="1230" dirty="0"/>
          </a:p>
        </p:txBody>
      </p:sp>
      <p:sp>
        <p:nvSpPr>
          <p:cNvPr id="10" name="Shape 7"/>
          <p:cNvSpPr/>
          <p:nvPr/>
        </p:nvSpPr>
        <p:spPr>
          <a:xfrm>
            <a:off x="868680" y="2350008"/>
            <a:ext cx="420624" cy="420624"/>
          </a:xfrm>
          <a:prstGeom prst="ellipse">
            <a:avLst/>
          </a:prstGeom>
          <a:solidFill>
            <a:srgbClr val="4D679C"/>
          </a:solidFill>
          <a:ln w="12700">
            <a:solidFill>
              <a:srgbClr val="4D679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68680" y="2400300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444752" y="2350008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D679C"/>
                </a:solidFill>
              </a:rPr>
              <a:t>A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874520" y="2304288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30" dirty="0">
                <a:solidFill>
                  <a:srgbClr val="5D7282"/>
                </a:solidFill>
              </a:rPr>
              <a:t>Verificar implica medir, evaluar, auditar y revisar el desempeño.</a:t>
            </a:r>
            <a:endParaRPr lang="en-US" sz="1230" dirty="0"/>
          </a:p>
        </p:txBody>
      </p:sp>
      <p:sp>
        <p:nvSpPr>
          <p:cNvPr id="14" name="Shape 11"/>
          <p:cNvSpPr/>
          <p:nvPr/>
        </p:nvSpPr>
        <p:spPr>
          <a:xfrm>
            <a:off x="868680" y="3209544"/>
            <a:ext cx="420624" cy="420624"/>
          </a:xfrm>
          <a:prstGeom prst="ellipse">
            <a:avLst/>
          </a:prstGeom>
          <a:solidFill>
            <a:srgbClr val="58B9C9"/>
          </a:solidFill>
          <a:ln w="12700">
            <a:solidFill>
              <a:srgbClr val="58B9C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68680" y="3259836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44752" y="3209544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58B9C9"/>
                </a:solidFill>
              </a:rPr>
              <a:t>C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874520" y="3163824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30" dirty="0">
                <a:solidFill>
                  <a:srgbClr val="5D7282"/>
                </a:solidFill>
              </a:rPr>
              <a:t>La Resolución 0312 ajusta exigencias por número de trabajadores y clase de riesgo.</a:t>
            </a:r>
            <a:endParaRPr lang="en-US" sz="1230" dirty="0"/>
          </a:p>
        </p:txBody>
      </p:sp>
      <p:sp>
        <p:nvSpPr>
          <p:cNvPr id="18" name="Shape 15"/>
          <p:cNvSpPr/>
          <p:nvPr/>
        </p:nvSpPr>
        <p:spPr>
          <a:xfrm>
            <a:off x="868680" y="4069080"/>
            <a:ext cx="420624" cy="420624"/>
          </a:xfrm>
          <a:prstGeom prst="ellipse">
            <a:avLst/>
          </a:prstGeom>
          <a:solidFill>
            <a:srgbClr val="4D679C"/>
          </a:solidFill>
          <a:ln w="12700">
            <a:solidFill>
              <a:srgbClr val="4D679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68680" y="4119372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444752" y="4069080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D679C"/>
                </a:solidFill>
              </a:rPr>
              <a:t>B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1874520" y="4023360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30" dirty="0">
                <a:solidFill>
                  <a:srgbClr val="5D7282"/>
                </a:solidFill>
              </a:rPr>
              <a:t>Un resultado menor al 60% se clasifica como crítico.</a:t>
            </a:r>
            <a:endParaRPr lang="en-US" sz="1230" dirty="0"/>
          </a:p>
        </p:txBody>
      </p:sp>
      <p:sp>
        <p:nvSpPr>
          <p:cNvPr id="22" name="Shape 19"/>
          <p:cNvSpPr/>
          <p:nvPr/>
        </p:nvSpPr>
        <p:spPr>
          <a:xfrm>
            <a:off x="868680" y="4928616"/>
            <a:ext cx="420624" cy="420624"/>
          </a:xfrm>
          <a:prstGeom prst="ellipse">
            <a:avLst/>
          </a:prstGeom>
          <a:solidFill>
            <a:srgbClr val="58B9C9"/>
          </a:solidFill>
          <a:ln w="12700">
            <a:solidFill>
              <a:srgbClr val="58B9C9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68680" y="4978908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1444752" y="4928616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58B9C9"/>
                </a:solidFill>
              </a:rPr>
              <a:t>B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1874520" y="4882896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30" dirty="0">
                <a:solidFill>
                  <a:srgbClr val="5D7282"/>
                </a:solidFill>
              </a:rPr>
              <a:t>La participación y el reporte oportuno son responsabilidades clave del trabajador.</a:t>
            </a:r>
            <a:endParaRPr lang="en-US" sz="1230" dirty="0"/>
          </a:p>
        </p:txBody>
      </p:sp>
      <p:sp>
        <p:nvSpPr>
          <p:cNvPr id="26" name="Shape 23"/>
          <p:cNvSpPr/>
          <p:nvPr/>
        </p:nvSpPr>
        <p:spPr>
          <a:xfrm>
            <a:off x="1965960" y="5623560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EAF7F8"/>
          </a:solidFill>
          <a:ln w="12700">
            <a:solidFill>
              <a:srgbClr val="BFE5E9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2148840" y="5815584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1E4D7A"/>
                </a:solidFill>
              </a:rPr>
              <a:t>La meta no es “pasar una auditoría”: es prevenir lesiones, enfermedades y mejorar continuamente.</a:t>
            </a:r>
            <a:endParaRPr lang="en-US" sz="132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92824"/>
            <a:ext cx="32004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1822</Words>
  <Application>Microsoft Office PowerPoint</Application>
  <PresentationFormat>Panorámica</PresentationFormat>
  <Paragraphs>252</Paragraphs>
  <Slides>13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SanitHelp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Fundamentos del SG-SST y estándares mínimos</dc:title>
  <dc:subject>Fundamentos del SG-SST y estándares mínimos - Resolución 0312 de 2019</dc:subject>
  <dc:creator>OpenAI</dc:creator>
  <cp:lastModifiedBy>Resultados</cp:lastModifiedBy>
  <cp:revision>1</cp:revision>
  <dcterms:created xsi:type="dcterms:W3CDTF">2026-10-26T17:00:08Z</dcterms:created>
  <dcterms:modified xsi:type="dcterms:W3CDTF">2026-10-26T18:13:06Z</dcterms:modified>
</cp:coreProperties>
</file>