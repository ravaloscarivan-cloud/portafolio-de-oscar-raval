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https://www.minsalud.gov.co/salud/CAS/Paginas/seguridad-del-paciente.aspx
- https://www.minsalud.gov.co/Normativa/Resoluciones/001315%20de%202026.pdf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https://www.minsalud.gov.co/Normativa/Resoluciones/001315%20de%202026.pdf
- https://minsalud.gov.co/Normatividad_Nuevo/Resoluci%C3%B3n%20No.%20229%20de%202020.pdf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https://www.minsalud.gov.co/salud/CAS/Paginas/seguridad-del-paciente.aspx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https://www.minsalud.gov.co/salud/CAS/Paginas/seguridad-del-paciente.aspx
- https://www.minsalud.gov.co/Normativa/Resoluciones/001315%20de%202026.pdf
- https://minsalud.gov.co/Normatividad_Nuevo/Resoluci%C3%B3n%20No.%20229%20de%202020.pdf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IT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Atención segura y humanizada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6132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Capacitación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50876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64592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3A63"/>
                </a:solidFill>
              </a:rPr>
              <a:t>ATENCIÓN A PACIENTES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94944" y="240487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5C96"/>
                </a:solidFill>
              </a:rPr>
              <a:t>Trato humanizado, comunicación y seguridad en la atención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3232" y="3246120"/>
            <a:ext cx="6720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746"/>
                </a:solidFill>
              </a:rPr>
              <a:t>Objetivo: fortalecer prácticas de atención respetuosa, clara y segura que protejan la dignidad, la información y el bienestar del paciente.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818120" y="1188720"/>
            <a:ext cx="36118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EE"/>
            </a:solidFill>
            <a:prstDash val="solid"/>
          </a:ln>
          <a:effectLst>
            <a:outerShdw sx="100000" sy="100000" kx="0" ky="0" algn="bl" rotWithShape="0" blurRad="17780" dist="635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823960" y="1828800"/>
            <a:ext cx="1645920" cy="1417320"/>
          </a:xfrm>
          <a:prstGeom prst="heart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63456" y="2176272"/>
            <a:ext cx="566928" cy="566928"/>
          </a:xfrm>
          <a:prstGeom prst="plus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58200" y="3566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A63"/>
                </a:solidFill>
              </a:rPr>
              <a:t>4 claves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12480" y="4005072"/>
            <a:ext cx="24688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Respeto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Comunicación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Seguridad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Confidencialidad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23444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3657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6B7C7"/>
                </a:solidFill>
              </a:rPr>
              <a:t>1. EXPERIENCIA DEL PACIENTE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965960" y="6126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¿Qué significa una buena atención?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EAF7FA"/>
          </a:solidFill>
          <a:ln w="12700">
            <a:solidFill>
              <a:srgbClr val="D9E5EC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691640"/>
            <a:ext cx="393192" cy="393192"/>
          </a:xfrm>
          <a:prstGeom prst="ellipse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08176" y="1645920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63"/>
                </a:solidFill>
              </a:rPr>
              <a:t>Trato digno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203704"/>
            <a:ext cx="2880360" cy="3172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350" dirty="0">
                <a:solidFill>
                  <a:srgbClr val="243746"/>
                </a:solidFill>
              </a:rPr>
              <a:t>Saludar e identificarse.</a:t>
            </a:r>
            <a:endParaRPr lang="en-US" sz="1350" dirty="0"/>
          </a:p>
          <a:p>
            <a:r>
              <a:rPr lang="en-US" sz="1350" dirty="0">
                <a:solidFill>
                  <a:srgbClr val="243746"/>
                </a:solidFill>
              </a:rPr>
              <a:t>Escuchar sin interrumpir.</a:t>
            </a:r>
            <a:endParaRPr lang="en-US" sz="1350" dirty="0"/>
          </a:p>
          <a:p>
            <a:r>
              <a:rPr lang="en-US" sz="1350" dirty="0">
                <a:solidFill>
                  <a:srgbClr val="243746"/>
                </a:solidFill>
              </a:rPr>
              <a:t>Respetar creencias, privacidad y decisiones.</a:t>
            </a:r>
            <a:endParaRPr lang="en-US" sz="1350" dirty="0"/>
          </a:p>
          <a:p>
            <a:r>
              <a:rPr lang="en-US" sz="1350" dirty="0">
                <a:solidFill>
                  <a:srgbClr val="243746"/>
                </a:solidFill>
              </a:rPr>
              <a:t>Evitar lenguaje despectivo o juicios.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70832" y="14173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EDF3FA"/>
          </a:solidFill>
          <a:ln w="12700">
            <a:solidFill>
              <a:srgbClr val="D9E5EC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1691640"/>
            <a:ext cx="393192" cy="393192"/>
          </a:xfrm>
          <a:prstGeom prst="ellipse">
            <a:avLst/>
          </a:prstGeom>
          <a:solidFill>
            <a:srgbClr val="355C96"/>
          </a:solidFill>
          <a:ln w="12700">
            <a:solidFill>
              <a:srgbClr val="355C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38928" y="1645920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63"/>
                </a:solidFill>
              </a:rPr>
              <a:t>Comunicación clara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45152" y="2203704"/>
            <a:ext cx="2880360" cy="3172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350" dirty="0">
                <a:solidFill>
                  <a:srgbClr val="243746"/>
                </a:solidFill>
              </a:rPr>
              <a:t>Explicar con lenguaje sencillo.</a:t>
            </a:r>
            <a:endParaRPr lang="en-US" sz="1350" dirty="0"/>
          </a:p>
          <a:p>
            <a:r>
              <a:rPr lang="en-US" sz="1350" dirty="0">
                <a:solidFill>
                  <a:srgbClr val="243746"/>
                </a:solidFill>
              </a:rPr>
              <a:t>Verificar que el paciente comprendió.</a:t>
            </a:r>
            <a:endParaRPr lang="en-US" sz="1350" dirty="0"/>
          </a:p>
          <a:p>
            <a:r>
              <a:rPr lang="en-US" sz="1350" dirty="0">
                <a:solidFill>
                  <a:srgbClr val="243746"/>
                </a:solidFill>
              </a:rPr>
              <a:t>Informar pasos, tiempos y responsables.</a:t>
            </a:r>
            <a:endParaRPr lang="en-US" sz="1350" dirty="0"/>
          </a:p>
          <a:p>
            <a:r>
              <a:rPr lang="en-US" sz="1350" dirty="0">
                <a:solidFill>
                  <a:srgbClr val="243746"/>
                </a:solidFill>
              </a:rPr>
              <a:t>Resolver dudas con respeto.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101584" y="14173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4FAF6"/>
          </a:solidFill>
          <a:ln w="12700">
            <a:solidFill>
              <a:srgbClr val="D9E5EC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57616" y="1691640"/>
            <a:ext cx="393192" cy="393192"/>
          </a:xfrm>
          <a:prstGeom prst="ellipse">
            <a:avLst/>
          </a:prstGeom>
          <a:solidFill>
            <a:srgbClr val="5BAF8A"/>
          </a:solidFill>
          <a:ln w="12700">
            <a:solidFill>
              <a:srgbClr val="5BAF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0" y="1645920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63"/>
                </a:solidFill>
              </a:rPr>
              <a:t>Atención humanizada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75904" y="2203704"/>
            <a:ext cx="2880360" cy="3172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350" dirty="0">
                <a:solidFill>
                  <a:srgbClr val="243746"/>
                </a:solidFill>
              </a:rPr>
              <a:t>Reconocer a la persona, no solo el diagnóstico.</a:t>
            </a:r>
            <a:endParaRPr lang="en-US" sz="1350" dirty="0"/>
          </a:p>
          <a:p>
            <a:r>
              <a:rPr lang="en-US" sz="1350" dirty="0">
                <a:solidFill>
                  <a:srgbClr val="243746"/>
                </a:solidFill>
              </a:rPr>
              <a:t>Mostrar empatía y disponibilidad.</a:t>
            </a:r>
            <a:endParaRPr lang="en-US" sz="1350" dirty="0"/>
          </a:p>
          <a:p>
            <a:r>
              <a:rPr lang="en-US" sz="1350" dirty="0">
                <a:solidFill>
                  <a:srgbClr val="243746"/>
                </a:solidFill>
              </a:rPr>
              <a:t>Cuidar la intimidad.</a:t>
            </a:r>
            <a:endParaRPr lang="en-US" sz="1350" dirty="0"/>
          </a:p>
          <a:p>
            <a:r>
              <a:rPr lang="en-US" sz="1350" dirty="0">
                <a:solidFill>
                  <a:srgbClr val="243746"/>
                </a:solidFill>
              </a:rPr>
              <a:t>Favorecer una relación respetuosa y solidaria.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43000" y="5852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A63"/>
                </a:solidFill>
              </a:rPr>
              <a:t>Una atención de calidad combina competencia técnica con respeto, escucha y comunicación.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23444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3657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6B7C7"/>
                </a:solidFill>
              </a:rPr>
              <a:t>2. ATENCIÓN SEGURA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965960" y="6126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Seguridad del paciente en cada contacto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85800" y="1280160"/>
            <a:ext cx="10744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746"/>
                </a:solidFill>
              </a:rPr>
              <a:t>La seguridad del paciente busca reducir riesgos durante la atención y establecer barreras que prevengan eventos adversos.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" y="2240280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1396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</a:rPr>
              <a:t>Identificar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971800" y="212140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43746"/>
                </a:solidFill>
              </a:rPr>
              <a:t>Confirmar identidad antes de procedimientos, entrega de información o medicamentos.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822960" y="3090672"/>
            <a:ext cx="502920" cy="502920"/>
          </a:xfrm>
          <a:prstGeom prst="ellipse">
            <a:avLst/>
          </a:prstGeom>
          <a:solidFill>
            <a:srgbClr val="355C96"/>
          </a:solidFill>
          <a:ln w="12700">
            <a:solidFill>
              <a:srgbClr val="355C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318211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54480" y="3081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</a:rPr>
              <a:t>Verificar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71800" y="306324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43746"/>
                </a:solidFill>
              </a:rPr>
              <a:t>Revisar orden, procedimiento, alergias, restricciones y condiciones relevantes.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822960" y="4032504"/>
            <a:ext cx="502920" cy="502920"/>
          </a:xfrm>
          <a:prstGeom prst="ellipse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412394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554480" y="4023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</a:rPr>
              <a:t>Comunicar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71800" y="4005072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43746"/>
                </a:solidFill>
              </a:rPr>
              <a:t>Transmitir información completa, clara y oportuna entre paciente y equipo.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822960" y="4974336"/>
            <a:ext cx="502920" cy="502920"/>
          </a:xfrm>
          <a:prstGeom prst="ellipse">
            <a:avLst/>
          </a:prstGeom>
          <a:solidFill>
            <a:srgbClr val="355C96"/>
          </a:solidFill>
          <a:ln w="12700">
            <a:solidFill>
              <a:srgbClr val="355C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5065776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554480" y="4965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</a:rPr>
              <a:t>Reportar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971800" y="4946904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43746"/>
                </a:solidFill>
              </a:rPr>
              <a:t>Informar incidentes, eventos adversos o riesgos detectados para activar acciones de mejora.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8138160" y="5760720"/>
            <a:ext cx="3246120" cy="475488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F5D6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58978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8A5B14"/>
                </a:solidFill>
              </a:rPr>
              <a:t>Ante una duda: detener, verificar y escalar.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23444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3657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6B7C7"/>
                </a:solidFill>
              </a:rPr>
              <a:t>3. CONDUCTAS ESPERADAS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965960" y="6126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Cierre: compromiso en la atención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731520" y="1417320"/>
            <a:ext cx="6720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78308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A63"/>
                </a:solidFill>
              </a:rPr>
              <a:t>Antes de terminar cada atención, pregúntate: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51560" y="2468880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5568" y="252374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43230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¿Traté al paciente con respeto y empatía?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51560" y="3017520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3072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54480" y="29809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¿Expliqué la información de manera comprensible?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51560" y="3566160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36210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554480" y="352958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¿Verifiqué datos críticos antes de actuar?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51560" y="4114800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416966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54480" y="407822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¿Protegí la privacidad y confidencialidad?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51560" y="4663440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47183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554480" y="462686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¿Reporté cualquier riesgo o situación insegura?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863840" y="1645920"/>
            <a:ext cx="3429000" cy="3520440"/>
          </a:xfrm>
          <a:prstGeom prst="round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COMPROMISO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275320" y="2697480"/>
            <a:ext cx="260604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Brindar una atención respetuosa, segura y humanizada, proteger la información del paciente y comunicar oportunamente cualquier riesgo o situación que pueda afectar su bienestar.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092440" y="46177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F0F4"/>
                </a:solidFill>
              </a:rPr>
              <a:t>La calidad también se siente en la forma en que atendemos.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Atención a pacientes - SanitHelp</dc:title>
  <dc:subject>Atención a pacientes</dc:subject>
  <dc:creator>OpenAI</dc:creator>
  <cp:lastModifiedBy>OpenAI</cp:lastModifiedBy>
  <cp:revision>1</cp:revision>
  <dcterms:created xsi:type="dcterms:W3CDTF">2026-10-27T16:02:08Z</dcterms:created>
  <dcterms:modified xsi:type="dcterms:W3CDTF">2026-10-27T16:02:08Z</dcterms:modified>
</cp:coreProperties>
</file>