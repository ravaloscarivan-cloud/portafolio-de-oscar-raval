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https://www.minsalud.gov.co/sites/rid/Lists/BibliotecaDigital/RIDE/VS/ED/VSP/psps03-lineamiento-bioseguridad-red-nal-lab.pdf
- https://www.minsalud.gov.co/sites/rid/Lists/BibliotecaDigital/RIDE/DE/DIJ/resolucion-591-de-2024.pdf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https://www.minsalud.gov.co/sites/rid/Lists/BibliotecaDigital/RIDE/VS/ED/VSP/psps03-lineamiento-bioseguridad-red-nal-lab.pdf
- https://www.minsalud.gov.co/sites/rid/Lists/BibliotecaDigital/RIDE/DE/DIJ/resolucion-591-de-2024.pdf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https://www.minsalud.gov.co/sites/rid/Lists/BibliotecaDigital/RIDE/VS/ED/VSP/psps03-lineamiento-bioseguridad-red-nal-lab.pdf
- https://www.minsalud.gov.co/sites/rid/Lists/BibliotecaDigital/RIDE/DE/DIJ/resolucion-591-de-2024.pdf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https://www.minsalud.gov.co/sites/rid/Lists/BibliotecaDigital/RIDE/VS/ED/VSP/psps03-lineamiento-bioseguridad-red-nal-lab.pdf
- https://www.minsalud.gov.co/sites/rid/Lists/BibliotecaDigital/RIDE/DE/DIJ/resolucion-591-de-2024.pdf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https://www.minsalud.gov.co/sites/rid/Lists/BibliotecaDigital/RIDE/VS/ED/VSP/psps03-lineamiento-bioseguridad-red-nal-lab.pdf
- https://www.minsalud.gov.co/sites/rid/Lists/BibliotecaDigital/RIDE/VS/PP/ET/protocolo-pep-riesgo-biologico-its-vih-hepatitis-actualizacion-2025.pdf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https://www.minsalud.gov.co/sites/rid/Lists/BibliotecaDigital/RIDE/VS/ED/VSP/psps03-lineamiento-bioseguridad-red-nal-lab.pdf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https://www.minsalud.gov.co/sites/rid/Lists/BibliotecaDigital/RIDE/VS/PP/ET/protocolo-pep-riesgo-biologico-its-vih-hepatitis-actualizacion-2025.pdf
- https://www.minsalud.gov.co/sites/rid/Lists/BibliotecaDigital/RIDE/VS/ED/VSP/psps03-lineamiento-bioseguridad-red-nal-lab.pdf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https://www.minsalud.gov.co/sites/rid/Lists/BibliotecaDigital/RIDE/DE/DIJ/resolucion-591-de-2024.pdf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https://www.minsalud.gov.co/sites/rid/Lists/BibliotecaDigital/RIDE/DE/DIJ/resolucion-591-de-2024.pdf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https://www.minsalud.gov.co/sites/rid/Lists/BibliotecaDigital/RIDE/DE/DIJ/resolucion-591-de-2024.pdf
- https://www.minsalud.gov.co/sites/rid/Lists/BibliotecaDigital/RIDE/VS/ED/VSP/psps03-lineamiento-bioseguridad-red-nal-lab.pdf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https://www.minsalud.gov.co/sites/rid/Lists/BibliotecaDigital/RIDE/VS/ED/VSP/psps03-lineamiento-bioseguridad-red-nal-lab.pdf
- https://www.minsalud.gov.co/sites/rid/Lists/BibliotecaDigital/RIDE/DE/DIJ/resolucion-591-de-2024.pdf
- https://www.minsalud.gov.co/sites/rid/Lists/BibliotecaDigital/RIDE/VS/PP/ET/protocolo-pep-riesgo-biologico-its-vih-hepatitis-actualizacion-2025.pdf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235786"/>
          </a:solidFill>
          <a:ln w="12700">
            <a:solidFill>
              <a:srgbClr val="2357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620256"/>
            <a:ext cx="5303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• Seguridad del paciente y del trabajador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678" y="594360"/>
            <a:ext cx="1074179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828800"/>
            <a:ext cx="5897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5786"/>
                </a:solidFill>
              </a:rPr>
              <a:t>Riesgo biológico, bioseguridad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58368" y="2487168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5B6C8"/>
                </a:solidFill>
              </a:rPr>
              <a:t>y manejo de residuos en IPS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685800" y="31821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B67A1"/>
                </a:solidFill>
              </a:rPr>
              <a:t>Capacitación para colaboradores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85800" y="368503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1788C"/>
                </a:solidFill>
              </a:rPr>
              <a:t>Prevenir la exposición • Cortar la cadena de transmisión • Segregar correctamente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629400" y="1234440"/>
            <a:ext cx="4663440" cy="4389120"/>
          </a:xfrm>
          <a:prstGeom prst="roundRect">
            <a:avLst>
              <a:gd name="adj" fmla="val 2083"/>
            </a:avLst>
          </a:prstGeom>
          <a:solidFill>
            <a:srgbClr val="F1F8FA"/>
          </a:solidFill>
          <a:ln w="15240">
            <a:solidFill>
              <a:srgbClr val="C9DFE5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98080" y="1828800"/>
            <a:ext cx="1920240" cy="1920240"/>
          </a:xfrm>
          <a:prstGeom prst="hexagon">
            <a:avLst/>
          </a:prstGeom>
          <a:solidFill>
            <a:srgbClr val="235786"/>
          </a:solidFill>
          <a:ln w="12700">
            <a:solidFill>
              <a:srgbClr val="23578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23042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BIO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9646920" y="1783080"/>
            <a:ext cx="960120" cy="25146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55B6C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57232" y="2075688"/>
            <a:ext cx="530352" cy="530352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857232" y="2880360"/>
            <a:ext cx="530352" cy="530352"/>
          </a:xfrm>
          <a:prstGeom prst="ellipse">
            <a:avLst/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857232" y="3685032"/>
            <a:ext cx="530352" cy="530352"/>
          </a:xfrm>
          <a:prstGeom prst="ellipse">
            <a:avLst/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78040" y="4736592"/>
            <a:ext cx="365760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5786"/>
                </a:solidFill>
              </a:rPr>
              <a:t>La bioseguridad protege al trabajador, al paciente, al visitante y al ambiente.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Objetivos de la capacitación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¿Qué debemos reconocer y aplicar?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85800" y="14173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0392" y="1581912"/>
            <a:ext cx="91440" cy="159105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9848" y="1581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1. Reconocer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69848" y="1984248"/>
            <a:ext cx="292608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Identificar fuentes, vías de exposición y situaciones de riesgo biológico en la atención en salud.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4343400" y="14173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07992" y="1581912"/>
            <a:ext cx="91440" cy="159105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1581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2. Proteger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727448" y="1984248"/>
            <a:ext cx="292608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Aplicar medidas de bioseguridad, higiene de manos y elementos de protección según el riesgo.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8001000" y="141732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165592" y="1581912"/>
            <a:ext cx="91440" cy="159105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85048" y="15819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3. Gestionar residuos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85048" y="1984248"/>
            <a:ext cx="2926080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Segregar en la fuente y manejar correctamente residuos biosanitarios, cortopunzantes y no peligrosos.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1234440" y="4160520"/>
            <a:ext cx="9784080" cy="1097280"/>
          </a:xfrm>
          <a:prstGeom prst="roundRect">
            <a:avLst>
              <a:gd name="adj" fmla="val 6667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00200" y="448056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5786"/>
                </a:solidFill>
              </a:rPr>
              <a:t>Meta: reducir exposiciones, infecciones y eventos asociados al manejo inadecuado de residuos.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¿Qué es el riesgo biológico?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Exposición a agentes o materiales capaces de producir daño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31520" y="1417320"/>
            <a:ext cx="4754880" cy="4389120"/>
          </a:xfrm>
          <a:prstGeom prst="roundRect">
            <a:avLst>
              <a:gd name="adj" fmla="val 1667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828800"/>
            <a:ext cx="402336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35786"/>
                </a:solidFill>
              </a:rPr>
              <a:t>Puede aparecer por contacto con sangre, fluidos corporales, secreciones, muestras, tejidos, residuos contaminados o agentes biológicos presentes en la atención en salud.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97280" y="3794760"/>
            <a:ext cx="40233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B6C8"/>
                </a:solidFill>
              </a:rPr>
              <a:t>El nivel de riesgo depende de la tarea, la vía de entrada, el agente, la frecuencia de exposición y la eficacia de los controles.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897880" y="1481328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62472" y="1645920"/>
            <a:ext cx="91440" cy="136245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81928" y="1645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Sangre y fluidos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81928" y="2048256"/>
            <a:ext cx="18745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Contacto con piel no íntegra o mucosas.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8641080" y="1481328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805672" y="1645920"/>
            <a:ext cx="91440" cy="1362456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25128" y="16459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Cortopunzantes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025128" y="2048256"/>
            <a:ext cx="18745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Agujas, lancetas, bisturíes y elementos contaminados.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5897880" y="3538728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62472" y="3703320"/>
            <a:ext cx="91440" cy="136245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81928" y="3703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Aerosoles y gotas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81928" y="4105656"/>
            <a:ext cx="18745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Procedimientos o situaciones que dispersan material biológico.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8641080" y="3538728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805672" y="3703320"/>
            <a:ext cx="91440" cy="136245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025128" y="37033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Superficies y residuos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025128" y="4105656"/>
            <a:ext cx="1874520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Material contaminado durante limpieza, recolección o transporte interno.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Vías de exposición y cadena de transmisión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Prevenir significa interrumpir uno o más eslabones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02920" y="1920240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5400">
            <a:solidFill>
              <a:srgbClr val="D9534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1288" y="2148840"/>
            <a:ext cx="640080" cy="64008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907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786"/>
                </a:solidFill>
              </a:rPr>
              <a:t>FUENTE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" y="3273552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34E68"/>
                </a:solidFill>
              </a:rPr>
              <a:t>Paciente, muestra, material o residuo contaminado</a:t>
            </a:r>
            <a:endParaRPr lang="en-US" sz="1070" dirty="0"/>
          </a:p>
        </p:txBody>
      </p:sp>
      <p:sp>
        <p:nvSpPr>
          <p:cNvPr id="9" name="Shape 6"/>
          <p:cNvSpPr/>
          <p:nvPr/>
        </p:nvSpPr>
        <p:spPr>
          <a:xfrm>
            <a:off x="2532888" y="2596896"/>
            <a:ext cx="164592" cy="384048"/>
          </a:xfrm>
          <a:prstGeom prst="chevron">
            <a:avLst/>
          </a:prstGeom>
          <a:solidFill>
            <a:srgbClr val="C9DFE5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07208" y="1920240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5400">
            <a:solidFill>
              <a:srgbClr val="E9A2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65576" y="214884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90088" y="2907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786"/>
                </a:solidFill>
              </a:rPr>
              <a:t>SALIDA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971800" y="3273552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34E68"/>
                </a:solidFill>
              </a:rPr>
              <a:t>Sangre, secreciones, gotas o fluidos</a:t>
            </a:r>
            <a:endParaRPr lang="en-US" sz="1070" dirty="0"/>
          </a:p>
        </p:txBody>
      </p:sp>
      <p:sp>
        <p:nvSpPr>
          <p:cNvPr id="14" name="Shape 11"/>
          <p:cNvSpPr/>
          <p:nvPr/>
        </p:nvSpPr>
        <p:spPr>
          <a:xfrm>
            <a:off x="4837176" y="2596896"/>
            <a:ext cx="164592" cy="384048"/>
          </a:xfrm>
          <a:prstGeom prst="chevron">
            <a:avLst/>
          </a:prstGeom>
          <a:solidFill>
            <a:srgbClr val="C9DFE5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11496" y="1920240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5400">
            <a:solidFill>
              <a:srgbClr val="4B67A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9864" y="2148840"/>
            <a:ext cx="640080" cy="640080"/>
          </a:xfrm>
          <a:prstGeom prst="ellipse">
            <a:avLst/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94376" y="2907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786"/>
                </a:solidFill>
              </a:rPr>
              <a:t>TRANSMISIÓN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276088" y="3273552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34E68"/>
                </a:solidFill>
              </a:rPr>
              <a:t>Contacto, salpicadura, inhalación o inoculación</a:t>
            </a:r>
            <a:endParaRPr lang="en-US" sz="1070" dirty="0"/>
          </a:p>
        </p:txBody>
      </p:sp>
      <p:sp>
        <p:nvSpPr>
          <p:cNvPr id="19" name="Shape 16"/>
          <p:cNvSpPr/>
          <p:nvPr/>
        </p:nvSpPr>
        <p:spPr>
          <a:xfrm>
            <a:off x="7141464" y="2596896"/>
            <a:ext cx="164592" cy="384048"/>
          </a:xfrm>
          <a:prstGeom prst="chevron">
            <a:avLst/>
          </a:prstGeom>
          <a:solidFill>
            <a:srgbClr val="C9DFE5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15784" y="1920240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5400">
            <a:solidFill>
              <a:srgbClr val="55B6C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74152" y="2148840"/>
            <a:ext cx="640080" cy="640080"/>
          </a:xfrm>
          <a:prstGeom prst="ellipse">
            <a:avLst/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598664" y="2907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786"/>
                </a:solidFill>
              </a:rPr>
              <a:t>ENTRADA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580376" y="3273552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34E68"/>
                </a:solidFill>
              </a:rPr>
              <a:t>Mucosas, vía respiratoria, piel lesionada o punción</a:t>
            </a:r>
            <a:endParaRPr lang="en-US" sz="1070" dirty="0"/>
          </a:p>
        </p:txBody>
      </p:sp>
      <p:sp>
        <p:nvSpPr>
          <p:cNvPr id="24" name="Shape 21"/>
          <p:cNvSpPr/>
          <p:nvPr/>
        </p:nvSpPr>
        <p:spPr>
          <a:xfrm>
            <a:off x="9445752" y="2596896"/>
            <a:ext cx="164592" cy="384048"/>
          </a:xfrm>
          <a:prstGeom prst="chevron">
            <a:avLst/>
          </a:prstGeom>
          <a:solidFill>
            <a:srgbClr val="C9DFE5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720072" y="1920240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5400">
            <a:solidFill>
              <a:srgbClr val="59A96A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378440" y="2148840"/>
            <a:ext cx="640080" cy="640080"/>
          </a:xfrm>
          <a:prstGeom prst="ellipse">
            <a:avLst/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902952" y="29077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786"/>
                </a:solidFill>
              </a:rPr>
              <a:t>PERSONA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884664" y="3273552"/>
            <a:ext cx="162763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334E68"/>
                </a:solidFill>
              </a:rPr>
              <a:t>Trabajador, paciente, visitante u otro expuesto</a:t>
            </a:r>
            <a:endParaRPr lang="en-US" sz="1070" dirty="0"/>
          </a:p>
        </p:txBody>
      </p:sp>
      <p:sp>
        <p:nvSpPr>
          <p:cNvPr id="29" name="Text 26"/>
          <p:cNvSpPr/>
          <p:nvPr/>
        </p:nvSpPr>
        <p:spPr>
          <a:xfrm>
            <a:off x="1371600" y="4846320"/>
            <a:ext cx="9464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5786"/>
                </a:solidFill>
              </a:rPr>
              <a:t>Cada control reduce la probabilidad de que la cadena llegue hasta la persona susceptible.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Medidas de bioseguridad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Precauciones que se aplican de acuerdo con el riesgo de la tarea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85800" y="1298448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0392" y="1463040"/>
            <a:ext cx="91440" cy="99669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9848" y="14630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Higiene de manos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69848" y="1865376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Antes y después del contacto cuando corresponda, y después de retirar guantes.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355080" y="1298448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463040"/>
            <a:ext cx="91440" cy="99669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39128" y="14630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EPP adecuado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39128" y="1865376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Seleccionar guantes, bata, protección ocular/facial y respiratoria según la exposición prevista.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85800" y="2898648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0392" y="3063240"/>
            <a:ext cx="91440" cy="99669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9848" y="3063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Práctica segura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9848" y="3465576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Evitar reencapsular agujas, manipular cortopunzantes innecesariamente o trabajar con recipientes sobrellenados.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6355080" y="2898648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19672" y="3063240"/>
            <a:ext cx="91440" cy="996696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39128" y="3063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Limpieza y desinfección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39128" y="3465576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Aplicar procedimientos institucionales para superficies, equipos y derrames.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685800" y="4498848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50392" y="4663440"/>
            <a:ext cx="91440" cy="99669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69848" y="46634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Vacunación ocupacional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69848" y="5065776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Mantener los esquemas definidos por el programa de SST y el riesgo del cargo.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6355080" y="4498848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19672" y="4663440"/>
            <a:ext cx="91440" cy="996696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39128" y="46634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Reporte oportuno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739128" y="5065776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Informar incidentes y exposiciones de inmediato para valoración y manejo.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EPP e higiene de manos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El EPP complementa los controles; no reemplaza una técnica segura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31520" y="141732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7830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5786"/>
                </a:solidFill>
              </a:rPr>
              <a:t>Selección del EPP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2240280"/>
            <a:ext cx="4343400" cy="2971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</a:rPr>
              <a:t>• Guantes: cuando exista posibilidad de contacto con sangre, fluidos, mucosas, piel no íntegra o material contaminado.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</a:rPr>
              <a:t>• Protección ocular/facial: cuando exista riesgo de salpicadura.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</a:rPr>
              <a:t>• Bata o protección corporal: cuando se prevea contaminación de ropa o piel.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</a:rPr>
              <a:t>• Protección respiratoria: según el riesgo y el procedimiento.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417320"/>
            <a:ext cx="5166360" cy="4434840"/>
          </a:xfrm>
          <a:prstGeom prst="roundRect">
            <a:avLst>
              <a:gd name="adj" fmla="val 1649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29400" y="17830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5786"/>
                </a:solidFill>
              </a:rPr>
              <a:t>Higiene de manos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29400" y="2240280"/>
            <a:ext cx="434340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5B6C8"/>
                </a:solidFill>
              </a:rPr>
              <a:t>La higiene de manos debe realizarse en los momentos definidos por el procedimiento institucional y siempre después de retirar los guantes. Los guantes no sustituyen la higiene de manos.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629400" y="4160520"/>
            <a:ext cx="434340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Antes de iniciar una tarea, pregúntate: ¿qué material puede alcanzarme?, ¿por qué vía?, ¿qué barrera necesito?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¿Qué hacer ante una exposición biológica?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Actuar rápido y seguir el protocolo institucional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31520" y="1234440"/>
            <a:ext cx="10744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399032"/>
            <a:ext cx="91440" cy="475488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15568" y="139903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1. Suspender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15568" y="1801368"/>
            <a:ext cx="10149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Detén la actividad de forma segura y evita nuevas exposiciones.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731520" y="2194560"/>
            <a:ext cx="10744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2359152"/>
            <a:ext cx="91440" cy="475488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235915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2. Atención inicial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15568" y="2761488"/>
            <a:ext cx="10149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Lava la zona expuesta con agua y jabón; irriga mucosas con agua según el tipo de exposición.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731520" y="3154680"/>
            <a:ext cx="10744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96112" y="3319272"/>
            <a:ext cx="91440" cy="475488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15568" y="331927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3. Reportar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15568" y="3721608"/>
            <a:ext cx="10149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Informa inmediatamente al responsable definido por la IPS / SST y activa la ruta de accidente laboral.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731520" y="4114800"/>
            <a:ext cx="10744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96112" y="4279392"/>
            <a:ext cx="91440" cy="475488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15568" y="427939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4. Valorar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15568" y="4681728"/>
            <a:ext cx="10149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Acude a valoración clínica para establecer el nivel de riesgo y la necesidad de profilaxis posexposición.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731520" y="5074920"/>
            <a:ext cx="107442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96112" y="5239512"/>
            <a:ext cx="91440" cy="475488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15568" y="523951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5. Seguimiento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115568" y="5641848"/>
            <a:ext cx="10149840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Cumple pruebas, medicamentos y controles indicados. No abandones el seguimiento.</a:t>
            </a:r>
            <a:endParaRPr lang="en-US" sz="1220" dirty="0"/>
          </a:p>
        </p:txBody>
      </p:sp>
      <p:sp>
        <p:nvSpPr>
          <p:cNvPr id="25" name="Text 22"/>
          <p:cNvSpPr/>
          <p:nvPr/>
        </p:nvSpPr>
        <p:spPr>
          <a:xfrm>
            <a:off x="1280160" y="59893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5786"/>
                </a:solidFill>
              </a:rPr>
              <a:t>Las exposiciones ocupacionales a VIH, VHB o VHC requieren valoración urgente; el Protocolo PEP de Minsalud fue actualizado en 2025.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Segregación de residuos en la IPS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Separar correctamente desde el lugar donde se genera el residuo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7240" y="1325880"/>
            <a:ext cx="150876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25400">
            <a:solidFill>
              <a:srgbClr val="7A87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1832" y="15636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5786"/>
                </a:solidFill>
              </a:rPr>
              <a:t>BLANCO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651760" y="1435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786"/>
                </a:solidFill>
              </a:rPr>
              <a:t>Aprovechables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892040" y="1417320"/>
            <a:ext cx="6035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E68"/>
                </a:solidFill>
              </a:rPr>
              <a:t>Plástico, vidrio, papel y cartón limpios/aprovechables</a:t>
            </a:r>
            <a:endParaRPr lang="en-US" sz="1240" dirty="0"/>
          </a:p>
        </p:txBody>
      </p:sp>
      <p:sp>
        <p:nvSpPr>
          <p:cNvPr id="9" name="Shape 6"/>
          <p:cNvSpPr/>
          <p:nvPr/>
        </p:nvSpPr>
        <p:spPr>
          <a:xfrm>
            <a:off x="777240" y="2468880"/>
            <a:ext cx="1508760" cy="804672"/>
          </a:xfrm>
          <a:prstGeom prst="roundRect">
            <a:avLst>
              <a:gd name="adj" fmla="val 5682"/>
            </a:avLst>
          </a:prstGeom>
          <a:solidFill>
            <a:srgbClr val="59A96A"/>
          </a:solidFill>
          <a:ln w="25400">
            <a:solidFill>
              <a:srgbClr val="59A9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41832" y="27066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VERDE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651760" y="2578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786"/>
                </a:solidFill>
              </a:rPr>
              <a:t>Orgánicos aprovechables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92040" y="2560320"/>
            <a:ext cx="6035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E68"/>
                </a:solidFill>
              </a:rPr>
              <a:t>Restos de comida y residuos de poda</a:t>
            </a:r>
            <a:endParaRPr lang="en-US" sz="1240" dirty="0"/>
          </a:p>
        </p:txBody>
      </p:sp>
      <p:sp>
        <p:nvSpPr>
          <p:cNvPr id="13" name="Shape 10"/>
          <p:cNvSpPr/>
          <p:nvPr/>
        </p:nvSpPr>
        <p:spPr>
          <a:xfrm>
            <a:off x="777240" y="3611880"/>
            <a:ext cx="1508760" cy="804672"/>
          </a:xfrm>
          <a:prstGeom prst="roundRect">
            <a:avLst>
              <a:gd name="adj" fmla="val 5682"/>
            </a:avLst>
          </a:prstGeom>
          <a:solidFill>
            <a:srgbClr val="222222"/>
          </a:solidFill>
          <a:ln w="25400">
            <a:solidFill>
              <a:srgbClr val="2222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1832" y="38496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NEGRO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651760" y="3721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786"/>
                </a:solidFill>
              </a:rPr>
              <a:t>No aprovechables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92040" y="3703320"/>
            <a:ext cx="6035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E68"/>
                </a:solidFill>
              </a:rPr>
              <a:t>Residuos no aprovechables</a:t>
            </a:r>
            <a:endParaRPr lang="en-US" sz="1240" dirty="0"/>
          </a:p>
        </p:txBody>
      </p:sp>
      <p:sp>
        <p:nvSpPr>
          <p:cNvPr id="17" name="Shape 14"/>
          <p:cNvSpPr/>
          <p:nvPr/>
        </p:nvSpPr>
        <p:spPr>
          <a:xfrm>
            <a:off x="777240" y="4754880"/>
            <a:ext cx="1508760" cy="804672"/>
          </a:xfrm>
          <a:prstGeom prst="roundRect">
            <a:avLst>
              <a:gd name="adj" fmla="val 5682"/>
            </a:avLst>
          </a:prstGeom>
          <a:solidFill>
            <a:srgbClr val="D9534F"/>
          </a:solidFill>
          <a:ln w="25400">
            <a:solidFill>
              <a:srgbClr val="D953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49926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ROJO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651760" y="486460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5786"/>
                </a:solidFill>
              </a:rPr>
              <a:t>Riesgo biológico/infeccioso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892040" y="4846320"/>
            <a:ext cx="6035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334E68"/>
                </a:solidFill>
              </a:rPr>
              <a:t>Biosanitarios, anatomopatológicos, cortopunzantes y de animales</a:t>
            </a:r>
            <a:endParaRPr lang="en-US" sz="1240" dirty="0"/>
          </a:p>
        </p:txBody>
      </p:sp>
      <p:sp>
        <p:nvSpPr>
          <p:cNvPr id="21" name="Text 18"/>
          <p:cNvSpPr/>
          <p:nvPr/>
        </p:nvSpPr>
        <p:spPr>
          <a:xfrm>
            <a:off x="1005840" y="5897880"/>
            <a:ext cx="10149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5786"/>
                </a:solidFill>
              </a:rPr>
              <a:t>El Manual adoptado por la Resolución 591 de 2024 exige que los residuos con riesgo biológico o infeccioso se manejen en recipientes y bolsas de color rojo.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Reglas para el manejo seguro de residuos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Puntos críticos de la segregación y el movimiento interno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85800" y="1298448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50392" y="1463040"/>
            <a:ext cx="91440" cy="99669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9848" y="14630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Separar en la fuente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69848" y="1865376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Deposita cada residuo en el recipiente definido, según su clasificación y etiqueta.</a:t>
            </a:r>
            <a:endParaRPr lang="en-US" sz="1220" dirty="0"/>
          </a:p>
        </p:txBody>
      </p:sp>
      <p:sp>
        <p:nvSpPr>
          <p:cNvPr id="9" name="Shape 6"/>
          <p:cNvSpPr/>
          <p:nvPr/>
        </p:nvSpPr>
        <p:spPr>
          <a:xfrm>
            <a:off x="6355080" y="1298448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463040"/>
            <a:ext cx="91440" cy="996696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39128" y="14630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No compactar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39128" y="1865376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No compactes bolsas que contengan residuos peligrosos.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85800" y="2898648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50392" y="3063240"/>
            <a:ext cx="91440" cy="996696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9848" y="3063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Máximo ¾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69848" y="3465576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Los recipientes y bolsas se llenan como máximo hasta tres cuartas partes de su capacidad.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6355080" y="2898648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19672" y="3063240"/>
            <a:ext cx="91440" cy="99669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39128" y="30632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Cortopunzantes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39128" y="3465576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Usa contenedores rígidos; no introduzcas agujas con capuchones ni reencapsules para desechar.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685800" y="4498848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50392" y="4663440"/>
            <a:ext cx="91440" cy="99669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69848" y="46634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Rotular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69848" y="5065776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Mantén etiquetas legibles con la identificación requerida para facilitar la gestión segura.</a:t>
            </a:r>
            <a:endParaRPr lang="en-US" sz="1220" dirty="0"/>
          </a:p>
        </p:txBody>
      </p:sp>
      <p:sp>
        <p:nvSpPr>
          <p:cNvPr id="25" name="Shape 22"/>
          <p:cNvSpPr/>
          <p:nvPr/>
        </p:nvSpPr>
        <p:spPr>
          <a:xfrm>
            <a:off x="6355080" y="4498848"/>
            <a:ext cx="5303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519672" y="4663440"/>
            <a:ext cx="91440" cy="996696"/>
          </a:xfrm>
          <a:prstGeom prst="roundRect">
            <a:avLst>
              <a:gd name="adj" fmla="val 30000"/>
            </a:avLst>
          </a:prstGeom>
          <a:solidFill>
            <a:srgbClr val="55B6C8"/>
          </a:solidFill>
          <a:ln w="12700">
            <a:solidFill>
              <a:srgbClr val="55B6C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39128" y="466344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Ruta interna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739128" y="5065776"/>
            <a:ext cx="470916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Respeta horarios, rutas, carros y áreas de almacenamiento definidos en el PGIRASA.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Ejercicio práctico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¿Qué harías en esta situación?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822960" y="14173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B6C8"/>
                </a:solidFill>
              </a:rPr>
              <a:t>ESCENARIO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2240280"/>
            <a:ext cx="297180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35786"/>
                </a:solidFill>
              </a:rPr>
              <a:t>Durante la atención, una gasa con sangre y una aguja usada quedan sobre una bandeja. El recipiente rojo está cerca, pero el contenedor de cortopunzantes está casi lleno.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43000" y="3977640"/>
            <a:ext cx="288036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</a:rPr>
              <a:t>Pregúntate: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</a:rPr>
              <a:t>• ¿Qué residuo va en cada recipiente?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</a:rPr>
              <a:t>• ¿Qué riesgo existe?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</a:rPr>
              <a:t>• ¿Debes usar el contenedor casi lleno?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4E68"/>
                </a:solidFill>
              </a:rPr>
              <a:t>• ¿Qué acción evita una exposición?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92040" y="1325880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56632" y="1490472"/>
            <a:ext cx="91440" cy="630936"/>
          </a:xfrm>
          <a:prstGeom prst="roundRect">
            <a:avLst>
              <a:gd name="adj" fmla="val 30000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76088" y="149047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Gasa con sangre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76088" y="1892808"/>
            <a:ext cx="5577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Residuo biosanitario: recipiente/bolsa roja.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4892040" y="2496312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56632" y="2660904"/>
            <a:ext cx="91440" cy="630936"/>
          </a:xfrm>
          <a:prstGeom prst="roundRect">
            <a:avLst>
              <a:gd name="adj" fmla="val 30000"/>
            </a:avLst>
          </a:prstGeom>
          <a:solidFill>
            <a:srgbClr val="4B67A1"/>
          </a:solidFill>
          <a:ln w="12700">
            <a:solidFill>
              <a:srgbClr val="4B67A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76088" y="266090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Aguja usada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276088" y="3063240"/>
            <a:ext cx="5577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Residuo cortopunzante: contenedor rígido específico.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4892040" y="3666744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56632" y="3831336"/>
            <a:ext cx="91440" cy="630936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76088" y="3831336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Contenedor casi lleno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276088" y="4233672"/>
            <a:ext cx="5577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No sobrellenar; gestionar su cierre y reemplazo según procedimiento.</a:t>
            </a:r>
            <a:endParaRPr lang="en-US" sz="1220" dirty="0"/>
          </a:p>
        </p:txBody>
      </p:sp>
      <p:sp>
        <p:nvSpPr>
          <p:cNvPr id="21" name="Shape 18"/>
          <p:cNvSpPr/>
          <p:nvPr/>
        </p:nvSpPr>
        <p:spPr>
          <a:xfrm>
            <a:off x="4892040" y="4837176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FE5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056632" y="5001768"/>
            <a:ext cx="91440" cy="630936"/>
          </a:xfrm>
          <a:prstGeom prst="roundRect">
            <a:avLst>
              <a:gd name="adj" fmla="val 30000"/>
            </a:avLst>
          </a:prstGeom>
          <a:solidFill>
            <a:srgbClr val="59A96A"/>
          </a:solidFill>
          <a:ln w="12700">
            <a:solidFill>
              <a:srgbClr val="59A96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76088" y="500176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5786"/>
                </a:solidFill>
              </a:rPr>
              <a:t>Conducta segura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276088" y="5404104"/>
            <a:ext cx="5577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34E68"/>
                </a:solidFill>
              </a:rPr>
              <a:t>No reencapsular ni manipular de forma innecesaria.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sgsst_deck/sanithel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628" y="320040"/>
            <a:ext cx="859343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329184"/>
            <a:ext cx="9326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35786"/>
                </a:solidFill>
              </a:rPr>
              <a:t>Mensajes clave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2157984" y="804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5B6C8"/>
                </a:solidFill>
              </a:rPr>
              <a:t>La bioseguridad depende de hábitos consistentes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77240" y="1463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7830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B6C8"/>
                </a:solidFill>
              </a:rPr>
              <a:t>IDENTIFICA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68880" y="1700784"/>
            <a:ext cx="3063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E68"/>
                </a:solidFill>
              </a:rPr>
              <a:t>Reconoce qué tarea, material o residuo puede exponerte y por qué vía.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355080" y="146304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0" y="178308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B67A1"/>
                </a:solidFill>
              </a:rPr>
              <a:t>PROTÉGETE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46720" y="1700784"/>
            <a:ext cx="3063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E68"/>
                </a:solidFill>
              </a:rPr>
              <a:t>Usa técnica segura, higiene de manos y EPP acorde con el riesgo.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77240" y="361188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EAF4F7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39319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534F"/>
                </a:solidFill>
              </a:rPr>
              <a:t>SEGREGA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468880" y="3849624"/>
            <a:ext cx="3063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E68"/>
                </a:solidFill>
              </a:rPr>
              <a:t>Deposita cada residuo en el recipiente correcto desde el punto de generación.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355080" y="3611880"/>
            <a:ext cx="5212080" cy="1737360"/>
          </a:xfrm>
          <a:prstGeom prst="roundRect">
            <a:avLst>
              <a:gd name="adj" fmla="val 4211"/>
            </a:avLst>
          </a:prstGeom>
          <a:solidFill>
            <a:srgbClr val="F1F8FA"/>
          </a:solidFill>
          <a:ln w="12700">
            <a:solidFill>
              <a:srgbClr val="C9DF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0" y="39319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A96A"/>
                </a:solidFill>
              </a:rPr>
              <a:t>REPORTA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6720" y="3849624"/>
            <a:ext cx="30632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4E68"/>
                </a:solidFill>
              </a:rPr>
              <a:t>Ante una exposición, informa de inmediato y activa la ruta de atención.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2194560" y="571500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5786"/>
                </a:solidFill>
              </a:rPr>
              <a:t>Una práctica segura protege a todos.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40312" y="6611112"/>
            <a:ext cx="22860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Riesgo biológico, bioseguridad y manejo de residuos en IPS - SanitHelp</dc:title>
  <dc:subject>Riesgo biológico, bioseguridad y manejo de residuos en IPS</dc:subject>
  <dc:creator>OpenAI</dc:creator>
  <cp:lastModifiedBy>OpenAI</cp:lastModifiedBy>
  <cp:revision>1</cp:revision>
  <dcterms:created xsi:type="dcterms:W3CDTF">2026-10-26T18:40:00Z</dcterms:created>
  <dcterms:modified xsi:type="dcterms:W3CDTF">2026-10-26T18:40:00Z</dcterms:modified>
</cp:coreProperties>
</file>