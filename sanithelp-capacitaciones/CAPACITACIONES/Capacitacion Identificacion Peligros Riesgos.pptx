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56832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672084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7780" dist="8890" dir="27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51560" y="1234440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IDENTIFICACIÓN DE PELIGROS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EVALUACIÓN DE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78992" y="277977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B7C3"/>
                </a:solidFill>
              </a:rPr>
              <a:t>Reporte de actos y condiciones inseguras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8992" y="33467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A"/>
                </a:solidFill>
              </a:rPr>
              <a:t>Capacitación corta para el Vigía SST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4069080"/>
            <a:ext cx="5440680" cy="347472"/>
          </a:xfrm>
          <a:prstGeom prst="roundRect">
            <a:avLst>
              <a:gd name="adj" fmla="val 21053"/>
            </a:avLst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123944"/>
            <a:ext cx="5221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PREVENIR ES OBSERVAR, REPORTAR Y ACTUAR</a:t>
            </a:r>
            <a:endParaRPr lang="en-US" sz="1200" dirty="0"/>
          </a:p>
        </p:txBody>
      </p:sp>
      <p:pic>
        <p:nvPicPr>
          <p:cNvPr id="8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736" y="4709160"/>
            <a:ext cx="1113329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868680"/>
            <a:ext cx="3520440" cy="4892040"/>
          </a:xfrm>
          <a:prstGeom prst="roundRect">
            <a:avLst>
              <a:gd name="adj" fmla="val 3117"/>
            </a:avLst>
          </a:prstGeom>
          <a:solidFill>
            <a:srgbClr val="E9F6F8"/>
          </a:solidFill>
          <a:ln w="12700">
            <a:solidFill>
              <a:srgbClr val="E9F6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32520" y="1325880"/>
            <a:ext cx="1143000" cy="1143000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344168"/>
            <a:ext cx="11430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21040" y="26151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3C6B"/>
                </a:solidFill>
              </a:rPr>
              <a:t>PELIGRO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732520" y="3154680"/>
            <a:ext cx="1143000" cy="594360"/>
          </a:xfrm>
          <a:prstGeom prst="chevron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3913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3C6B"/>
                </a:solidFill>
              </a:rPr>
              <a:t>RIESGO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18388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3040"/>
                </a:solidFill>
              </a:rPr>
              <a:t>Identificar → evaluar → controlar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Peligro y riesgo: no son lo mismo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la diferencia ayuda a decidir qué controlar primero.</a:t>
            </a:r>
            <a:endParaRPr lang="en-US" sz="1350" dirty="0"/>
          </a:p>
        </p:txBody>
      </p:sp>
      <p:pic>
        <p:nvPicPr>
          <p:cNvPr id="4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188" y="320040"/>
            <a:ext cx="878944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783080"/>
            <a:ext cx="713232" cy="713232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01368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8308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6B"/>
                </a:solidFill>
              </a:rPr>
              <a:t>PELIGRO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2560320"/>
            <a:ext cx="4526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Fuente, situación o acto con capacidad de causar daño.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3246120"/>
            <a:ext cx="4480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 atravesando una zona de paso.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Superficie mojada.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Manipulación de material sin control adecuado.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783080"/>
            <a:ext cx="713232" cy="713232"/>
          </a:xfrm>
          <a:prstGeom prst="ellipse">
            <a:avLst/>
          </a:prstGeom>
          <a:solidFill>
            <a:srgbClr val="D85B52"/>
          </a:solidFill>
          <a:ln w="12700">
            <a:solidFill>
              <a:srgbClr val="D85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1801368"/>
            <a:ext cx="713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0664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C6B"/>
                </a:solidFill>
              </a:rPr>
              <a:t>RIESGO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3680" y="2560320"/>
            <a:ext cx="45262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040"/>
                </a:solidFill>
              </a:rPr>
              <a:t>Combinación de la posibilidad de que ocurra un evento y la severidad de sus consecuencias.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836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B7C3"/>
                </a:solidFill>
              </a:rPr>
              <a:t>Pregunta clave: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0" y="4005072"/>
            <a:ext cx="4343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¿Qué podría pasar, con qué probabilidad y qué tan grave sería?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¿Cómo identificar peligros?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la tarea real: personas, ambiente, equipos, materiales y organización del trabajo.</a:t>
            </a:r>
            <a:endParaRPr lang="en-US" sz="1350" dirty="0"/>
          </a:p>
        </p:txBody>
      </p:sp>
      <p:pic>
        <p:nvPicPr>
          <p:cNvPr id="4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188" y="320040"/>
            <a:ext cx="878944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002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83080" y="1856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OBSERVAR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Recorra el área y mire cómo se realiza realmente la tarea.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AFB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9385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1856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PREGUNTAR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0664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Escuche a quienes ejecutan la actividad y conocen sus dificultades.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31520" y="37490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05840" y="4069080"/>
            <a:ext cx="640080" cy="640080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0873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783080" y="4005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REGISTRAR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783080" y="443484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Anote el peligro, dónde está, quién puede exponerse y qué podría ocurrir.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355080" y="37490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3FAFB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4069080"/>
            <a:ext cx="640080" cy="640080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40873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406640" y="4005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ACTUALIZAR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06640" y="4434840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03040"/>
                </a:solidFill>
              </a:rPr>
              <a:t>Revise cuando cambien procesos, instalaciones, equipos o condiciones de trabajo.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C6B"/>
                </a:solidFill>
              </a:rPr>
              <a:t>La identificación debe abarcar actividades rutinarias y no rutinarias y contar con participación de los diferentes niveles de la empresa.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Evaluar el riesgo para priorizar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peligros requieren la misma urgencia: se priorizan según su nivel de riesgo.</a:t>
            </a:r>
            <a:endParaRPr lang="en-US" sz="1350" dirty="0"/>
          </a:p>
        </p:txBody>
      </p:sp>
      <p:pic>
        <p:nvPicPr>
          <p:cNvPr id="4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188" y="320040"/>
            <a:ext cx="878944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755648"/>
            <a:ext cx="502920" cy="502920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77393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26464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C6B"/>
                </a:solidFill>
              </a:rPr>
              <a:t>Identificar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040"/>
                </a:solidFill>
              </a:rPr>
              <a:t>Qué puede causar daño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3154680" y="1993392"/>
            <a:ext cx="320040" cy="411480"/>
          </a:xfrm>
          <a:prstGeom prst="chevron">
            <a:avLst/>
          </a:prstGeom>
          <a:solidFill>
            <a:srgbClr val="B7DDE3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2FAFB"/>
          </a:solidFill>
          <a:ln w="13970">
            <a:solidFill>
              <a:srgbClr val="D8E8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85032" y="1755648"/>
            <a:ext cx="502920" cy="502920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177393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306824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C6B"/>
                </a:solidFill>
              </a:rPr>
              <a:t>Evaluar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49040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040"/>
                </a:solidFill>
              </a:rPr>
              <a:t>Probabilidad y consecuencia</a:t>
            </a:r>
            <a:endParaRPr lang="en-US" sz="1380" dirty="0"/>
          </a:p>
        </p:txBody>
      </p:sp>
      <p:sp>
        <p:nvSpPr>
          <p:cNvPr id="16" name="Shape 13"/>
          <p:cNvSpPr/>
          <p:nvPr/>
        </p:nvSpPr>
        <p:spPr>
          <a:xfrm>
            <a:off x="6035040" y="1993392"/>
            <a:ext cx="320040" cy="411480"/>
          </a:xfrm>
          <a:prstGeom prst="chevron">
            <a:avLst/>
          </a:prstGeom>
          <a:solidFill>
            <a:srgbClr val="B7DDE3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65392" y="1755648"/>
            <a:ext cx="502920" cy="502920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177393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87184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C6B"/>
                </a:solidFill>
              </a:rPr>
              <a:t>Priorizar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9400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040"/>
                </a:solidFill>
              </a:rPr>
              <a:t>Qué requiere atención primero</a:t>
            </a:r>
            <a:endParaRPr lang="en-US" sz="1380" dirty="0"/>
          </a:p>
        </p:txBody>
      </p:sp>
      <p:sp>
        <p:nvSpPr>
          <p:cNvPr id="22" name="Shape 19"/>
          <p:cNvSpPr/>
          <p:nvPr/>
        </p:nvSpPr>
        <p:spPr>
          <a:xfrm>
            <a:off x="8915400" y="1993392"/>
            <a:ext cx="320040" cy="411480"/>
          </a:xfrm>
          <a:prstGeom prst="chevron">
            <a:avLst/>
          </a:prstGeom>
          <a:solidFill>
            <a:srgbClr val="B7DDE3"/>
          </a:solidFill>
          <a:ln w="12700">
            <a:solidFill>
              <a:srgbClr val="B7DD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81160" y="150876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2FAFB"/>
          </a:solidFill>
          <a:ln w="13970">
            <a:solidFill>
              <a:srgbClr val="D8E8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45752" y="1755648"/>
            <a:ext cx="502920" cy="502920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45752" y="1773936"/>
            <a:ext cx="502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067544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C6B"/>
                </a:solidFill>
              </a:rPr>
              <a:t>Controlar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509760" y="2286000"/>
            <a:ext cx="2057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203040"/>
                </a:solidFill>
              </a:rPr>
              <a:t>Aplicar medidas y verificar eficacia</a:t>
            </a:r>
            <a:endParaRPr lang="en-US" sz="1380" dirty="0"/>
          </a:p>
        </p:txBody>
      </p:sp>
      <p:sp>
        <p:nvSpPr>
          <p:cNvPr id="28" name="Text 25"/>
          <p:cNvSpPr/>
          <p:nvPr/>
        </p:nvSpPr>
        <p:spPr>
          <a:xfrm>
            <a:off x="86868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3C6B"/>
                </a:solidFill>
              </a:rPr>
              <a:t>Jerarquía de controles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4069080" y="3931920"/>
            <a:ext cx="5120640" cy="356616"/>
          </a:xfrm>
          <a:prstGeom prst="roundRect">
            <a:avLst>
              <a:gd name="adj" fmla="val 15385"/>
            </a:avLst>
          </a:prstGeom>
          <a:solidFill>
            <a:srgbClr val="43B7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42232" y="39959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Eliminar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148072" y="3995928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Eliminar el peligro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343400" y="4370832"/>
            <a:ext cx="4572000" cy="356616"/>
          </a:xfrm>
          <a:prstGeom prst="roundRect">
            <a:avLst>
              <a:gd name="adj" fmla="val 15385"/>
            </a:avLst>
          </a:prstGeom>
          <a:solidFill>
            <a:srgbClr val="43B7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16552" y="44348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Sustituir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22392" y="443484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Reemplazar por una opción menos peligrosa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617720" y="4809744"/>
            <a:ext cx="4023360" cy="356616"/>
          </a:xfrm>
          <a:prstGeom prst="roundRect">
            <a:avLst>
              <a:gd name="adj" fmla="val 15385"/>
            </a:avLst>
          </a:prstGeom>
          <a:solidFill>
            <a:srgbClr val="5E86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90872" y="48737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Ingeniería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96712" y="487375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Aislar o controlar en la fuente/medio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892040" y="5248656"/>
            <a:ext cx="3474720" cy="356616"/>
          </a:xfrm>
          <a:prstGeom prst="roundRect">
            <a:avLst>
              <a:gd name="adj" fmla="val 15385"/>
            </a:avLst>
          </a:prstGeom>
          <a:solidFill>
            <a:srgbClr val="5E86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65192" y="531266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Administrativos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971032" y="5312664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Procedimientos, señalización, capacitación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166360" y="5687568"/>
            <a:ext cx="2926080" cy="356616"/>
          </a:xfrm>
          <a:prstGeom prst="roundRect">
            <a:avLst>
              <a:gd name="adj" fmla="val 15385"/>
            </a:avLst>
          </a:prstGeom>
          <a:solidFill>
            <a:srgbClr val="183C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39512" y="57515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EPP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45352" y="575157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Protección personal como última barrera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Acto inseguro vs. condición insegura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reporte oportuno permite actuar antes de que ocurra un incidente o accidente.</a:t>
            </a:r>
            <a:endParaRPr lang="en-US" sz="1350" dirty="0"/>
          </a:p>
        </p:txBody>
      </p:sp>
      <p:pic>
        <p:nvPicPr>
          <p:cNvPr id="4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188" y="320040"/>
            <a:ext cx="878944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1874520"/>
            <a:ext cx="731520" cy="731520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89280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2024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3C6B"/>
                </a:solidFill>
              </a:rPr>
              <a:t>ACTO INSEGURO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606040"/>
            <a:ext cx="4526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</a:rPr>
              <a:t>Conducta o acción observable que se aparta de una práctica segura y puede aumentar la posibilidad de daño.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44805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utilizar el EPP requerido.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Manipular equipos de forma no autorizada.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Omitir un procedimiento de seguridad.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874520"/>
            <a:ext cx="731520" cy="731520"/>
          </a:xfrm>
          <a:prstGeom prst="ellipse">
            <a:avLst/>
          </a:prstGeom>
          <a:solidFill>
            <a:srgbClr val="D85B52"/>
          </a:solidFill>
          <a:ln w="12700">
            <a:solidFill>
              <a:srgbClr val="D85B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189280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06640" y="1901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3C6B"/>
                </a:solidFill>
              </a:rPr>
              <a:t>CONDICIÓN INSEGURA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92240" y="2606040"/>
            <a:ext cx="4526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203040"/>
                </a:solidFill>
              </a:rPr>
              <a:t>Estado del ambiente, instalación, equipo o área que puede favorecer la ocurrencia de un evento no deseado.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583680" y="3566160"/>
            <a:ext cx="448056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Piso mojado sin señalización.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Cableado deteriorado o expuesto.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Pasillos u otras rutas obstruidas.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337560" y="6016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B7C3"/>
                </a:solidFill>
              </a:rPr>
              <a:t>No culpar: identificar, reportar y corregir.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¿Cómo reportar y qué evidencia conservar?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6926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Vigía apoya la comunicación, el seguimiento y la mejora preventiva.</a:t>
            </a:r>
            <a:endParaRPr lang="en-US" sz="1350" dirty="0"/>
          </a:p>
        </p:txBody>
      </p:sp>
      <p:pic>
        <p:nvPicPr>
          <p:cNvPr id="4" name="Image 0" descr="/mnt/data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188" y="320040"/>
            <a:ext cx="878944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572768"/>
            <a:ext cx="566928" cy="566928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9105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00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C6B"/>
                </a:solidFill>
              </a:rPr>
              <a:t>Reportar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520440" y="1463040"/>
            <a:ext cx="4114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203040"/>
                </a:solidFill>
              </a:rPr>
              <a:t>Informar el acto o condición insegura al responsable definido.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566928" cy="566928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4261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002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C6B"/>
                </a:solidFill>
              </a:rPr>
              <a:t>Describir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520440" y="2514600"/>
            <a:ext cx="4114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203040"/>
                </a:solidFill>
              </a:rPr>
              <a:t>Indicar lugar, tarea, peligro observado y posible consecuencia.</a:t>
            </a:r>
            <a:endParaRPr lang="en-US" sz="1530" dirty="0"/>
          </a:p>
        </p:txBody>
      </p:sp>
      <p:sp>
        <p:nvSpPr>
          <p:cNvPr id="13" name="Shape 10"/>
          <p:cNvSpPr/>
          <p:nvPr/>
        </p:nvSpPr>
        <p:spPr>
          <a:xfrm>
            <a:off x="822960" y="3675888"/>
            <a:ext cx="566928" cy="566928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69417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002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C6B"/>
                </a:solidFill>
              </a:rPr>
              <a:t>Documentar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4114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203040"/>
                </a:solidFill>
              </a:rPr>
              <a:t>Adjuntar evidencia cuando sea seguro hacerlo, sin exponer a nadie.</a:t>
            </a:r>
            <a:endParaRPr lang="en-US" sz="1530" dirty="0"/>
          </a:p>
        </p:txBody>
      </p:sp>
      <p:sp>
        <p:nvSpPr>
          <p:cNvPr id="17" name="Shape 14"/>
          <p:cNvSpPr/>
          <p:nvPr/>
        </p:nvSpPr>
        <p:spPr>
          <a:xfrm>
            <a:off x="822960" y="4727448"/>
            <a:ext cx="566928" cy="566928"/>
          </a:xfrm>
          <a:prstGeom prst="ellipse">
            <a:avLst/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4573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3C6B"/>
                </a:solidFill>
              </a:rPr>
              <a:t>Hacer seguimiento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520440" y="4617720"/>
            <a:ext cx="4114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203040"/>
                </a:solidFill>
              </a:rPr>
              <a:t>Verificar que se definan acciones y que el control sea efectivo.</a:t>
            </a:r>
            <a:endParaRPr lang="en-US" sz="1530" dirty="0"/>
          </a:p>
        </p:txBody>
      </p:sp>
      <p:sp>
        <p:nvSpPr>
          <p:cNvPr id="21" name="Shape 18"/>
          <p:cNvSpPr/>
          <p:nvPr/>
        </p:nvSpPr>
        <p:spPr>
          <a:xfrm>
            <a:off x="8046720" y="141732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2FAFB"/>
          </a:solidFill>
          <a:ln w="13970">
            <a:solidFill>
              <a:srgbClr val="D8E8EE"/>
            </a:solidFill>
            <a:prstDash val="solid"/>
          </a:ln>
          <a:effectLst>
            <a:outerShdw sx="100000" sy="100000" kx="0" ky="0" algn="bl" rotWithShape="0" blurRad="16510" dist="762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366760" y="1783080"/>
            <a:ext cx="2788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C6B"/>
                </a:solidFill>
              </a:rPr>
              <a:t>EVIDENCIAS DE LA CAPACITACIÓN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412480" y="2651760"/>
            <a:ext cx="420624" cy="420624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0" y="267004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006840" y="2688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Registro de asistencia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8412480" y="3310128"/>
            <a:ext cx="420624" cy="420624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332841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006840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Evaluación PRE / POST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8412480" y="3968496"/>
            <a:ext cx="420624" cy="420624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12480" y="398678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006840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Registro fotográfico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8412480" y="4626864"/>
            <a:ext cx="420624" cy="420624"/>
          </a:xfrm>
          <a:prstGeom prst="ellipse">
            <a:avLst/>
          </a:prstGeom>
          <a:solidFill>
            <a:srgbClr val="43B7C3"/>
          </a:solidFill>
          <a:ln w="12700">
            <a:solidFill>
              <a:srgbClr val="43B7C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12480" y="464515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00684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Material de apoyo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868680" y="5833872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83C6B"/>
          </a:solidFill>
          <a:ln w="12700">
            <a:solidFill>
              <a:srgbClr val="183C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51560" y="5934456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Meta: detectar antes, reportar a tiempo y controlar de forma efectiva.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385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Identificación de peligros, evaluación de riesgos y reporte de actos y condiciones inseguras</dc:title>
  <dc:subject>Capacitación SST - Identificación de peligros y evaluación de riesgos</dc:subject>
  <dc:creator>OpenAI</dc:creator>
  <cp:lastModifiedBy>OpenAI</cp:lastModifiedBy>
  <cp:revision>1</cp:revision>
  <dcterms:created xsi:type="dcterms:W3CDTF">2026-10-26T15:00:58Z</dcterms:created>
  <dcterms:modified xsi:type="dcterms:W3CDTF">2026-10-26T15:00:58Z</dcterms:modified>
</cp:coreProperties>
</file>