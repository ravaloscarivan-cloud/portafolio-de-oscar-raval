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ITHELP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Seguridad y Salud en el Trabajo</a:t>
            </a:r>
            <a:endParaRPr lang="en-US" sz="900" dirty="0"/>
          </a:p>
        </p:txBody>
      </p:sp>
      <p:pic>
        <p:nvPicPr>
          <p:cNvPr id="5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4452" y="292608"/>
            <a:ext cx="1133856" cy="868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64922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5240">
            <a:solidFill>
              <a:srgbClr val="D8EEF2"/>
            </a:solidFill>
            <a:prstDash val="solid"/>
          </a:ln>
          <a:effectLst>
            <a:outerShdw sx="100000" sy="100000" kx="0" ky="0" algn="bl" rotWithShape="0" blurRad="25400" dist="10160" dir="27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60120" y="1600200"/>
            <a:ext cx="5806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HABILIDADES DE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LIDERAZGO EN SST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3154680"/>
            <a:ext cx="57150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364D"/>
                </a:solidFill>
              </a:rPr>
              <a:t>Liderar la prevención es influir con el ejemplo, comunicar con claridad y movilizar al equipo hacia prácticas de trabajo seguras.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4526280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46542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Objetivo de la capacitación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1508760"/>
            <a:ext cx="3840480" cy="1965960"/>
          </a:xfrm>
          <a:prstGeom prst="rect">
            <a:avLst/>
          </a:prstGeom>
          <a:solidFill>
            <a:srgbClr val="EAF7FA"/>
          </a:solidFill>
          <a:ln w="15240">
            <a:solidFill>
              <a:srgbClr val="BFE7EC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B6D"/>
                </a:solidFill>
              </a:rPr>
              <a:t>Fortalecer conductas de liderazgo que promuevan el autocuidado, el reporte y la participación en el SG-SST.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458200" y="3840480"/>
            <a:ext cx="1874520" cy="1874520"/>
          </a:xfrm>
          <a:prstGeom prst="ellipse">
            <a:avLst/>
          </a:prstGeom>
          <a:solidFill>
            <a:srgbClr val="DFF4F1"/>
          </a:solidFill>
          <a:ln w="16510">
            <a:solidFill>
              <a:srgbClr val="59C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43708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3B6D"/>
                </a:solidFill>
              </a:rPr>
              <a:t>SST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680960" y="5715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A9B8"/>
                </a:solidFill>
              </a:rPr>
              <a:t>Liderar también es cuidar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significa liderar en SST?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El liderazgo preventivo se demuestra en las decisiones y conductas cotidianas.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7647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5608" y="174650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Dar ejemplo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2130552"/>
            <a:ext cx="2560320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Cumplir los procedimientos, usar correctamente los elementos de protección y respetar las medidas de seguridad.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07992" y="17647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174650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Comunicar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93208" y="2130552"/>
            <a:ext cx="2560320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Dar instrucciones claras, escuchar inquietudes y compartir información de seguridad de manera oportuna.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16002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65592" y="17647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FA9B8"/>
          </a:solidFill>
          <a:ln w="12700">
            <a:solidFill>
              <a:srgbClr val="2FA9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0808" y="174650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Promover participación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50808" y="2130552"/>
            <a:ext cx="2560320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Invitar al equipo a identificar peligros, proponer mejoras y reportar condiciones inseguras.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14600" y="37033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79192" y="386791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384962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Actuar a tiempo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64408" y="4233672"/>
            <a:ext cx="2560320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No normalizar riesgos. Ante una situación peligrosa, informar y activar el procedimiento correspondiente.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7033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36792" y="386791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2008" y="384962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Hacer seguimiento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22008" y="4233672"/>
            <a:ext cx="2560320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Verificar que los compromisos y acciones de mejora realmente se cumplan y sean efectivos.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828800" y="5715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Un buen líder en SST no necesita “mandar”: necesita orientar, escuchar y generar confianza para prevenir.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Liderazgo aplicado al día a día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Cinco acciones que fortalecen una cultura de prevención.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34440" y="1691640"/>
            <a:ext cx="658368" cy="658368"/>
          </a:xfrm>
          <a:prstGeom prst="ellipse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8562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2578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D"/>
                </a:solidFill>
              </a:rPr>
              <a:t>OBSERVAR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971800"/>
            <a:ext cx="1828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64D"/>
                </a:solidFill>
              </a:rPr>
              <a:t>Identifica cambios, riesgos y comportamientos inseguros.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32888" y="1847088"/>
            <a:ext cx="310896" cy="384048"/>
          </a:xfrm>
          <a:prstGeom prst="chevron">
            <a:avLst/>
          </a:prstGeom>
          <a:solidFill>
            <a:srgbClr val="B8DFE5"/>
          </a:solidFill>
          <a:ln w="12700">
            <a:solidFill>
              <a:srgbClr val="B8DF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691640"/>
            <a:ext cx="658368" cy="658368"/>
          </a:xfrm>
          <a:prstGeom prst="ellipse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8562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44368" y="2578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D"/>
                </a:solidFill>
              </a:rPr>
              <a:t>ESCUCHAR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44368" y="2971800"/>
            <a:ext cx="1828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64D"/>
                </a:solidFill>
              </a:rPr>
              <a:t>Recibe reportes sin minimizar ni descalificar.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18888" y="1847088"/>
            <a:ext cx="310896" cy="384048"/>
          </a:xfrm>
          <a:prstGeom prst="chevron">
            <a:avLst/>
          </a:prstGeom>
          <a:solidFill>
            <a:srgbClr val="B8DFE5"/>
          </a:solidFill>
          <a:ln w="12700">
            <a:solidFill>
              <a:srgbClr val="B8DF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1691640"/>
            <a:ext cx="658368" cy="658368"/>
          </a:xfrm>
          <a:prstGeom prst="ellipse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8562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30368" y="2578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D"/>
                </a:solidFill>
              </a:rPr>
              <a:t>COMUNICAR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30368" y="2971800"/>
            <a:ext cx="1828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64D"/>
                </a:solidFill>
              </a:rPr>
              <a:t>Explica el riesgo y la acción esperada con respeto y claridad.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04888" y="1847088"/>
            <a:ext cx="310896" cy="384048"/>
          </a:xfrm>
          <a:prstGeom prst="chevron">
            <a:avLst/>
          </a:prstGeom>
          <a:solidFill>
            <a:srgbClr val="B8DFE5"/>
          </a:solidFill>
          <a:ln w="12700">
            <a:solidFill>
              <a:srgbClr val="B8DF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1691640"/>
            <a:ext cx="658368" cy="658368"/>
          </a:xfrm>
          <a:prstGeom prst="ellipse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18562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16368" y="2578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D"/>
                </a:solidFill>
              </a:rPr>
              <a:t>ACTUAR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16368" y="2971800"/>
            <a:ext cx="1828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64D"/>
                </a:solidFill>
              </a:rPr>
              <a:t>Escala, corrige o controla la situación según el procedimiento.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90888" y="1847088"/>
            <a:ext cx="310896" cy="384048"/>
          </a:xfrm>
          <a:prstGeom prst="chevron">
            <a:avLst/>
          </a:prstGeom>
          <a:solidFill>
            <a:srgbClr val="B8DFE5"/>
          </a:solidFill>
          <a:ln w="12700">
            <a:solidFill>
              <a:srgbClr val="B8DF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1691640"/>
            <a:ext cx="658368" cy="658368"/>
          </a:xfrm>
          <a:prstGeom prst="ellipse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18562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802368" y="2578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D"/>
                </a:solidFill>
              </a:rPr>
              <a:t>SEGUIR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02368" y="2971800"/>
            <a:ext cx="1828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64D"/>
                </a:solidFill>
              </a:rPr>
              <a:t>Confirma el cierre de la acción y comparte el aprendizaje.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97280" y="4892040"/>
            <a:ext cx="9966960" cy="960120"/>
          </a:xfrm>
          <a:prstGeom prst="roundRect">
            <a:avLst>
              <a:gd name="adj" fmla="val 7619"/>
            </a:avLst>
          </a:prstGeom>
          <a:solidFill>
            <a:srgbClr val="EAF7FA"/>
          </a:solidFill>
          <a:ln w="15240">
            <a:solidFill>
              <a:srgbClr val="BF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513892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B6D"/>
                </a:solidFill>
              </a:rPr>
              <a:t>Caso práctico: un colaborador reporta un cable deteriorado en un área de paso. Liderar significa escuchar, señalizar o controlar el riesgo, reportar al responsable y verificar que la corrección se cierre.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Compromiso de liderazgo en SST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La cultura preventiva se construye con coherencia, participación y seguimiento.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0749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5240">
            <a:solidFill>
              <a:srgbClr val="D5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1965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B6D"/>
                </a:solidFill>
              </a:rPr>
              <a:t>Como líder o colaborador puedo: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26060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3364D"/>
                </a:solidFill>
              </a:rPr>
              <a:t>• Dar ejemplo con mis propias conductas seguras.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1234440" y="31729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3364D"/>
                </a:solidFill>
              </a:rPr>
              <a:t>• Escuchar y promover el reporte sin temor.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1234440" y="373989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3364D"/>
                </a:solidFill>
              </a:rPr>
              <a:t>• Comunicar riesgos y medidas de control con respeto.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1234440" y="430682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3364D"/>
                </a:solidFill>
              </a:rPr>
              <a:t>• Reconocer buenas prácticas del equipo.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1234440" y="48737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3364D"/>
                </a:solidFill>
              </a:rPr>
              <a:t>• Hacer seguimiento a los compromisos de mejora.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166360" cy="4069080"/>
          </a:xfrm>
          <a:prstGeom prst="roundRect">
            <a:avLst>
              <a:gd name="adj" fmla="val 2247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21488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COMPROMISO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903720" y="2788920"/>
            <a:ext cx="3886200" cy="1508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FFFFFF"/>
                </a:solidFill>
              </a:rPr>
              <a:t>“Promover con el ejemplo conductas seguras, escuchar los reportes del equipo y apoyar las acciones de prevención y mejora del SG-SST.”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766560" y="48006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9C3D0"/>
                </a:solidFill>
              </a:rPr>
              <a:t>Liderazgo en SST = ejemplo + comunicación + participación + acción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Habilidades de liderazgo en SST - SanitHelp</dc:title>
  <dc:subject>Habilidades de liderazgo en SST</dc:subject>
  <dc:creator>OpenAI</dc:creator>
  <cp:lastModifiedBy>OpenAI</cp:lastModifiedBy>
  <cp:revision>1</cp:revision>
  <dcterms:created xsi:type="dcterms:W3CDTF">2026-10-27T15:25:18Z</dcterms:created>
  <dcterms:modified xsi:type="dcterms:W3CDTF">2026-10-27T15:25:18Z</dcterms:modified>
</cp:coreProperties>
</file>