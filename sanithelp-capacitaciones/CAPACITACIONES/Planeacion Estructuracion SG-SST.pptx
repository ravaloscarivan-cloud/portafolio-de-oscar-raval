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C5"/>
          </a:solidFill>
          <a:ln w="12700">
            <a:solidFill>
              <a:srgbClr val="1BB7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SG-SST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149840" y="65745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Capacitación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10896"/>
            <a:ext cx="859343" cy="658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1325880"/>
            <a:ext cx="69037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7EE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05840" y="1874520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B63"/>
                </a:solidFill>
              </a:rPr>
              <a:t>PLANEACIÓN Y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23B63"/>
                </a:solidFill>
              </a:rPr>
              <a:t>ESTRUCTURACIÓN DEL SG-SST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1005840" y="333756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D"/>
                </a:solidFill>
              </a:rPr>
              <a:t>Cómo convertir los requisitos del sistema en objetivos, actividades, responsables, recursos y seguimiento.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005840" y="4617720"/>
            <a:ext cx="4434840" cy="530352"/>
          </a:xfrm>
          <a:prstGeom prst="roundRect">
            <a:avLst/>
          </a:prstGeom>
          <a:solidFill>
            <a:srgbClr val="E8F7F9"/>
          </a:solidFill>
          <a:ln w="12700">
            <a:solidFill>
              <a:srgbClr val="E8F7F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7365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B7C5"/>
                </a:solidFill>
              </a:rPr>
              <a:t>Capacitación corta | enfoque práctico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28432" y="1737360"/>
            <a:ext cx="3246120" cy="3246120"/>
          </a:xfrm>
          <a:prstGeom prst="ellipse">
            <a:avLst/>
          </a:prstGeom>
          <a:solidFill>
            <a:srgbClr val="EFF9FB"/>
          </a:solidFill>
          <a:ln w="17780">
            <a:solidFill>
              <a:srgbClr val="CDEB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58784" y="20848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B7C5"/>
                </a:solidFill>
              </a:rPr>
              <a:t>PLANEAR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41080" y="27432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3B63"/>
                </a:solidFill>
              </a:rPr>
              <a:t>Diagnóstico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3B63"/>
                </a:solidFill>
              </a:rPr>
              <a:t>Prioridades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3B63"/>
                </a:solidFill>
              </a:rPr>
              <a:t>Objetivos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3B63"/>
                </a:solidFill>
              </a:rPr>
              <a:t>Plan anual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1200000">
            <a:off x="7818120" y="1508760"/>
            <a:ext cx="3657600" cy="3657600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123B63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10896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1720" y="4114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¿Qué significa planear el SG-SST?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359152" y="9418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</a:rPr>
              <a:t>La planificación organiza el sistema antes de ejecutar actividades.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58368" y="1481328"/>
            <a:ext cx="347472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AF0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481328"/>
            <a:ext cx="73152" cy="4160520"/>
          </a:xfrm>
          <a:prstGeom prst="rect">
            <a:avLst/>
          </a:prstGeom>
          <a:solidFill>
            <a:srgbClr val="1BB7C5"/>
          </a:solidFill>
          <a:ln w="12700">
            <a:solidFill>
              <a:srgbClr val="1BB7C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682496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63"/>
                </a:solidFill>
              </a:rPr>
              <a:t>Diagnóstico inicial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084832"/>
            <a:ext cx="301752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50" dirty="0">
                <a:solidFill>
                  <a:srgbClr val="1D2D3D"/>
                </a:solidFill>
              </a:rPr>
              <a:t>Conocer el estado del SG-SST, los peligros, requisitos aplicables, recursos disponibles y resultados previos.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1481328"/>
            <a:ext cx="347472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AF0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1481328"/>
            <a:ext cx="73152" cy="416052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26864" y="1682496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63"/>
                </a:solidFill>
              </a:rPr>
              <a:t>Prioridades y objetivos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26864" y="2084832"/>
            <a:ext cx="301752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50" dirty="0">
                <a:solidFill>
                  <a:srgbClr val="1D2D3D"/>
                </a:solidFill>
              </a:rPr>
              <a:t>Definir qué debe mejorarse primero y establecer objetivos claros, medibles y coherentes con la política de SST.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83296" y="1481328"/>
            <a:ext cx="347472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AF0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83296" y="1481328"/>
            <a:ext cx="73152" cy="4160520"/>
          </a:xfrm>
          <a:prstGeom prst="rect">
            <a:avLst/>
          </a:prstGeom>
          <a:solidFill>
            <a:srgbClr val="E7B84B"/>
          </a:solidFill>
          <a:ln w="12700">
            <a:solidFill>
              <a:srgbClr val="E7B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9328" y="1682496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63"/>
                </a:solidFill>
              </a:rPr>
              <a:t>Plan de trabajo anual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39328" y="2084832"/>
            <a:ext cx="301752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50" dirty="0">
                <a:solidFill>
                  <a:srgbClr val="1D2D3D"/>
                </a:solidFill>
              </a:rPr>
              <a:t>Convertir los objetivos en actividades, responsables, fechas, recursos, indicadores y evidencias de cumplimiento.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051560" y="5879592"/>
            <a:ext cx="10104120" cy="457200"/>
          </a:xfrm>
          <a:prstGeom prst="round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61872" y="59801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La planeación debe permitir verificar qué se hará, quién lo hará, cuándo, con qué recursos y cómo se medirá.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10896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1720" y="4114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Estructura básica para organizar el SG-SST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359152" y="9418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</a:rPr>
              <a:t>Elementos que deben quedar conectados y documentados.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49808" y="1572768"/>
            <a:ext cx="5230368" cy="1115568"/>
          </a:xfrm>
          <a:prstGeom prst="roundRect">
            <a:avLst/>
          </a:prstGeom>
          <a:solidFill>
            <a:srgbClr val="F1FAFB"/>
          </a:solidFill>
          <a:ln w="12700">
            <a:solidFill>
              <a:srgbClr val="D6E9EE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50976" y="1856232"/>
            <a:ext cx="548640" cy="548640"/>
          </a:xfrm>
          <a:prstGeom prst="ellipse">
            <a:avLst/>
          </a:prstGeom>
          <a:solidFill>
            <a:srgbClr val="1BB7C5"/>
          </a:solidFill>
          <a:ln w="12700">
            <a:solidFill>
              <a:srgbClr val="1BB7C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4767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17373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63"/>
                </a:solidFill>
              </a:rPr>
              <a:t>Política y objetivos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205740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D3D"/>
                </a:solidFill>
              </a:rPr>
              <a:t>Orientan el sistema y expresan el compromiso de la organización.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" y="2990088"/>
            <a:ext cx="523036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9EE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50976" y="3273552"/>
            <a:ext cx="548640" cy="548640"/>
          </a:xfrm>
          <a:prstGeom prst="ellipse">
            <a:avLst/>
          </a:prstGeom>
          <a:solidFill>
            <a:srgbClr val="1BB7C5"/>
          </a:solidFill>
          <a:ln w="12700">
            <a:solidFill>
              <a:srgbClr val="1BB7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36499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45920" y="31546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63"/>
                </a:solidFill>
              </a:rPr>
              <a:t>Roles y responsabilidades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645920" y="34747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D3D"/>
                </a:solidFill>
              </a:rPr>
              <a:t>Definen quién lidera, ejecuta, participa y hace seguimiento.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9808" y="4407408"/>
            <a:ext cx="5230368" cy="1115568"/>
          </a:xfrm>
          <a:prstGeom prst="roundRect">
            <a:avLst/>
          </a:prstGeom>
          <a:solidFill>
            <a:srgbClr val="F1FAFB"/>
          </a:solidFill>
          <a:ln w="12700">
            <a:solidFill>
              <a:srgbClr val="D6E9EE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50976" y="4690872"/>
            <a:ext cx="548640" cy="548640"/>
          </a:xfrm>
          <a:prstGeom prst="ellipse">
            <a:avLst/>
          </a:prstGeom>
          <a:solidFill>
            <a:srgbClr val="1BB7C5"/>
          </a:solidFill>
          <a:ln w="12700">
            <a:solidFill>
              <a:srgbClr val="1BB7C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47823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645920" y="45720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63"/>
                </a:solidFill>
              </a:rPr>
              <a:t>Identificación de peligros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45920" y="489204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D3D"/>
                </a:solidFill>
              </a:rPr>
              <a:t>Permite priorizar riesgos y establecer controles.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36208" y="1572768"/>
            <a:ext cx="523036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9EE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37376" y="1856232"/>
            <a:ext cx="548640" cy="548640"/>
          </a:xfrm>
          <a:prstGeom prst="ellipse">
            <a:avLst/>
          </a:prstGeom>
          <a:solidFill>
            <a:srgbClr val="E7B84B"/>
          </a:solidFill>
          <a:ln w="12700">
            <a:solidFill>
              <a:srgbClr val="E7B84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194767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132320" y="17373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63"/>
                </a:solidFill>
              </a:rPr>
              <a:t>Plan anual y recursos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32320" y="205740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D3D"/>
                </a:solidFill>
              </a:rPr>
              <a:t>Organiza actividades, responsables, cronograma y presupuesto.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236208" y="2990088"/>
            <a:ext cx="5230368" cy="1115568"/>
          </a:xfrm>
          <a:prstGeom prst="roundRect">
            <a:avLst/>
          </a:prstGeom>
          <a:solidFill>
            <a:srgbClr val="F1FAFB"/>
          </a:solidFill>
          <a:ln w="12700">
            <a:solidFill>
              <a:srgbClr val="D6E9EE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37376" y="3273552"/>
            <a:ext cx="548640" cy="548640"/>
          </a:xfrm>
          <a:prstGeom prst="ellipse">
            <a:avLst/>
          </a:prstGeom>
          <a:solidFill>
            <a:srgbClr val="1BB7C5"/>
          </a:solidFill>
          <a:ln w="12700">
            <a:solidFill>
              <a:srgbClr val="1BB7C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336499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132320" y="31546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63"/>
                </a:solidFill>
              </a:rPr>
              <a:t>Indicadores y evidencias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132320" y="34747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D3D"/>
                </a:solidFill>
              </a:rPr>
              <a:t>Permiten medir avance, cumplimiento y eficacia.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236208" y="4407408"/>
            <a:ext cx="523036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9EE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37376" y="4690872"/>
            <a:ext cx="548640" cy="548640"/>
          </a:xfrm>
          <a:prstGeom prst="ellipse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92240" y="47823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132320" y="45720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63"/>
                </a:solidFill>
              </a:rPr>
              <a:t>Revisión y mejora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132320" y="489204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D3D"/>
                </a:solidFill>
              </a:rPr>
              <a:t>Integra auditoría, acciones correctivas y actualización del sistema.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10896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1720" y="4114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De la planeación a la mejora continua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359152" y="9418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</a:rPr>
              <a:t>Una planeación útil se ejecuta, se mide y se ajusta.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85800" y="1645920"/>
            <a:ext cx="26060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sx="100000" sy="100000" kx="0" ky="0" algn="bl" rotWithShape="0" blurRad="1778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63624" y="1938528"/>
            <a:ext cx="841248" cy="841248"/>
          </a:xfrm>
          <a:prstGeom prst="ellipse">
            <a:avLst/>
          </a:prstGeom>
          <a:solidFill>
            <a:srgbClr val="1BB7C5"/>
          </a:solidFill>
          <a:ln w="12700">
            <a:solidFill>
              <a:srgbClr val="1BB7C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46504" y="211226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41832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B7C5"/>
                </a:solidFill>
              </a:rPr>
              <a:t>PLANEAR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456432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D3D"/>
                </a:solidFill>
              </a:rPr>
              <a:t>Diagnóstico, requisitos, riesgos, objetivos y plan anual.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1645920"/>
            <a:ext cx="26060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sx="100000" sy="100000" kx="0" ky="0" algn="bl" rotWithShape="0" blurRad="1778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52544" y="1938528"/>
            <a:ext cx="841248" cy="841248"/>
          </a:xfrm>
          <a:prstGeom prst="ellipse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35424" y="211226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730752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B63"/>
                </a:solidFill>
              </a:rPr>
              <a:t>HACER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749040" y="3456432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D3D"/>
                </a:solidFill>
              </a:rPr>
              <a:t>Ejecutar controles, capacitaciones, inspecciones y demás actividades.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1645920"/>
            <a:ext cx="26060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sx="100000" sy="100000" kx="0" ky="0" algn="bl" rotWithShape="0" blurRad="17780" dist="635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41464" y="1938528"/>
            <a:ext cx="841248" cy="841248"/>
          </a:xfrm>
          <a:prstGeom prst="ellipse">
            <a:avLst/>
          </a:prstGeom>
          <a:solidFill>
            <a:srgbClr val="E7B84B"/>
          </a:solidFill>
          <a:ln w="12700">
            <a:solidFill>
              <a:srgbClr val="E7B84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24344" y="211226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3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519672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B84B"/>
                </a:solidFill>
              </a:rPr>
              <a:t>VERIFICAR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537960" y="3456432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D3D"/>
                </a:solidFill>
              </a:rPr>
              <a:t>Revisar indicadores, cumplimiento, auditorías y resultados.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052560" y="1645920"/>
            <a:ext cx="26060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D"/>
            </a:solidFill>
            <a:prstDash val="solid"/>
          </a:ln>
          <a:effectLst>
            <a:outerShdw sx="100000" sy="100000" kx="0" ky="0" algn="bl" rotWithShape="0" blurRad="1778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930384" y="1938528"/>
            <a:ext cx="841248" cy="841248"/>
          </a:xfrm>
          <a:prstGeom prst="ellipse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113264" y="211226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4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9308592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C5C"/>
                </a:solidFill>
              </a:rPr>
              <a:t>ACTUAR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326880" y="3456432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D3D"/>
                </a:solidFill>
              </a:rPr>
              <a:t>Cerrar hallazgos, corregir desviaciones y actualizar la planeación.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325880" y="5212080"/>
            <a:ext cx="9555480" cy="804672"/>
          </a:xfrm>
          <a:prstGeom prst="roundRect">
            <a:avLst/>
          </a:prstGeom>
          <a:solidFill>
            <a:srgbClr val="E8F7F9"/>
          </a:solidFill>
          <a:ln w="12700">
            <a:solidFill>
              <a:srgbClr val="CFE8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27632" y="544068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63"/>
                </a:solidFill>
              </a:rPr>
              <a:t>Compromiso: mantener actualizado el plan anual, cumplir las actividades asignadas y aportar evidencias que permitan evaluar y mejorar el SG-SST.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Planeación y estructuración del SG-SST - SanitHelp</dc:title>
  <dc:subject>Planeación y estructuración del SG-SST</dc:subject>
  <dc:creator>OpenAI</dc:creator>
  <cp:lastModifiedBy>OpenAI</cp:lastModifiedBy>
  <cp:revision>1</cp:revision>
  <dcterms:created xsi:type="dcterms:W3CDTF">2026-10-27T15:04:38Z</dcterms:created>
  <dcterms:modified xsi:type="dcterms:W3CDTF">2026-10-27T15:04:38Z</dcterms:modified>
</cp:coreProperties>
</file>