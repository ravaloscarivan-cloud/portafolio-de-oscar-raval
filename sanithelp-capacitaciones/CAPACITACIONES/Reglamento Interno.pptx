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Código Sustantivo del Trabajo, art. 104 y 108. Fuente oficial: SUIN-Juriscol / Ministerio de Justicia.
Ley 2466 de 2025, reforma laboral. Fuente oficial: Función Pública.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Código Sustantivo del Trabajo, art. 108. Fuente oficial: Función Pública, Gestor Normativo.
Ley 2466 de 2025, disposiciones sobre debido proceso disciplinario y actualización del RIT. Fuente oficial: Función Pública.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Código Sustantivo del Trabajo y Reglamento Interno de Trabajo aplicable en la organización.
Ley 2466 de 2025, deberes y garantías asociadas al procedimiento disciplinario.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Ley 2466 de 2025, art. 8 y disposiciones relacionadas con el Reglamento Interno de Trabajo. Fuente oficial: Función Pública.
Ministerio del Trabajo, Manual del Inspector e Inspectora del Trabajo No. 0093 de 2026, referencia a publicación del RIT conforme al art. 120 CST modificado por Ley 2466 de 2025.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34A7D"/>
          </a:solidFill>
          <a:ln w="12700">
            <a:solidFill>
              <a:srgbClr val="234A7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5" y="320040"/>
            <a:ext cx="89514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474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A7D"/>
                </a:solidFill>
              </a:rPr>
              <a:t>REGLAMENTO INTERNO DE TRABAJO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8"/>
                </a:solidFill>
              </a:rPr>
              <a:t>Capacitación corta para colaboradores de SanitHelp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627632"/>
            <a:ext cx="3794760" cy="3794760"/>
          </a:xfrm>
          <a:prstGeom prst="roundRect">
            <a:avLst>
              <a:gd name="adj" fmla="val 1205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4A7D"/>
                </a:solidFill>
              </a:rPr>
              <a:t>¿Qué es?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2651760"/>
            <a:ext cx="31089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24D"/>
                </a:solidFill>
              </a:rPr>
              <a:t>Es el conjunto de normas que define las condiciones que deben observar el empleador y los trabajadores durante la prestación del servicio.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444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B9CB0"/>
                </a:solidFill>
              </a:rPr>
              <a:t>Su objetivo es facilitar una convivencia laboral clara, ordenada, respetuosa y acorde con la ley.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4983480" y="1664208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1828800"/>
            <a:ext cx="128016" cy="63093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67528" y="184708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Derechos y deberes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67528" y="2231136"/>
            <a:ext cx="5422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Orienta comportamientos, responsabilidades y reglas de convivencia aplicables en el trabajo.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983480" y="283464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0" y="2999232"/>
            <a:ext cx="128016" cy="63093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67528" y="30175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Orden y disciplina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367528" y="3401568"/>
            <a:ext cx="5422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Define horarios, permisos, normas de seguridad, conductas y procedimientos internos.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983480" y="4005072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20640" y="4169664"/>
            <a:ext cx="128016" cy="630936"/>
          </a:xfrm>
          <a:prstGeom prst="roundRect">
            <a:avLst>
              <a:gd name="adj" fmla="val 35714"/>
            </a:avLst>
          </a:prstGeom>
          <a:solidFill>
            <a:srgbClr val="57B6A8"/>
          </a:solidFill>
          <a:ln w="12700">
            <a:solidFill>
              <a:srgbClr val="57B6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67528" y="41879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Debido proceso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367528" y="4572000"/>
            <a:ext cx="5422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Las medidas disciplinarias deben respetar garantías de defensa y las reglas legales vigentes.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5" y="320040"/>
            <a:ext cx="89514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474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A7D"/>
                </a:solidFill>
              </a:rPr>
              <a:t>¿QUÉ CONTIENE EL REGLAMENTO?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8"/>
                </a:solidFill>
              </a:rPr>
              <a:t>Aspectos que todo colaborador debe conocer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85800" y="15087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73352"/>
            <a:ext cx="128016" cy="140817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691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Jornada y horarios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69848" y="2075688"/>
            <a:ext cx="4736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Horas de entrada y salida, turnos, descansos, trabajo suplementario y nocturno.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673352"/>
            <a:ext cx="128016" cy="140817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8" y="1691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Permisos y descansos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01968" y="2075688"/>
            <a:ext cx="4736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Vacaciones, permisos, descansos legales y otras reglas internas aplicables.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37947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959352"/>
            <a:ext cx="128016" cy="140817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977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Orden y seguridad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69848" y="4361688"/>
            <a:ext cx="4736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Normas de comportamiento, prevención de riesgos, higiene y seguridad en el trabajo.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37947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3959352"/>
            <a:ext cx="128016" cy="1408176"/>
          </a:xfrm>
          <a:prstGeom prst="roundRect">
            <a:avLst>
              <a:gd name="adj" fmla="val 35714"/>
            </a:avLst>
          </a:prstGeom>
          <a:solidFill>
            <a:srgbClr val="57B6A8"/>
          </a:solidFill>
          <a:ln w="12700">
            <a:solidFill>
              <a:srgbClr val="57B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977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Régimen disciplinario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601968" y="4361688"/>
            <a:ext cx="4736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Faltas, sanciones y procedimiento aplicable con respeto al debido proceso.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97280" y="58978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4A7D"/>
                </a:solidFill>
              </a:rPr>
              <a:t>Clave: el Reglamento Interno no reemplaza la ley ni el contrato; debe ser compatible con las normas laborales vigentes.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5" y="320040"/>
            <a:ext cx="89514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474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A7D"/>
                </a:solidFill>
              </a:rPr>
              <a:t>COMPROMISOS DEL COLABORADOR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8"/>
                </a:solidFill>
              </a:rPr>
              <a:t>Cómo se aplica el Reglamento en la vida diaria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1536192" y="1481328"/>
            <a:ext cx="685800" cy="685800"/>
          </a:xfrm>
          <a:prstGeom prst="ellipse">
            <a:avLst/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6192" y="16276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4A7D"/>
                </a:solidFill>
              </a:rPr>
              <a:t>Conocer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7324D"/>
                </a:solidFill>
              </a:rPr>
              <a:t>Leer y comprender las normas, canales y procedimientos internos.</a:t>
            </a:r>
            <a:endParaRPr lang="en-US" sz="1330" dirty="0"/>
          </a:p>
        </p:txBody>
      </p:sp>
      <p:sp>
        <p:nvSpPr>
          <p:cNvPr id="9" name="Shape 6"/>
          <p:cNvSpPr/>
          <p:nvPr/>
        </p:nvSpPr>
        <p:spPr>
          <a:xfrm>
            <a:off x="4389120" y="1481328"/>
            <a:ext cx="685800" cy="685800"/>
          </a:xfrm>
          <a:prstGeom prst="ellipse">
            <a:avLst/>
          </a:prstGeom>
          <a:solidFill>
            <a:srgbClr val="234A7D"/>
          </a:solidFill>
          <a:ln w="12700">
            <a:solidFill>
              <a:srgbClr val="234A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16276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38728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4A7D"/>
                </a:solidFill>
              </a:rPr>
              <a:t>Cumplir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538728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7324D"/>
                </a:solidFill>
              </a:rPr>
              <a:t>Respetar horarios, protocolos, medidas de SST y reglas de convivencia.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7242048" y="1481328"/>
            <a:ext cx="685800" cy="685800"/>
          </a:xfrm>
          <a:prstGeom prst="ellipse">
            <a:avLst/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42048" y="16276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91656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4A7D"/>
                </a:solidFill>
              </a:rPr>
              <a:t>Comunicar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391656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7324D"/>
                </a:solidFill>
              </a:rPr>
              <a:t>Reportar novedades, riesgos, incumplimientos o situaciones que requieran atención.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10094976" y="1481328"/>
            <a:ext cx="685800" cy="685800"/>
          </a:xfrm>
          <a:prstGeom prst="ellipse">
            <a:avLst/>
          </a:prstGeom>
          <a:solidFill>
            <a:srgbClr val="234A7D"/>
          </a:solidFill>
          <a:ln w="12700">
            <a:solidFill>
              <a:srgbClr val="234A7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94976" y="16276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44584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4A7D"/>
                </a:solidFill>
              </a:rPr>
              <a:t>Participar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244584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7324D"/>
                </a:solidFill>
              </a:rPr>
              <a:t>Atender capacitaciones, procesos de mejora y actuaciones internas cuando corresponda.</a:t>
            </a:r>
            <a:endParaRPr lang="en-US" sz="1330" dirty="0"/>
          </a:p>
        </p:txBody>
      </p:sp>
      <p:sp>
        <p:nvSpPr>
          <p:cNvPr id="21" name="Shape 18"/>
          <p:cNvSpPr/>
          <p:nvPr/>
        </p:nvSpPr>
        <p:spPr>
          <a:xfrm>
            <a:off x="1005840" y="4709160"/>
            <a:ext cx="10149840" cy="1005840"/>
          </a:xfrm>
          <a:prstGeom prst="roundRect">
            <a:avLst>
              <a:gd name="adj" fmla="val 7273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25880" y="4983480"/>
            <a:ext cx="9509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4A7D"/>
                </a:solidFill>
              </a:rPr>
              <a:t>Compromiso: cumplir el Reglamento Interno, actuar con respeto y responsabilidad, y utilizar los canales establecidos para resolver dudas o reportar situaciones laborales.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5" y="320040"/>
            <a:ext cx="89514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474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A7D"/>
                </a:solidFill>
              </a:rPr>
              <a:t>PUBLICACIÓN, ACTUALIZACIÓN Y DEBIDO PROCESO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8"/>
                </a:solidFill>
              </a:rPr>
              <a:t>Puntos esenciales del marco vigente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581912"/>
            <a:ext cx="128016" cy="108813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Publicación del Reglamento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15568" y="1984248"/>
            <a:ext cx="4736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El Reglamento debe ponerse en conocimiento de los trabajadores mediante los mecanismos previstos por la normativa laboral vigente.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581912"/>
            <a:ext cx="128016" cy="1088136"/>
          </a:xfrm>
          <a:prstGeom prst="roundRect">
            <a:avLst>
              <a:gd name="adj" fmla="val 35714"/>
            </a:avLst>
          </a:prstGeom>
          <a:solidFill>
            <a:srgbClr val="57B6A8"/>
          </a:solidFill>
          <a:ln w="12700">
            <a:solidFill>
              <a:srgbClr val="57B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Actualización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556248" y="1984248"/>
            <a:ext cx="4736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La Ley 2466 de 2025 introdujo ajustes relevantes y ordenó actualizar el Reglamento Interno conforme a sus parámetros.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1089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3273552"/>
            <a:ext cx="128016" cy="1088136"/>
          </a:xfrm>
          <a:prstGeom prst="roundRect">
            <a:avLst>
              <a:gd name="adj" fmla="val 35714"/>
            </a:avLst>
          </a:prstGeom>
          <a:solidFill>
            <a:srgbClr val="50BDD0"/>
          </a:solidFill>
          <a:ln w="12700">
            <a:solidFill>
              <a:srgbClr val="50BD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291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Derecho de defensa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15568" y="3675888"/>
            <a:ext cx="4736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Ante una actuación disciplinaria deben respetarse las garantías de comunicación, defensa y contradicción.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3273552"/>
            <a:ext cx="128016" cy="1088136"/>
          </a:xfrm>
          <a:prstGeom prst="roundRect">
            <a:avLst>
              <a:gd name="adj" fmla="val 35714"/>
            </a:avLst>
          </a:prstGeom>
          <a:solidFill>
            <a:srgbClr val="57B6A8"/>
          </a:solidFill>
          <a:ln w="12700">
            <a:solidFill>
              <a:srgbClr val="57B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3291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A7D"/>
                </a:solidFill>
              </a:rPr>
              <a:t>Consulta y participación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556248" y="3675888"/>
            <a:ext cx="4736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</a:rPr>
              <a:t>Los trabajadores deben conocer los canales para formular observaciones, inquietudes o solicitudes relacionadas con el Reglamento.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97280" y="507492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234A7D"/>
          </a:solidFill>
          <a:ln w="12700">
            <a:solidFill>
              <a:srgbClr val="234A7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17320" y="52852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Conocer el Reglamento Interno permite ejercer derechos, cumplir deberes y fortalecer una convivencia laboral segura y respetuosa.</a:t>
            </a:r>
            <a:endParaRPr lang="en-US" sz="1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Reglamento Interno de Trabajo - SanitHelp</dc:title>
  <dc:subject>Reglamento Interno de Trabajo</dc:subject>
  <dc:creator>OpenAI</dc:creator>
  <cp:lastModifiedBy>OpenAI</cp:lastModifiedBy>
  <cp:revision>1</cp:revision>
  <dcterms:created xsi:type="dcterms:W3CDTF">2026-10-27T15:56:43Z</dcterms:created>
  <dcterms:modified xsi:type="dcterms:W3CDTF">2026-10-27T15:56:43Z</dcterms:modified>
</cp:coreProperties>
</file>