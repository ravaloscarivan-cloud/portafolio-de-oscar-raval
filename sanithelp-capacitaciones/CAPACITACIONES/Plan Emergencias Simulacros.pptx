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https://www.funcionpublica.gov.co/eva/gestornormativo/norma.php?i=72173
- https://www.mintrabajo.gov.co/documents/20147/59995826/Resolucion%2B0312-2019-%2BEstandares%2Bminimos%2Bdel%2BSistema%2Bde%2Bla%2BSeguridad%2By%2BSalud.pdf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https://www.funcionpublica.gov.co/eva/gestornormativo/norma.php?i=72173
- https://www.mintrabajo.gov.co/documents/20147/59995826/Resolucion%2B0312-2019-%2BEstandares%2Bminimos%2Bdel%2BSistema%2Bde%2Bla%2BSeguridad%2By%2BSalud.pdf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https://www.funcionpublica.gov.co/eva/gestornormativo/norma.php?i=72173
- https://www.mintrabajo.gov.co/documents/20147/59995826/Resolucion%2B0312-2019-%2BEstandares%2Bminimos%2Bdel%2BSistema%2Bde%2Bla%2BSeguridad%2By%2BSalud.pdf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https://www.funcionpublica.gov.co/eva/gestornormativo/norma.php?i=72173
- https://www.mintrabajo.gov.co/documents/20147/59995826/Resolucion%2B0312-2019-%2BEstandares%2Bminimos%2Bdel%2BSistema%2Bde%2Bla%2BSeguridad%2By%2BSalud.pdf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https://www.funcionpublica.gov.co/eva/gestornormativo/norma.php?i=72173
- https://www.mintrabajo.gov.co/documents/20147/59995826/Resolucion%2B0312-2019-%2BEstandares%2Bminimos%2Bdel%2BSistema%2Bde%2Bla%2BSeguridad%2By%2BSalud.pdf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https://www.funcionpublica.gov.co/eva/gestornormativo/norma.php?i=72173
- https://www.mintrabajo.gov.co/documents/20147/59995826/Resolucion%2B0312-2019-%2BEstandares%2Bminimos%2Bdel%2BSistema%2Bde%2Bla%2BSeguridad%2By%2BSalud.pdf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https://www.funcionpublica.gov.co/eva/gestornormativo/norma.php?i=72173
- https://www.mintrabajo.gov.co/documents/20147/59995826/Resolucion%2B0312-2019-%2BEstandares%2Bminimos%2Bdel%2BSistema%2Bde%2Bla%2BSeguridad%2By%2BSalud.pdf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https://www.funcionpublica.gov.co/eva/gestornormativo/norma.php?i=72173
- https://www.mintrabajo.gov.co/documents/20147/59995826/Resolucion%2B0312-2019-%2BEstandares%2Bminimos%2Bdel%2BSistema%2Bde%2Bla%2BSeguridad%2By%2BSalud.pdf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https://www.funcionpublica.gov.co/eva/gestornormativo/norma.php?i=72173
- https://www.mintrabajo.gov.co/documents/20147/59995826/Resolucion%2B0312-2019-%2BEstandares%2Bminimos%2Bdel%2BSistema%2Bde%2Bla%2BSeguridad%2By%2BSalud.pdf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https://www.funcionpublica.gov.co/eva/gestornormativo/norma.php?i=72173
- https://www.mintrabajo.gov.co/documents/20147/59995826/Resolucion%2B0312-2019-%2BEstandares%2Bminimos%2Bdel%2BSistema%2Bde%2Bla%2BSeguridad%2By%2BSalud.pdf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5786"/>
          </a:solidFill>
          <a:ln w="12700">
            <a:solidFill>
              <a:srgbClr val="2357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620256"/>
            <a:ext cx="5669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SanitHelp • Preparación y respuesta ante emergencias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678" y="594360"/>
            <a:ext cx="1074179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182880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35786"/>
                </a:solidFill>
              </a:rPr>
              <a:t>Plan de emergencias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58368" y="24871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5B6C8"/>
                </a:solidFill>
              </a:rPr>
              <a:t>y simulacros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85800" y="31821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67A1"/>
                </a:solidFill>
              </a:rPr>
              <a:t>Capacitación para colaboradores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85800" y="3703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1788C"/>
                </a:solidFill>
              </a:rPr>
              <a:t>Prepararse • Actuar • Evacuar • Aprender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0" y="1234440"/>
            <a:ext cx="4709160" cy="4389120"/>
          </a:xfrm>
          <a:prstGeom prst="roundRect">
            <a:avLst>
              <a:gd name="adj" fmla="val 1667"/>
            </a:avLst>
          </a:prstGeom>
          <a:solidFill>
            <a:srgbClr val="F1F8FA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60920" y="1783080"/>
            <a:ext cx="2103120" cy="1828800"/>
          </a:xfrm>
          <a:prstGeom prst="triangl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19288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!</a:t>
            </a:r>
            <a:endParaRPr lang="en-US" sz="4000" dirty="0"/>
          </a:p>
        </p:txBody>
      </p:sp>
      <p:sp>
        <p:nvSpPr>
          <p:cNvPr id="10" name="Shape 7"/>
          <p:cNvSpPr/>
          <p:nvPr/>
        </p:nvSpPr>
        <p:spPr>
          <a:xfrm>
            <a:off x="9646920" y="2240280"/>
            <a:ext cx="1005840" cy="731520"/>
          </a:xfrm>
          <a:prstGeom prst="chevron">
            <a:avLst/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60920" y="4069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5786"/>
                </a:solidFill>
              </a:rPr>
              <a:t>PUNTO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235786"/>
                </a:solidFill>
              </a:rPr>
              <a:t>DE ENCUENTRO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059168" y="49834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5786"/>
                </a:solidFill>
              </a:rPr>
              <a:t>Una respuesta segura comienza antes de la emergencia.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Objetivos de la capacitación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¿Qué debemos saber y practicar?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85800" y="14173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50392" y="1581912"/>
            <a:ext cx="91440" cy="1636776"/>
          </a:xfrm>
          <a:prstGeom prst="roundRect">
            <a:avLst>
              <a:gd name="adj" fmla="val 30000"/>
            </a:avLst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69848" y="15819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1. Reconocer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69848" y="1984248"/>
            <a:ext cx="2926080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Identificar amenazas, rutas de evacuación, alarmas, recursos y puntos de encuentro.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4343400" y="14173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07992" y="1581912"/>
            <a:ext cx="91440" cy="1636776"/>
          </a:xfrm>
          <a:prstGeom prst="roundRect">
            <a:avLst>
              <a:gd name="adj" fmla="val 30000"/>
            </a:avLst>
          </a:prstGeom>
          <a:solidFill>
            <a:srgbClr val="4B67A1"/>
          </a:solidFill>
          <a:ln w="12700">
            <a:solidFill>
              <a:srgbClr val="4B67A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15819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2. Actuar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727448" y="1984248"/>
            <a:ext cx="2926080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Conocer la conducta esperada antes, durante y después de una emergencia.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8001000" y="14173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165592" y="1581912"/>
            <a:ext cx="91440" cy="1636776"/>
          </a:xfrm>
          <a:prstGeom prst="roundRect">
            <a:avLst>
              <a:gd name="adj" fmla="val 30000"/>
            </a:avLst>
          </a:prstGeom>
          <a:solidFill>
            <a:srgbClr val="59A96A"/>
          </a:solidFill>
          <a:ln w="12700">
            <a:solidFill>
              <a:srgbClr val="59A96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85048" y="15819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3. Participar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85048" y="1984248"/>
            <a:ext cx="2926080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Entender por qué los simulacros entrenan la respuesta y permiten mejorar el plan.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1234440" y="4206240"/>
            <a:ext cx="9784080" cy="1051560"/>
          </a:xfrm>
          <a:prstGeom prst="roundRect">
            <a:avLst>
              <a:gd name="adj" fmla="val 6957"/>
            </a:avLst>
          </a:prstGeom>
          <a:solidFill>
            <a:srgbClr val="EAF4F7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0" y="4517136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5786"/>
                </a:solidFill>
              </a:rPr>
              <a:t>Meta: que cada colaborador sepa qué hacer sin improvisar y apoye una evacuación ordenada.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¿Qué es el plan de emergencias?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Organiza la prevención, preparación y respuesta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77240" y="1371600"/>
            <a:ext cx="4754880" cy="4480560"/>
          </a:xfrm>
          <a:prstGeom prst="roundRect">
            <a:avLst>
              <a:gd name="adj" fmla="val 1633"/>
            </a:avLst>
          </a:prstGeom>
          <a:solidFill>
            <a:srgbClr val="F1F8FA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3000" y="1828800"/>
            <a:ext cx="402336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35786"/>
                </a:solidFill>
              </a:rPr>
              <a:t>Es el conjunto de acciones, responsables, recursos y procedimientos definidos para prevenir y responder ante eventos que puedan afectar a las personas, las instalaciones o la operación.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143000" y="3977640"/>
            <a:ext cx="402336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55B6C8"/>
                </a:solidFill>
              </a:rPr>
              <a:t>Debe cubrir todos los centros y turnos, e incluir trabajadores, contratistas, proveedores y visitantes.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897880" y="1417320"/>
            <a:ext cx="24231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062472" y="1581912"/>
            <a:ext cx="91440" cy="1316736"/>
          </a:xfrm>
          <a:prstGeom prst="roundRect">
            <a:avLst>
              <a:gd name="adj" fmla="val 30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81928" y="1581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Amenazas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281928" y="1984248"/>
            <a:ext cx="182880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Sismo, incendio, fallas eléctricas, emergencias médicas, derrames u otras según la IPS.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8549640" y="1417320"/>
            <a:ext cx="24231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714232" y="1581912"/>
            <a:ext cx="91440" cy="1316736"/>
          </a:xfrm>
          <a:prstGeom prst="roundRect">
            <a:avLst>
              <a:gd name="adj" fmla="val 30000"/>
            </a:avLst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33688" y="1581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Recursos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933688" y="1984248"/>
            <a:ext cx="182880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Alarmas, extintores, botiquines, señalización, planos, brigada y comunicaciones.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5897880" y="3429000"/>
            <a:ext cx="24231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62472" y="3593592"/>
            <a:ext cx="91440" cy="1316736"/>
          </a:xfrm>
          <a:prstGeom prst="roundRect">
            <a:avLst>
              <a:gd name="adj" fmla="val 30000"/>
            </a:avLst>
          </a:prstGeom>
          <a:solidFill>
            <a:srgbClr val="4B67A1"/>
          </a:solidFill>
          <a:ln w="12700">
            <a:solidFill>
              <a:srgbClr val="4B67A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81928" y="3593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Procedimientos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281928" y="3995928"/>
            <a:ext cx="182880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Evacuación, primeros auxilios, control inicial y coordinación con apoyo externo.</a:t>
            </a:r>
            <a:endParaRPr lang="en-US" sz="1220" dirty="0"/>
          </a:p>
        </p:txBody>
      </p:sp>
      <p:sp>
        <p:nvSpPr>
          <p:cNvPr id="20" name="Shape 17"/>
          <p:cNvSpPr/>
          <p:nvPr/>
        </p:nvSpPr>
        <p:spPr>
          <a:xfrm>
            <a:off x="8549640" y="3429000"/>
            <a:ext cx="24231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714232" y="3593592"/>
            <a:ext cx="91440" cy="1316736"/>
          </a:xfrm>
          <a:prstGeom prst="roundRect">
            <a:avLst>
              <a:gd name="adj" fmla="val 30000"/>
            </a:avLst>
          </a:prstGeom>
          <a:solidFill>
            <a:srgbClr val="59A96A"/>
          </a:solidFill>
          <a:ln w="12700">
            <a:solidFill>
              <a:srgbClr val="59A96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933688" y="3593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Entrenamiento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933688" y="3995928"/>
            <a:ext cx="182880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Capacitación y simulacros para validar que el plan funcione en la práctica.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Elementos que debes reconocer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Ubícate antes de necesitarlo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85800" y="1261872"/>
            <a:ext cx="530352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50392" y="1426464"/>
            <a:ext cx="91440" cy="1014984"/>
          </a:xfrm>
          <a:prstGeom prst="roundRect">
            <a:avLst>
              <a:gd name="adj" fmla="val 30000"/>
            </a:avLst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69848" y="142646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Señal de alarma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69848" y="1828800"/>
            <a:ext cx="47091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Identifica cómo suena o cómo se comunica la orden de evacuación.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6355080" y="1261872"/>
            <a:ext cx="530352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1426464"/>
            <a:ext cx="91440" cy="1014984"/>
          </a:xfrm>
          <a:prstGeom prst="roundRect">
            <a:avLst>
              <a:gd name="adj" fmla="val 30000"/>
            </a:avLst>
          </a:prstGeom>
          <a:solidFill>
            <a:srgbClr val="4B67A1"/>
          </a:solidFill>
          <a:ln w="12700">
            <a:solidFill>
              <a:srgbClr val="4B67A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39128" y="142646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Ruta de evacuación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739128" y="1828800"/>
            <a:ext cx="47091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Sigue la señalización y utiliza la ruta segura definida.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685800" y="2889504"/>
            <a:ext cx="530352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50392" y="3054096"/>
            <a:ext cx="91440" cy="1014984"/>
          </a:xfrm>
          <a:prstGeom prst="roundRect">
            <a:avLst>
              <a:gd name="adj" fmla="val 30000"/>
            </a:avLst>
          </a:prstGeom>
          <a:solidFill>
            <a:srgbClr val="59A96A"/>
          </a:solidFill>
          <a:ln w="12700">
            <a:solidFill>
              <a:srgbClr val="59A96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9848" y="305409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Salida de emergencia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69848" y="3456432"/>
            <a:ext cx="47091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Conoce las salidas habilitadas y mantenlas despejadas.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6355080" y="2889504"/>
            <a:ext cx="530352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519672" y="3054096"/>
            <a:ext cx="91440" cy="1014984"/>
          </a:xfrm>
          <a:prstGeom prst="roundRect">
            <a:avLst>
              <a:gd name="adj" fmla="val 30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39128" y="305409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Punto de encuentro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739128" y="3456432"/>
            <a:ext cx="47091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Dirígete al sitio establecido para verificar la evacuación.</a:t>
            </a:r>
            <a:endParaRPr lang="en-US" sz="1220" dirty="0"/>
          </a:p>
        </p:txBody>
      </p:sp>
      <p:sp>
        <p:nvSpPr>
          <p:cNvPr id="21" name="Shape 18"/>
          <p:cNvSpPr/>
          <p:nvPr/>
        </p:nvSpPr>
        <p:spPr>
          <a:xfrm>
            <a:off x="685800" y="4517136"/>
            <a:ext cx="530352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50392" y="4681728"/>
            <a:ext cx="91440" cy="1014984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69848" y="468172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Brigadistas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69848" y="5084064"/>
            <a:ext cx="47091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Reconoce a quienes orientan, apoyan y coordinan la respuesta.</a:t>
            </a:r>
            <a:endParaRPr lang="en-US" sz="1220" dirty="0"/>
          </a:p>
        </p:txBody>
      </p:sp>
      <p:sp>
        <p:nvSpPr>
          <p:cNvPr id="25" name="Shape 22"/>
          <p:cNvSpPr/>
          <p:nvPr/>
        </p:nvSpPr>
        <p:spPr>
          <a:xfrm>
            <a:off x="6355080" y="4517136"/>
            <a:ext cx="530352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519672" y="4681728"/>
            <a:ext cx="91440" cy="1014984"/>
          </a:xfrm>
          <a:prstGeom prst="roundRect">
            <a:avLst>
              <a:gd name="adj" fmla="val 30000"/>
            </a:avLst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39128" y="468172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Equipos de emergencia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739128" y="5084064"/>
            <a:ext cx="47091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Ubica extintores, botiquines y otros recursos sin obstruirlos.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¿Qué hacer durante una evacuación?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Conducta segura y ordenada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31520" y="1234440"/>
            <a:ext cx="10744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96112" y="1399032"/>
            <a:ext cx="91440" cy="475488"/>
          </a:xfrm>
          <a:prstGeom prst="roundRect">
            <a:avLst>
              <a:gd name="adj" fmla="val 30000"/>
            </a:avLst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15568" y="139903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1. Mantén la calma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15568" y="1801368"/>
            <a:ext cx="101498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Escucha la alarma o instrucción y evita correr, gritar o regresar por objetos.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731520" y="2194560"/>
            <a:ext cx="10744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96112" y="2359152"/>
            <a:ext cx="91440" cy="475488"/>
          </a:xfrm>
          <a:prstGeom prst="roundRect">
            <a:avLst>
              <a:gd name="adj" fmla="val 30000"/>
            </a:avLst>
          </a:prstGeom>
          <a:solidFill>
            <a:srgbClr val="4B67A1"/>
          </a:solidFill>
          <a:ln w="12700">
            <a:solidFill>
              <a:srgbClr val="4B67A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235915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2. Suspende la actividad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15568" y="2761488"/>
            <a:ext cx="101498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Si es seguro hacerlo, deja tu puesto en condición segura y sigue la ruta establecida.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731520" y="3154680"/>
            <a:ext cx="10744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96112" y="3319272"/>
            <a:ext cx="91440" cy="475488"/>
          </a:xfrm>
          <a:prstGeom prst="roundRect">
            <a:avLst>
              <a:gd name="adj" fmla="val 30000"/>
            </a:avLst>
          </a:prstGeom>
          <a:solidFill>
            <a:srgbClr val="59A96A"/>
          </a:solidFill>
          <a:ln w="12700">
            <a:solidFill>
              <a:srgbClr val="59A96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15568" y="331927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3. Sigue instrucciones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15568" y="3721608"/>
            <a:ext cx="101498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Atiende al brigadista o líder de evacuación y ayuda sin exponerte.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731520" y="4114800"/>
            <a:ext cx="10744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96112" y="4279392"/>
            <a:ext cx="91440" cy="475488"/>
          </a:xfrm>
          <a:prstGeom prst="roundRect">
            <a:avLst>
              <a:gd name="adj" fmla="val 30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15568" y="427939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4. No uses ascensores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15568" y="4681728"/>
            <a:ext cx="101498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Evita medios no autorizados para evacuar; utiliza las rutas señalizadas.</a:t>
            </a:r>
            <a:endParaRPr lang="en-US" sz="1220" dirty="0"/>
          </a:p>
        </p:txBody>
      </p:sp>
      <p:sp>
        <p:nvSpPr>
          <p:cNvPr id="21" name="Shape 18"/>
          <p:cNvSpPr/>
          <p:nvPr/>
        </p:nvSpPr>
        <p:spPr>
          <a:xfrm>
            <a:off x="731520" y="5074920"/>
            <a:ext cx="10744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96112" y="5239512"/>
            <a:ext cx="91440" cy="475488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15568" y="523951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5. Llega al punto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115568" y="5641848"/>
            <a:ext cx="101498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Permanece en el punto de encuentro hasta recibir nueva instrucción.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Brigada de emergencias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Apoyo organizado para la respuesta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31520" y="137160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96112" y="1536192"/>
            <a:ext cx="91440" cy="1591056"/>
          </a:xfrm>
          <a:prstGeom prst="roundRect">
            <a:avLst>
              <a:gd name="adj" fmla="val 30000"/>
            </a:avLst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15568" y="15361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Antes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15568" y="1938528"/>
            <a:ext cx="288036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Capacitarse, entrenarse, verificar recursos y conocer procedimientos.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4370832" y="137160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35424" y="1536192"/>
            <a:ext cx="91440" cy="1591056"/>
          </a:xfrm>
          <a:prstGeom prst="roundRect">
            <a:avLst>
              <a:gd name="adj" fmla="val 30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0" y="15361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Durante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754880" y="1938528"/>
            <a:ext cx="288036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Orientar evacuación, apoyar primeros auxilios y ejecutar acciones acordes al entrenamiento.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8001000" y="137160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165592" y="1536192"/>
            <a:ext cx="91440" cy="1591056"/>
          </a:xfrm>
          <a:prstGeom prst="roundRect">
            <a:avLst>
              <a:gd name="adj" fmla="val 30000"/>
            </a:avLst>
          </a:prstGeom>
          <a:solidFill>
            <a:srgbClr val="59A96A"/>
          </a:solidFill>
          <a:ln w="12700">
            <a:solidFill>
              <a:srgbClr val="59A96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85048" y="15361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Después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85048" y="1938528"/>
            <a:ext cx="288036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Apoyar verificación, reporte de novedades y lecciones aprendidas.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1325880" y="4069080"/>
            <a:ext cx="9555480" cy="1097280"/>
          </a:xfrm>
          <a:prstGeom prst="roundRect">
            <a:avLst>
              <a:gd name="adj" fmla="val 6667"/>
            </a:avLst>
          </a:prstGeom>
          <a:solidFill>
            <a:srgbClr val="EAF4F7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91640" y="4370832"/>
            <a:ext cx="8823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5786"/>
                </a:solidFill>
              </a:rPr>
              <a:t>La brigada debe estar conformada, capacitada, entrenada y dotada de acuerdo con el nivel de riesgo y los recursos disponibles.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Simulacros: practicar antes de la emergencia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El Decreto 1072 exige realizar simulacros al menos una vez al año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77240" y="1417320"/>
            <a:ext cx="3703320" cy="4251960"/>
          </a:xfrm>
          <a:prstGeom prst="roundRect">
            <a:avLst>
              <a:gd name="adj" fmla="val 1975"/>
            </a:avLst>
          </a:prstGeom>
          <a:solidFill>
            <a:srgbClr val="F1F8FA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3000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5786"/>
                </a:solidFill>
              </a:rPr>
              <a:t>¿Para qué sirven?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143000" y="2286000"/>
            <a:ext cx="2926080" cy="2606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4E68"/>
                </a:solidFill>
              </a:rPr>
              <a:t>• Verificar rutas y tiempos de evacuación.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34E68"/>
                </a:solidFill>
              </a:rPr>
              <a:t>• Probar alarmas, comunicaciones y roles.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34E68"/>
                </a:solidFill>
              </a:rPr>
              <a:t>• Detectar fallas antes de una emergencia real.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34E68"/>
                </a:solidFill>
              </a:rPr>
              <a:t>• Entrenar a todos los colaboradores.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34E68"/>
                </a:solidFill>
              </a:rPr>
              <a:t>• Generar acciones de mejora.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4937760" y="146304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102352" y="1627632"/>
            <a:ext cx="91440" cy="1179576"/>
          </a:xfrm>
          <a:prstGeom prst="roundRect">
            <a:avLst>
              <a:gd name="adj" fmla="val 30000"/>
            </a:avLst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21808" y="162763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ANTES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321808" y="2029968"/>
            <a:ext cx="214884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Definir objetivo, escenario, responsables, observadores y criterios de evaluación.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8001000" y="146304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165592" y="1627632"/>
            <a:ext cx="91440" cy="1179576"/>
          </a:xfrm>
          <a:prstGeom prst="roundRect">
            <a:avLst>
              <a:gd name="adj" fmla="val 30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85048" y="162763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DURANTE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385048" y="2029968"/>
            <a:ext cx="214884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Aplicar el procedimiento, observar conductas y registrar tiempos y novedades.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4937760" y="342900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102352" y="3593592"/>
            <a:ext cx="91440" cy="1179576"/>
          </a:xfrm>
          <a:prstGeom prst="roundRect">
            <a:avLst>
              <a:gd name="adj" fmla="val 30000"/>
            </a:avLst>
          </a:prstGeom>
          <a:solidFill>
            <a:srgbClr val="4B67A1"/>
          </a:solidFill>
          <a:ln w="12700">
            <a:solidFill>
              <a:srgbClr val="4B67A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21808" y="359359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DESPUÉS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21808" y="3995928"/>
            <a:ext cx="214884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Analizar resultados y comunicar hallazgos.</a:t>
            </a:r>
            <a:endParaRPr lang="en-US" sz="1220" dirty="0"/>
          </a:p>
        </p:txBody>
      </p:sp>
      <p:sp>
        <p:nvSpPr>
          <p:cNvPr id="20" name="Shape 17"/>
          <p:cNvSpPr/>
          <p:nvPr/>
        </p:nvSpPr>
        <p:spPr>
          <a:xfrm>
            <a:off x="8001000" y="342900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165592" y="3593592"/>
            <a:ext cx="91440" cy="1179576"/>
          </a:xfrm>
          <a:prstGeom prst="roundRect">
            <a:avLst>
              <a:gd name="adj" fmla="val 30000"/>
            </a:avLst>
          </a:prstGeom>
          <a:solidFill>
            <a:srgbClr val="59A96A"/>
          </a:solidFill>
          <a:ln w="12700">
            <a:solidFill>
              <a:srgbClr val="59A96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85048" y="359359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MEJORA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385048" y="3995928"/>
            <a:ext cx="214884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Asignar acciones, responsables y fechas para cerrar oportunidades detectadas.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Errores que debemos evitar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En una emergencia, improvisar aumenta el riesgo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85800" y="1261872"/>
            <a:ext cx="530352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50392" y="1426464"/>
            <a:ext cx="91440" cy="1014984"/>
          </a:xfrm>
          <a:prstGeom prst="roundRect">
            <a:avLst>
              <a:gd name="adj" fmla="val 30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69848" y="142646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Regresar por objetos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69848" y="1828800"/>
            <a:ext cx="47091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Rompe el flujo de evacuación y expone nuevamente a la persona.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6355080" y="1261872"/>
            <a:ext cx="530352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1426464"/>
            <a:ext cx="91440" cy="1014984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39128" y="142646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Bloquear salidas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739128" y="1828800"/>
            <a:ext cx="47091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Las rutas, puertas y equipos de emergencia deben permanecer accesibles.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685800" y="2889504"/>
            <a:ext cx="530352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50392" y="3054096"/>
            <a:ext cx="91440" cy="1014984"/>
          </a:xfrm>
          <a:prstGeom prst="roundRect">
            <a:avLst>
              <a:gd name="adj" fmla="val 30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9848" y="305409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Correr o empujar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69848" y="3456432"/>
            <a:ext cx="47091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Puede generar caídas, golpes y desorganización.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6355080" y="2889504"/>
            <a:ext cx="530352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519672" y="3054096"/>
            <a:ext cx="91440" cy="1014984"/>
          </a:xfrm>
          <a:prstGeom prst="roundRect">
            <a:avLst>
              <a:gd name="adj" fmla="val 30000"/>
            </a:avLst>
          </a:prstGeom>
          <a:solidFill>
            <a:srgbClr val="4B67A1"/>
          </a:solidFill>
          <a:ln w="12700">
            <a:solidFill>
              <a:srgbClr val="4B67A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39128" y="305409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Salir del punto de encuentro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739128" y="3456432"/>
            <a:ext cx="47091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Impide verificar si todas las personas evacuaron.</a:t>
            </a:r>
            <a:endParaRPr lang="en-US" sz="1220" dirty="0"/>
          </a:p>
        </p:txBody>
      </p:sp>
      <p:sp>
        <p:nvSpPr>
          <p:cNvPr id="21" name="Shape 18"/>
          <p:cNvSpPr/>
          <p:nvPr/>
        </p:nvSpPr>
        <p:spPr>
          <a:xfrm>
            <a:off x="685800" y="4517136"/>
            <a:ext cx="530352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50392" y="4681728"/>
            <a:ext cx="91440" cy="1014984"/>
          </a:xfrm>
          <a:prstGeom prst="roundRect">
            <a:avLst>
              <a:gd name="adj" fmla="val 30000"/>
            </a:avLst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69848" y="468172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Ignorar al brigadista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69848" y="5084064"/>
            <a:ext cx="47091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Dificulta la coordinación y la respuesta colectiva.</a:t>
            </a:r>
            <a:endParaRPr lang="en-US" sz="1220" dirty="0"/>
          </a:p>
        </p:txBody>
      </p:sp>
      <p:sp>
        <p:nvSpPr>
          <p:cNvPr id="25" name="Shape 22"/>
          <p:cNvSpPr/>
          <p:nvPr/>
        </p:nvSpPr>
        <p:spPr>
          <a:xfrm>
            <a:off x="6355080" y="4517136"/>
            <a:ext cx="530352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519672" y="4681728"/>
            <a:ext cx="91440" cy="1014984"/>
          </a:xfrm>
          <a:prstGeom prst="roundRect">
            <a:avLst>
              <a:gd name="adj" fmla="val 30000"/>
            </a:avLst>
          </a:prstGeom>
          <a:solidFill>
            <a:srgbClr val="59A96A"/>
          </a:solidFill>
          <a:ln w="12700">
            <a:solidFill>
              <a:srgbClr val="59A96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39128" y="468172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No reportar novedades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739128" y="5084064"/>
            <a:ext cx="47091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Toda condición observada durante el simulacro debe servir para mejorar.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Ejercicio práctico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Suena la alarma de evacuación durante la jornada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822960" y="1417320"/>
            <a:ext cx="3703320" cy="4297680"/>
          </a:xfrm>
          <a:prstGeom prst="roundRect">
            <a:avLst>
              <a:gd name="adj" fmla="val 1975"/>
            </a:avLst>
          </a:prstGeom>
          <a:solidFill>
            <a:srgbClr val="F1F8FA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3000" y="1755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B6C8"/>
                </a:solidFill>
              </a:rPr>
              <a:t>ESCENARIO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43000" y="2240280"/>
            <a:ext cx="297180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35786"/>
                </a:solidFill>
              </a:rPr>
              <a:t>Estás en tu puesto de trabajo y se activa la alarma. Ves a un compañero intentando regresar por su bolso mientras otras personas se dirigen hacia la salida.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43000" y="4343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5B6C8"/>
                </a:solidFill>
              </a:rPr>
              <a:t>¿Qué harías tú?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937760" y="1417320"/>
            <a:ext cx="6080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102352" y="1581912"/>
            <a:ext cx="91440" cy="630936"/>
          </a:xfrm>
          <a:prstGeom prst="roundRect">
            <a:avLst>
              <a:gd name="adj" fmla="val 30000"/>
            </a:avLst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21808" y="15819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Acción 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321808" y="1984248"/>
            <a:ext cx="54864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Sigue la ruta de evacuación y atiende las instrucciones del brigadista.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4937760" y="2697480"/>
            <a:ext cx="6080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102352" y="2862072"/>
            <a:ext cx="91440" cy="630936"/>
          </a:xfrm>
          <a:prstGeom prst="roundRect">
            <a:avLst>
              <a:gd name="adj" fmla="val 30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21808" y="28620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Acción 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321808" y="3264408"/>
            <a:ext cx="54864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No regreses por objetos ni promuevas conductas que retrasen la salida.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4937760" y="3977640"/>
            <a:ext cx="6080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102352" y="4142232"/>
            <a:ext cx="91440" cy="630936"/>
          </a:xfrm>
          <a:prstGeom prst="roundRect">
            <a:avLst>
              <a:gd name="adj" fmla="val 30000"/>
            </a:avLst>
          </a:prstGeom>
          <a:solidFill>
            <a:srgbClr val="59A96A"/>
          </a:solidFill>
          <a:ln w="12700">
            <a:solidFill>
              <a:srgbClr val="59A96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21808" y="41422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Acción 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321808" y="4544568"/>
            <a:ext cx="54864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Al llegar al punto de encuentro, permanece allí para el control de personal.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Mensajes clave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Prepararse reduce el impacto de una emergencia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77240" y="146304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EAF4F7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5B6C8"/>
                </a:solidFill>
              </a:rPr>
              <a:t>CONOCE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514600" y="1700784"/>
            <a:ext cx="29718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E68"/>
                </a:solidFill>
              </a:rPr>
              <a:t>Alarma, ruta de evacuación, salida, brigadistas y punto de encuentro.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55080" y="146304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1F8FA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0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67A1"/>
                </a:solidFill>
              </a:rPr>
              <a:t>ACTÚA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92440" y="1700784"/>
            <a:ext cx="29718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E68"/>
                </a:solidFill>
              </a:rPr>
              <a:t>Mantén la calma, sigue instrucciones y evita improvisar.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77240" y="361188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EAF4F7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3931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</a:rPr>
              <a:t>PARTICIPA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514600" y="3849624"/>
            <a:ext cx="29718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E68"/>
                </a:solidFill>
              </a:rPr>
              <a:t>Toma los simulacros como un entrenamiento real.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355080" y="361188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1F8FA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75120" y="3931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A96A"/>
                </a:solidFill>
              </a:rPr>
              <a:t>MEJORA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92440" y="3849624"/>
            <a:ext cx="29718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E68"/>
                </a:solidFill>
              </a:rPr>
              <a:t>Reporta fallas y condiciones que puedan afectar la respuesta.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965960" y="57150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35786"/>
                </a:solidFill>
              </a:rPr>
              <a:t>Un simulacro no se “cumple”: se evalúa y se convierte en mejora.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SanitHelp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emergencias y simulacros - SanitHelp</dc:title>
  <dc:subject>Capacitación SG-SST</dc:subject>
  <dc:creator>OpenAI</dc:creator>
  <cp:lastModifiedBy>OpenAI</cp:lastModifiedBy>
  <cp:revision>1</cp:revision>
  <dcterms:created xsi:type="dcterms:W3CDTF">2026-10-26T19:11:11Z</dcterms:created>
  <dcterms:modified xsi:type="dcterms:W3CDTF">2026-10-26T19:11:11Z</dcterms:modified>
</cp:coreProperties>
</file>